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60"/>
  </p:notesMasterIdLst>
  <p:handoutMasterIdLst>
    <p:handoutMasterId r:id="rId61"/>
  </p:handoutMasterIdLst>
  <p:sldIdLst>
    <p:sldId id="489" r:id="rId2"/>
    <p:sldId id="806" r:id="rId3"/>
    <p:sldId id="822" r:id="rId4"/>
    <p:sldId id="824" r:id="rId5"/>
    <p:sldId id="823" r:id="rId6"/>
    <p:sldId id="825" r:id="rId7"/>
    <p:sldId id="826" r:id="rId8"/>
    <p:sldId id="827" r:id="rId9"/>
    <p:sldId id="829" r:id="rId10"/>
    <p:sldId id="828" r:id="rId11"/>
    <p:sldId id="830" r:id="rId12"/>
    <p:sldId id="831" r:id="rId13"/>
    <p:sldId id="832" r:id="rId14"/>
    <p:sldId id="833" r:id="rId15"/>
    <p:sldId id="834" r:id="rId16"/>
    <p:sldId id="835" r:id="rId17"/>
    <p:sldId id="836" r:id="rId18"/>
    <p:sldId id="837" r:id="rId19"/>
    <p:sldId id="838" r:id="rId20"/>
    <p:sldId id="839" r:id="rId21"/>
    <p:sldId id="840" r:id="rId22"/>
    <p:sldId id="841" r:id="rId23"/>
    <p:sldId id="842" r:id="rId24"/>
    <p:sldId id="843" r:id="rId25"/>
    <p:sldId id="845" r:id="rId26"/>
    <p:sldId id="844" r:id="rId27"/>
    <p:sldId id="846" r:id="rId28"/>
    <p:sldId id="847" r:id="rId29"/>
    <p:sldId id="848" r:id="rId30"/>
    <p:sldId id="849" r:id="rId31"/>
    <p:sldId id="850" r:id="rId32"/>
    <p:sldId id="851" r:id="rId33"/>
    <p:sldId id="852" r:id="rId34"/>
    <p:sldId id="853" r:id="rId35"/>
    <p:sldId id="854" r:id="rId36"/>
    <p:sldId id="859" r:id="rId37"/>
    <p:sldId id="855" r:id="rId38"/>
    <p:sldId id="857" r:id="rId39"/>
    <p:sldId id="858" r:id="rId40"/>
    <p:sldId id="860" r:id="rId41"/>
    <p:sldId id="861" r:id="rId42"/>
    <p:sldId id="862" r:id="rId43"/>
    <p:sldId id="863" r:id="rId44"/>
    <p:sldId id="864" r:id="rId45"/>
    <p:sldId id="865" r:id="rId46"/>
    <p:sldId id="879" r:id="rId47"/>
    <p:sldId id="875" r:id="rId48"/>
    <p:sldId id="876" r:id="rId49"/>
    <p:sldId id="877" r:id="rId50"/>
    <p:sldId id="878" r:id="rId51"/>
    <p:sldId id="866" r:id="rId52"/>
    <p:sldId id="867" r:id="rId53"/>
    <p:sldId id="868" r:id="rId54"/>
    <p:sldId id="869" r:id="rId55"/>
    <p:sldId id="870" r:id="rId56"/>
    <p:sldId id="874" r:id="rId57"/>
    <p:sldId id="871" r:id="rId58"/>
    <p:sldId id="880" r:id="rId59"/>
  </p:sldIdLst>
  <p:sldSz cx="9144000" cy="6858000" type="screen4x3"/>
  <p:notesSz cx="7023100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04FC"/>
    <a:srgbClr val="A50021"/>
    <a:srgbClr val="660033"/>
    <a:srgbClr val="99CCFF"/>
    <a:srgbClr val="6699FF"/>
    <a:srgbClr val="0BF527"/>
    <a:srgbClr val="6666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0" autoAdjust="0"/>
    <p:restoredTop sz="94533" autoAdjust="0"/>
  </p:normalViewPr>
  <p:slideViewPr>
    <p:cSldViewPr>
      <p:cViewPr>
        <p:scale>
          <a:sx n="66" d="100"/>
          <a:sy n="66" d="100"/>
        </p:scale>
        <p:origin x="-1740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-2886" y="-114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245E76-F1B3-49FB-AD84-5FB7080AB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C14D1-7F62-497B-BEE2-21BFA59433C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AFB7DDF-FC43-44F2-AD99-07D3E19ADE7F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5CB6930-46D3-477D-AB0C-6A48E36F6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EE14DF4-59B0-4296-A800-864B05DA3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21188"/>
            <a:ext cx="5619750" cy="4189412"/>
          </a:xfrm>
          <a:prstGeom prst="rect">
            <a:avLst/>
          </a:prstGeom>
        </p:spPr>
        <p:txBody>
          <a:bodyPr vert="horz" lIns="93324" tIns="46662" rIns="93324" bIns="46662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1E2E3-0026-428A-80BC-88F200D54BE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28747-AF8C-4113-B861-50E93036F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698E3C5-F318-4FA3-A795-9A212F50DA4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4677C4C1-0531-41AC-B3E2-DC6E14E442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258A3022-9EC1-42F4-8D81-557A311258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2F6E9-1959-457E-A8BF-21B66B3FB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A4CE8A2-CAA9-4C1B-9F70-5DE6AFF35785}" type="slidenum">
              <a:rPr lang="en-US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F8C42969-2AFD-4E24-BC9E-992413CC7D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17780099-2121-487B-ADFC-7587155C81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D75BD-C574-474C-9A6A-A2CE5AEAE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EB213BA-022F-4E79-A4F5-55B5593B3CDF}" type="slidenum">
              <a:rPr lang="en-US" altLang="en-US"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A870991F-0705-4445-99F4-9908659A1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06A53584-C46D-435F-A84D-EB434E0B63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>
                <a:solidFill>
                  <a:srgbClr val="2704FC"/>
                </a:solidFill>
              </a:defRPr>
            </a:lvl1pPr>
          </a:lstStyle>
          <a:p>
            <a:r>
              <a:rPr lang="en-US" altLang="en-US" dirty="0"/>
              <a:t>Click to edit Master title style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1122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2704F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/>
              </a:buClr>
              <a:buFont typeface="Wingdings" pitchFamily="2" charset="2"/>
              <a:buChar char="q"/>
              <a:defRPr/>
            </a:lvl1pPr>
            <a:lvl3pPr>
              <a:buClr>
                <a:schemeClr val="accent6"/>
              </a:buClr>
              <a:buFont typeface="Wingdings" pitchFamily="2" charset="2"/>
              <a:buChar char="q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EC5125B-6DF1-4385-9E7C-B97128AB58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dirty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474C1D5-7646-439C-9359-75A3D69283A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CB6109A7-6E0B-4E39-A41B-29B60D46CD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047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3611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B4505-A333-4FE9-9F6B-7DD8FC0E76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FE10C-E271-4EAF-BA80-6F181D4A19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3607D-944D-4885-AF9E-6B384676CC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243F1033-F149-4850-9D33-4BFDD72265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196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144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8652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AED1DEE-CC8E-450A-B539-1059856C06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00B2CA3-E294-4F5F-9365-DF8043C338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BC354E3-202F-44F0-AA4D-A29D108989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610B0430-1E4D-4954-87EC-42EA3AE186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4260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8A8CE-67C7-439D-B44A-143B901D5A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2EAB3-BCF2-44B3-A465-98B8B24629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71F2D-BC3B-43D6-99F4-1F84634C85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855D9B9B-EB44-4519-BDDB-5B094CE590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1521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2BB45-0164-446C-B5AD-6570241FA9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FA6A3-2540-4833-9762-CCC93ECC35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041D9-98D0-4DBF-B3F2-3E0A7C6D36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6460E586-5DBA-4A85-A3E3-2F38DBEE46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7471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490724-FD8A-4194-864D-26070133ED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4C495C-5CD7-4D69-AF99-B556E11954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774164-FAAC-41A6-A551-80FE638FC2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8489049E-EFFF-4445-A41E-F62C451CD1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8088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0FD816-0DC1-4A3D-B310-0054B3597E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045118-E458-4F29-B453-93358F8AB5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1ADD3EA-0B97-4F26-A91C-B17D691332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A85BAEE3-8309-43D4-8C53-CA58594A64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3434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434DAD-0202-4E52-8D7C-8019D9644E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12FB6B-0341-46C5-BFD9-912A0465BC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75688A-0DB6-4E2A-8556-53865019F1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6D553047-DA13-4622-A885-B67B1F9394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40727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AC857-83B6-4265-93CB-113B8A4249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2CBB8-82F4-4E36-B8BB-4BD7FC849D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FEDA9-615C-4523-AD1A-4596A8255C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69BB7F6E-1FCB-4B7E-A2AE-77CD4FE158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63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46DBB22-C915-4CC0-8E16-6D4694C119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4AA92E6-3A84-4ED2-A604-EABF79D7B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Freeform 7">
            <a:extLst>
              <a:ext uri="{FF2B5EF4-FFF2-40B4-BE49-F238E27FC236}">
                <a16:creationId xmlns:a16="http://schemas.microsoft.com/office/drawing/2014/main" id="{C9CF5A0A-B0DC-4645-9479-4ED6FCBDE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" name="Line 8">
            <a:extLst>
              <a:ext uri="{FF2B5EF4-FFF2-40B4-BE49-F238E27FC236}">
                <a16:creationId xmlns:a16="http://schemas.microsoft.com/office/drawing/2014/main" id="{0BAEB749-1EB8-4F6C-B031-B60A3212D7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73" r:id="rId1"/>
    <p:sldLayoutId id="2147486074" r:id="rId2"/>
    <p:sldLayoutId id="2147486070" r:id="rId3"/>
    <p:sldLayoutId id="2147486075" r:id="rId4"/>
    <p:sldLayoutId id="2147486071" r:id="rId5"/>
    <p:sldLayoutId id="2147486072" r:id="rId6"/>
    <p:sldLayoutId id="2147486076" r:id="rId7"/>
    <p:sldLayoutId id="2147486077" r:id="rId8"/>
    <p:sldLayoutId id="2147486078" r:id="rId9"/>
    <p:sldLayoutId id="2147486079" r:id="rId10"/>
    <p:sldLayoutId id="2147486080" r:id="rId11"/>
    <p:sldLayoutId id="2147486081" r:id="rId12"/>
    <p:sldLayoutId id="2147486082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osr507doc.xinuos.com/en/man/html.C%2B%2B/ostream.C++.html" TargetMode="External"/><Relationship Id="rId2" Type="http://schemas.openxmlformats.org/officeDocument/2006/relationships/hyperlink" Target="http://osr507doc.xinuos.com/en/man/html.C%2B%2B/istream.C++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osr507doc.xinuos.com/en/man/html.C%2B%2B/ios.C++.html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4">
            <a:extLst>
              <a:ext uri="{FF2B5EF4-FFF2-40B4-BE49-F238E27FC236}">
                <a16:creationId xmlns:a16="http://schemas.microsoft.com/office/drawing/2014/main" id="{980283D2-FEBF-4634-8D1B-CD9933EDC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8001000" cy="3124200"/>
          </a:xfrm>
        </p:spPr>
        <p:txBody>
          <a:bodyPr/>
          <a:lstStyle/>
          <a:p>
            <a:pPr algn="ctr"/>
            <a:r>
              <a:rPr lang="en-US" altLang="en-US" sz="4400" b="1"/>
              <a:t>20XD24 - OBJECT ORIENTED PROGRAMMING</a:t>
            </a:r>
            <a:br>
              <a:rPr lang="en-IN" altLang="en-US" sz="4400"/>
            </a:br>
            <a:br>
              <a:rPr lang="en-US" altLang="en-US" sz="4400" b="1"/>
            </a:br>
            <a:br>
              <a:rPr lang="en-US" altLang="en-US" sz="4400" b="1"/>
            </a:br>
            <a:endParaRPr lang="en-US" altLang="en-US" sz="5400"/>
          </a:p>
        </p:txBody>
      </p:sp>
      <p:sp>
        <p:nvSpPr>
          <p:cNvPr id="12291" name="AutoShape 5">
            <a:extLst>
              <a:ext uri="{FF2B5EF4-FFF2-40B4-BE49-F238E27FC236}">
                <a16:creationId xmlns:a16="http://schemas.microsoft.com/office/drawing/2014/main" id="{726287EE-377E-4DF5-B4A8-060362A2C4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24600" y="2743200"/>
            <a:ext cx="10668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2" name="TextBox 5">
            <a:extLst>
              <a:ext uri="{FF2B5EF4-FFF2-40B4-BE49-F238E27FC236}">
                <a16:creationId xmlns:a16="http://schemas.microsoft.com/office/drawing/2014/main" id="{C13AE60D-4126-44AF-B727-4FAE104CC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7620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slow"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5929A36F-96A9-4837-985D-B6B90879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4BE09-3BA1-4247-9915-9932074CF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Text and Reference Books</a:t>
            </a:r>
          </a:p>
          <a:p>
            <a:pPr>
              <a:defRPr/>
            </a:pPr>
            <a:r>
              <a:rPr lang="en-US" sz="2400" dirty="0"/>
              <a:t>History of C++</a:t>
            </a:r>
          </a:p>
          <a:p>
            <a:pPr>
              <a:defRPr/>
            </a:pPr>
            <a:r>
              <a:rPr lang="en-US" sz="2400" dirty="0"/>
              <a:t>Input and Output in C++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400" dirty="0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FA253350-623A-4D0D-A764-330F3179B6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26ED61-B84E-4B61-AC47-8F394A824A67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364975D0-A947-460E-9EC0-291A80954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Text and Reference 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AECF0-1266-4866-9904-A48A70384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b="1" dirty="0"/>
              <a:t>TEXT BOOKS </a:t>
            </a:r>
          </a:p>
          <a:p>
            <a:pPr>
              <a:defRPr/>
            </a:pPr>
            <a:endParaRPr lang="en-US" sz="1100" dirty="0"/>
          </a:p>
          <a:p>
            <a:pPr lvl="1">
              <a:defRPr/>
            </a:pPr>
            <a:r>
              <a:rPr lang="en-US" sz="1800" dirty="0" err="1">
                <a:solidFill>
                  <a:srgbClr val="C00000"/>
                </a:solidFill>
              </a:rPr>
              <a:t>BjarneStroustrup</a:t>
            </a:r>
            <a:r>
              <a:rPr lang="en-US" sz="1800" dirty="0">
                <a:solidFill>
                  <a:srgbClr val="C00000"/>
                </a:solidFill>
              </a:rPr>
              <a:t>, “The C++ Programming Language”, Pearson Education, 2014.</a:t>
            </a:r>
            <a:endParaRPr lang="en-IN" sz="1800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sz="1800" dirty="0">
                <a:solidFill>
                  <a:srgbClr val="C00000"/>
                </a:solidFill>
              </a:rPr>
              <a:t>Stanley B. </a:t>
            </a:r>
            <a:r>
              <a:rPr lang="en-US" sz="1800" dirty="0" err="1">
                <a:solidFill>
                  <a:srgbClr val="C00000"/>
                </a:solidFill>
              </a:rPr>
              <a:t>Lippman</a:t>
            </a:r>
            <a:r>
              <a:rPr lang="en-US" sz="1800" dirty="0">
                <a:solidFill>
                  <a:srgbClr val="C00000"/>
                </a:solidFill>
              </a:rPr>
              <a:t>, </a:t>
            </a:r>
            <a:r>
              <a:rPr lang="en-US" sz="1800" dirty="0" err="1">
                <a:solidFill>
                  <a:srgbClr val="C00000"/>
                </a:solidFill>
              </a:rPr>
              <a:t>JoseeLajoie</a:t>
            </a:r>
            <a:r>
              <a:rPr lang="en-US" sz="1800" dirty="0">
                <a:solidFill>
                  <a:srgbClr val="C00000"/>
                </a:solidFill>
              </a:rPr>
              <a:t> and Barbara E. Moo, “The C++ Primer”, Addison Wesley,2013.</a:t>
            </a:r>
            <a:endParaRPr lang="en-IN" sz="18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r>
              <a:rPr lang="en-US" sz="2000" b="1" dirty="0"/>
              <a:t>REFERENCES </a:t>
            </a:r>
          </a:p>
          <a:p>
            <a:pPr>
              <a:defRPr/>
            </a:pPr>
            <a:endParaRPr lang="en-US" sz="1400" b="1" dirty="0"/>
          </a:p>
          <a:p>
            <a:pPr lvl="1">
              <a:defRPr/>
            </a:pPr>
            <a:r>
              <a:rPr lang="en-US" sz="1800" dirty="0">
                <a:solidFill>
                  <a:srgbClr val="C00000"/>
                </a:solidFill>
              </a:rPr>
              <a:t>Scott Meyers, “More Effective C++”, Addison Wesley, 2008.</a:t>
            </a:r>
            <a:endParaRPr lang="en-IN" sz="1800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sz="1800" dirty="0" err="1"/>
              <a:t>Bjarne</a:t>
            </a:r>
            <a:r>
              <a:rPr lang="en-US" sz="1800" dirty="0"/>
              <a:t> </a:t>
            </a:r>
            <a:r>
              <a:rPr lang="en-US" sz="1800" dirty="0" err="1"/>
              <a:t>Stroustrup</a:t>
            </a:r>
            <a:r>
              <a:rPr lang="en-US" sz="1800" dirty="0"/>
              <a:t>, “The Design and Evolution of C++”, Addison Wesley, 2005.</a:t>
            </a:r>
            <a:endParaRPr lang="en-IN" sz="1800" dirty="0"/>
          </a:p>
          <a:p>
            <a:pPr lvl="1">
              <a:defRPr/>
            </a:pPr>
            <a:r>
              <a:rPr lang="en-US" sz="1800" dirty="0"/>
              <a:t>Stanley B </a:t>
            </a:r>
            <a:r>
              <a:rPr lang="en-US" sz="1800" dirty="0" err="1"/>
              <a:t>Lippman</a:t>
            </a:r>
            <a:r>
              <a:rPr lang="en-US" sz="1800" dirty="0"/>
              <a:t>, “Inside the C++ Object Model”, Addison Wesley, 1996.</a:t>
            </a:r>
            <a:endParaRPr lang="en-IN" sz="1800" dirty="0"/>
          </a:p>
          <a:p>
            <a:pPr lvl="1">
              <a:defRPr/>
            </a:pPr>
            <a:endParaRPr lang="en-IN" sz="1800" dirty="0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EC3B1600-6A94-455D-A21B-914AC2C986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537C2B-8725-4610-8A7F-1B5B9B52B4D5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84D6542-A832-4215-9B47-23EBEBBE9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Computer Languages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21F46-AD66-4F40-ABDB-86EA97745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The Lineage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E0A70BA5-BE4E-40EC-8576-2C3A177210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ACE5E8-28EC-4171-8B9A-2A113ED3333A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15365" name="Picture 3">
            <a:extLst>
              <a:ext uri="{FF2B5EF4-FFF2-40B4-BE49-F238E27FC236}">
                <a16:creationId xmlns:a16="http://schemas.microsoft.com/office/drawing/2014/main" id="{8DC19FEF-F462-4C5A-8245-1C0CEE628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62200"/>
            <a:ext cx="7745413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EAD40A69-9FD5-4CCC-8592-C15C67FC4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Brief History of C++ 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E56F7-1373-4EB9-AA4B-5171E8DBA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C++ is an extension of C, developed by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</a:t>
            </a:r>
            <a:r>
              <a:rPr lang="en-IN" sz="2000" dirty="0" err="1"/>
              <a:t>Bjarne</a:t>
            </a:r>
            <a:r>
              <a:rPr lang="en-IN" sz="2000" dirty="0"/>
              <a:t> </a:t>
            </a:r>
            <a:r>
              <a:rPr lang="en-IN" sz="2000" dirty="0" err="1"/>
              <a:t>Stroustrup</a:t>
            </a:r>
            <a:r>
              <a:rPr lang="en-IN" sz="2000" dirty="0"/>
              <a:t> at Bell Laboratories</a:t>
            </a:r>
          </a:p>
          <a:p>
            <a:pPr>
              <a:defRPr/>
            </a:pPr>
            <a:r>
              <a:rPr lang="en-IN" sz="2000" dirty="0"/>
              <a:t>C++ is derived from the C language. Strictly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speaking, </a:t>
            </a:r>
            <a:r>
              <a:rPr lang="en-IN" sz="2000" dirty="0">
                <a:solidFill>
                  <a:srgbClr val="C00000"/>
                </a:solidFill>
              </a:rPr>
              <a:t>it is a superset of C</a:t>
            </a:r>
          </a:p>
          <a:p>
            <a:pPr>
              <a:defRPr/>
            </a:pPr>
            <a:r>
              <a:rPr lang="en-IN" sz="2000" dirty="0"/>
              <a:t>C++ was originally called “</a:t>
            </a:r>
            <a:r>
              <a:rPr lang="en-IN" sz="2000" dirty="0">
                <a:solidFill>
                  <a:srgbClr val="C00000"/>
                </a:solidFill>
              </a:rPr>
              <a:t>C with classes”, </a:t>
            </a:r>
            <a:r>
              <a:rPr lang="en-IN" sz="2000" dirty="0"/>
              <a:t>but later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it was renamed </a:t>
            </a:r>
            <a:r>
              <a:rPr lang="en-IN" sz="2000" dirty="0">
                <a:solidFill>
                  <a:srgbClr val="C00000"/>
                </a:solidFill>
              </a:rPr>
              <a:t>C++ </a:t>
            </a:r>
            <a:r>
              <a:rPr lang="en-IN" sz="2000" dirty="0"/>
              <a:t>in 1983</a:t>
            </a:r>
          </a:p>
          <a:p>
            <a:pPr>
              <a:defRPr/>
            </a:pPr>
            <a:r>
              <a:rPr lang="en-IN" sz="2000" dirty="0"/>
              <a:t>The most important elements added to C to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create C++ concern classes, objects, and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object-oriented programming</a:t>
            </a:r>
          </a:p>
          <a:p>
            <a:pPr>
              <a:defRPr/>
            </a:pPr>
            <a:r>
              <a:rPr lang="en-IN" sz="2000" dirty="0"/>
              <a:t>Object-oriented programming can make programs easy to reuse and easy to maintain</a:t>
            </a:r>
          </a:p>
          <a:p>
            <a:pPr>
              <a:defRPr/>
            </a:pPr>
            <a:r>
              <a:rPr lang="en-IN" sz="2000" dirty="0"/>
              <a:t>The features of C are supported by C++. C programs can be compiled using C++ compilers</a:t>
            </a: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dirty="0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7B176AA8-FA2E-479F-9B35-95AD215F28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2DE85C-14C8-4B8B-A111-DFACD7760F58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16389" name="Picture 6">
            <a:extLst>
              <a:ext uri="{FF2B5EF4-FFF2-40B4-BE49-F238E27FC236}">
                <a16:creationId xmlns:a16="http://schemas.microsoft.com/office/drawing/2014/main" id="{765A1B9C-B543-4F05-82B1-A18F93836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688" y="381000"/>
            <a:ext cx="2362200" cy="315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90" name="Rectangle 1">
            <a:extLst>
              <a:ext uri="{FF2B5EF4-FFF2-40B4-BE49-F238E27FC236}">
                <a16:creationId xmlns:a16="http://schemas.microsoft.com/office/drawing/2014/main" id="{41CF3DBF-5834-4B0E-97A4-0EBC13EB6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3505200"/>
            <a:ext cx="22494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2000">
                <a:solidFill>
                  <a:srgbClr val="C00000"/>
                </a:solidFill>
              </a:rPr>
              <a:t>Bjarne Stroustrup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8F6B94D3-93BC-4B79-BBFC-E8F0A2309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Brief History of C++ 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FAD7C-E63B-43B3-93E6-64D78118B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An international standard for C++, known as C++98, was created by the International Standard Organization (ISO) in 1998</a:t>
            </a:r>
          </a:p>
          <a:p>
            <a:pPr>
              <a:defRPr/>
            </a:pPr>
            <a:r>
              <a:rPr lang="en-IN" sz="2000" dirty="0"/>
              <a:t>The ISO standard is an attempt to ensure that C++ is </a:t>
            </a:r>
            <a:r>
              <a:rPr lang="en-IN" sz="2000" dirty="0">
                <a:solidFill>
                  <a:srgbClr val="C00000"/>
                </a:solidFill>
              </a:rPr>
              <a:t>portable</a:t>
            </a:r>
          </a:p>
          <a:p>
            <a:pPr>
              <a:defRPr/>
            </a:pPr>
            <a:r>
              <a:rPr lang="en-IN" sz="2000" dirty="0"/>
              <a:t>A new standard, known as C++11, was approved by ISO in 2011. C++11 added new features into the core language and standard library</a:t>
            </a:r>
          </a:p>
          <a:p>
            <a:pPr>
              <a:defRPr/>
            </a:pPr>
            <a:r>
              <a:rPr lang="en-IN" sz="2000" dirty="0"/>
              <a:t>C++ is a </a:t>
            </a:r>
            <a:r>
              <a:rPr lang="en-IN" sz="2000" dirty="0">
                <a:solidFill>
                  <a:srgbClr val="C00000"/>
                </a:solidFill>
              </a:rPr>
              <a:t>general-purpose object-oriented</a:t>
            </a:r>
            <a:r>
              <a:rPr lang="en-IN" sz="2000" i="1" dirty="0"/>
              <a:t> </a:t>
            </a:r>
            <a:r>
              <a:rPr lang="en-IN" sz="2000" dirty="0">
                <a:solidFill>
                  <a:srgbClr val="C00000"/>
                </a:solidFill>
              </a:rPr>
              <a:t>programming language -  </a:t>
            </a:r>
            <a:r>
              <a:rPr lang="en-IN" sz="2000" dirty="0"/>
              <a:t>means you can use C++ to write code for any programming task</a:t>
            </a: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F6CB77E1-5F1D-4F48-BBD0-AA91EF6A8C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34EDE5-FD3B-4EDD-A0A8-FD7F212A93A9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EB4C86BB-4D0D-435F-AD86-628B2452A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28588"/>
            <a:ext cx="6553200" cy="6497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5" name="Title 1">
            <a:extLst>
              <a:ext uri="{FF2B5EF4-FFF2-40B4-BE49-F238E27FC236}">
                <a16:creationId xmlns:a16="http://schemas.microsoft.com/office/drawing/2014/main" id="{A4C22C47-F8E2-44B5-8DEA-ADE2EF8A7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altLang="en-US" sz="3600"/>
              <a:t>C</a:t>
            </a:r>
            <a:r>
              <a:rPr lang="en-IN" altLang="en-US" sz="2800"/>
              <a:t>++ Program </a:t>
            </a:r>
            <a:br>
              <a:rPr lang="en-IN" altLang="en-US" sz="2800"/>
            </a:br>
            <a:r>
              <a:rPr lang="en-IN" altLang="en-US" sz="2800"/>
              <a:t>Development </a:t>
            </a:r>
            <a:br>
              <a:rPr lang="en-IN" altLang="en-US" sz="2800"/>
            </a:br>
            <a:r>
              <a:rPr lang="en-IN" altLang="en-US" sz="2800"/>
              <a:t>Cycle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E4166553-32FB-4F46-ACEB-75D79D94CA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579A57-FD88-4220-8E06-B9B55822DEE8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DD2BEF70-09A9-4292-82BB-A5A32DA5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/>
              <a:t>Streams in C++</a:t>
            </a:r>
            <a:br>
              <a:rPr lang="en-US" altLang="en-US" sz="4400"/>
            </a:b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0901C-B30B-4E1F-AF2F-4B52C405D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C/C++ IO are based on </a:t>
            </a:r>
            <a:r>
              <a:rPr lang="en-IN" sz="2000" i="1" dirty="0"/>
              <a:t>streams</a:t>
            </a:r>
            <a:r>
              <a:rPr lang="en-IN" sz="2000" dirty="0"/>
              <a:t>, which are sequence of bytes flowing in and out of the programs</a:t>
            </a:r>
          </a:p>
          <a:p>
            <a:pPr lvl="1">
              <a:defRPr/>
            </a:pPr>
            <a:r>
              <a:rPr lang="en-IN" sz="1800" dirty="0"/>
              <a:t>In input operations, data bytes flow from an </a:t>
            </a:r>
            <a:r>
              <a:rPr lang="en-IN" sz="1800" i="1" dirty="0"/>
              <a:t>input source</a:t>
            </a:r>
            <a:r>
              <a:rPr lang="en-IN" sz="1800" dirty="0"/>
              <a:t> (such as keyboard, file, network or another program) into the program</a:t>
            </a:r>
          </a:p>
          <a:p>
            <a:pPr lvl="1">
              <a:defRPr/>
            </a:pPr>
            <a:r>
              <a:rPr lang="en-IN" sz="1800" dirty="0"/>
              <a:t> In output operations, data bytes flow from the program to an </a:t>
            </a:r>
            <a:r>
              <a:rPr lang="en-IN" sz="1800" i="1" dirty="0"/>
              <a:t>output sink</a:t>
            </a:r>
            <a:r>
              <a:rPr lang="en-IN" sz="1800" dirty="0"/>
              <a:t> (such as console, file, network or another program)</a:t>
            </a:r>
          </a:p>
          <a:p>
            <a:pPr>
              <a:defRPr/>
            </a:pPr>
            <a:r>
              <a:rPr lang="en-IN" sz="2000" dirty="0"/>
              <a:t>Streams  - act as an </a:t>
            </a:r>
            <a:r>
              <a:rPr lang="en-IN" sz="2000" dirty="0">
                <a:solidFill>
                  <a:srgbClr val="C00000"/>
                </a:solidFill>
              </a:rPr>
              <a:t>intermediaries between the programs and the actual IO devices</a:t>
            </a:r>
            <a:r>
              <a:rPr lang="en-IN" sz="2000" dirty="0"/>
              <a:t>, in such the way that frees the programmers from handling the actual devices, so as to archive device independent IO operations</a:t>
            </a:r>
          </a:p>
          <a:p>
            <a:pPr marL="0" indent="0">
              <a:buFont typeface="Wingdings" pitchFamily="2" charset="2"/>
              <a:buNone/>
              <a:defRPr/>
            </a:pPr>
            <a:br>
              <a:rPr lang="en-IN" sz="2000" dirty="0"/>
            </a:br>
            <a:endParaRPr lang="en-IN" sz="2000" dirty="0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82AB89A8-8207-4F5D-A499-1830C9F36A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26A82C-9837-4E2A-A334-590F6483F019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19461" name="Picture 2">
            <a:extLst>
              <a:ext uri="{FF2B5EF4-FFF2-40B4-BE49-F238E27FC236}">
                <a16:creationId xmlns:a16="http://schemas.microsoft.com/office/drawing/2014/main" id="{D301FB86-1C18-4D40-98D7-A2F5D20C9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965700"/>
            <a:ext cx="6553200" cy="171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A7E7D2A-2C00-4E53-A6F3-53BDE6F3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Input and Output in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CB611-CAC8-4EC4-A6FA-270E26F38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In C++, </a:t>
            </a:r>
            <a:r>
              <a:rPr lang="en-IN" sz="2000" dirty="0" err="1">
                <a:solidFill>
                  <a:srgbClr val="C00000"/>
                </a:solidFill>
              </a:rPr>
              <a:t>iostream.h</a:t>
            </a:r>
            <a:r>
              <a:rPr lang="en-IN" sz="2000" dirty="0">
                <a:solidFill>
                  <a:srgbClr val="C00000"/>
                </a:solidFill>
              </a:rPr>
              <a:t> is used instead of </a:t>
            </a:r>
            <a:r>
              <a:rPr lang="en-IN" sz="2000" dirty="0" err="1">
                <a:solidFill>
                  <a:srgbClr val="C00000"/>
                </a:solidFill>
              </a:rPr>
              <a:t>stdio.h</a:t>
            </a: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Why this change?</a:t>
            </a:r>
          </a:p>
          <a:p>
            <a:pPr lvl="1">
              <a:defRPr/>
            </a:pPr>
            <a:r>
              <a:rPr lang="en-IN" sz="1800" dirty="0"/>
              <a:t>Input/output routines in </a:t>
            </a:r>
            <a:r>
              <a:rPr lang="en-IN" sz="1800" dirty="0" err="1"/>
              <a:t>iostream</a:t>
            </a:r>
            <a:r>
              <a:rPr lang="en-IN" sz="1800" dirty="0"/>
              <a:t> can be extended to new types declared by the user</a:t>
            </a:r>
          </a:p>
          <a:p>
            <a:pPr lvl="1">
              <a:defRPr/>
            </a:pPr>
            <a:endParaRPr lang="en-IN" sz="1200" dirty="0"/>
          </a:p>
          <a:p>
            <a:pPr>
              <a:defRPr/>
            </a:pPr>
            <a:r>
              <a:rPr lang="en-IN" sz="2000" dirty="0"/>
              <a:t>The C++ library contains several </a:t>
            </a:r>
            <a:r>
              <a:rPr lang="en-IN" sz="2000" i="1" dirty="0">
                <a:solidFill>
                  <a:srgbClr val="C00000"/>
                </a:solidFill>
              </a:rPr>
              <a:t>stream</a:t>
            </a:r>
            <a:r>
              <a:rPr lang="en-IN" sz="2000" dirty="0">
                <a:solidFill>
                  <a:srgbClr val="C00000"/>
                </a:solidFill>
              </a:rPr>
              <a:t> objects </a:t>
            </a:r>
            <a:r>
              <a:rPr lang="en-IN" sz="2000" dirty="0"/>
              <a:t>through which it can perform console I/O operations</a:t>
            </a:r>
          </a:p>
          <a:p>
            <a:pPr>
              <a:defRPr/>
            </a:pPr>
            <a:r>
              <a:rPr lang="en-IN" sz="2000" dirty="0"/>
              <a:t>I/O objects  - represent data as streams or sequences of bytes (i.e., characters) as they enter or leave the running program</a:t>
            </a:r>
          </a:p>
          <a:p>
            <a:pPr>
              <a:defRPr/>
            </a:pPr>
            <a:r>
              <a:rPr lang="en-IN" sz="2000" b="1" dirty="0"/>
              <a:t>Three of the most common stream objects </a:t>
            </a:r>
            <a:endParaRPr lang="en-IN" sz="2000" dirty="0"/>
          </a:p>
          <a:p>
            <a:pPr lvl="1">
              <a:defRPr/>
            </a:pPr>
            <a:r>
              <a:rPr lang="en-IN" sz="1800" b="1" dirty="0" err="1">
                <a:solidFill>
                  <a:srgbClr val="C00000"/>
                </a:solidFill>
              </a:rPr>
              <a:t>cin</a:t>
            </a:r>
            <a:r>
              <a:rPr lang="en-IN" sz="1800" b="1" dirty="0">
                <a:solidFill>
                  <a:srgbClr val="C00000"/>
                </a:solidFill>
              </a:rPr>
              <a:t>      </a:t>
            </a:r>
          </a:p>
          <a:p>
            <a:pPr lvl="1">
              <a:defRPr/>
            </a:pPr>
            <a:r>
              <a:rPr lang="en-IN" sz="1800" b="1" dirty="0" err="1">
                <a:solidFill>
                  <a:srgbClr val="C00000"/>
                </a:solidFill>
              </a:rPr>
              <a:t>cout</a:t>
            </a:r>
            <a:r>
              <a:rPr lang="en-IN" sz="1800" b="1" dirty="0">
                <a:solidFill>
                  <a:srgbClr val="C00000"/>
                </a:solidFill>
              </a:rPr>
              <a:t>  </a:t>
            </a:r>
          </a:p>
          <a:p>
            <a:pPr lvl="1">
              <a:defRPr/>
            </a:pPr>
            <a:r>
              <a:rPr lang="en-IN" sz="1800" b="1" dirty="0" err="1">
                <a:solidFill>
                  <a:srgbClr val="C00000"/>
                </a:solidFill>
              </a:rPr>
              <a:t>cerr</a:t>
            </a:r>
            <a:r>
              <a:rPr lang="en-IN" sz="1800" b="1" dirty="0">
                <a:solidFill>
                  <a:srgbClr val="C00000"/>
                </a:solidFill>
              </a:rPr>
              <a:t> </a:t>
            </a:r>
            <a:endParaRPr lang="en-IN" sz="1800" dirty="0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645F9920-3542-4F31-88E6-B5235250F1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6AF43D-A5CE-4F01-AF6A-A4C61E74758B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7D912DFD-B71F-4355-A844-454206B7E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Input and Output in C++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254F0-B37D-40DB-907F-7A16A49B9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 err="1">
                <a:solidFill>
                  <a:srgbClr val="C00000"/>
                </a:solidFill>
              </a:rPr>
              <a:t>cin</a:t>
            </a:r>
            <a:r>
              <a:rPr lang="en-IN" sz="2000" dirty="0"/>
              <a:t> is an instance of a class named </a:t>
            </a:r>
            <a:r>
              <a:rPr lang="en-IN" sz="2000" dirty="0" err="1">
                <a:solidFill>
                  <a:srgbClr val="C00000"/>
                </a:solidFill>
              </a:rPr>
              <a:t>istream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</a:p>
          <a:p>
            <a:pPr>
              <a:defRPr/>
            </a:pPr>
            <a:r>
              <a:rPr lang="en-IN" sz="2000" dirty="0" err="1">
                <a:solidFill>
                  <a:srgbClr val="C00000"/>
                </a:solidFill>
              </a:rPr>
              <a:t>cout</a:t>
            </a:r>
            <a:r>
              <a:rPr lang="en-IN" sz="2000" dirty="0"/>
              <a:t> and </a:t>
            </a:r>
            <a:r>
              <a:rPr lang="en-IN" sz="2000" dirty="0" err="1">
                <a:solidFill>
                  <a:srgbClr val="C00000"/>
                </a:solidFill>
              </a:rPr>
              <a:t>cerr</a:t>
            </a:r>
            <a:r>
              <a:rPr lang="en-IN" sz="2000" dirty="0"/>
              <a:t> are instances of a class named </a:t>
            </a:r>
            <a:r>
              <a:rPr lang="en-IN" sz="2000" dirty="0" err="1">
                <a:solidFill>
                  <a:srgbClr val="C00000"/>
                </a:solidFill>
              </a:rPr>
              <a:t>ostream</a:t>
            </a: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000" dirty="0"/>
              <a:t>All three instances or objects are stored in a library, which the linker searches while creating the final executable program</a:t>
            </a:r>
          </a:p>
          <a:p>
            <a:pPr>
              <a:defRPr/>
            </a:pPr>
            <a:r>
              <a:rPr lang="en-IN" sz="2000" dirty="0"/>
              <a:t>#include &lt;</a:t>
            </a:r>
            <a:r>
              <a:rPr lang="en-IN" sz="2000" dirty="0" err="1"/>
              <a:t>iostream</a:t>
            </a:r>
            <a:r>
              <a:rPr lang="en-IN" sz="2000" dirty="0"/>
              <a:t>&gt;  //</a:t>
            </a:r>
            <a:r>
              <a:rPr lang="en-IN" sz="2000" dirty="0">
                <a:solidFill>
                  <a:srgbClr val="C00000"/>
                </a:solidFill>
              </a:rPr>
              <a:t>Including a header file provides access to the I/O stream objects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using namespace </a:t>
            </a:r>
            <a:r>
              <a:rPr lang="en-IN" sz="2000" dirty="0" err="1"/>
              <a:t>std</a:t>
            </a:r>
            <a:r>
              <a:rPr lang="en-IN" sz="2000" dirty="0"/>
              <a:t>;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………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</a:t>
            </a:r>
            <a:r>
              <a:rPr lang="en-IN" sz="2000" dirty="0" err="1"/>
              <a:t>cout</a:t>
            </a:r>
            <a:r>
              <a:rPr lang="en-IN" sz="2000" dirty="0"/>
              <a:t> &lt;&lt; "hello world" &lt;&lt; </a:t>
            </a:r>
            <a:r>
              <a:rPr lang="en-IN" sz="2000" dirty="0" err="1"/>
              <a:t>endl</a:t>
            </a:r>
            <a:r>
              <a:rPr lang="en-IN" sz="2000" dirty="0"/>
              <a:t>;</a:t>
            </a: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B730535-5D22-4E42-B9F2-8421E75FF6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1D1B3F-319D-45DD-9712-325AB8C3FC22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21509" name="Picture 2">
            <a:extLst>
              <a:ext uri="{FF2B5EF4-FFF2-40B4-BE49-F238E27FC236}">
                <a16:creationId xmlns:a16="http://schemas.microsoft.com/office/drawing/2014/main" id="{BAB5480E-717E-445E-B75A-DA66600AA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798830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510" name="Rectangle 4">
            <a:extLst>
              <a:ext uri="{FF2B5EF4-FFF2-40B4-BE49-F238E27FC236}">
                <a16:creationId xmlns:a16="http://schemas.microsoft.com/office/drawing/2014/main" id="{34D6A1F6-8754-4B83-B539-D35B84A8A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105400"/>
            <a:ext cx="4572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2000"/>
              <a:t>#include &lt;iostream&gt;  </a:t>
            </a:r>
          </a:p>
          <a:p>
            <a:pPr eaLnBrk="1" hangingPunct="1"/>
            <a:r>
              <a:rPr lang="en-IN" altLang="en-US" sz="2000"/>
              <a:t>     ………</a:t>
            </a:r>
          </a:p>
          <a:p>
            <a:pPr eaLnBrk="1" hangingPunct="1"/>
            <a:r>
              <a:rPr lang="en-IN" altLang="en-US" sz="2000"/>
              <a:t> std::cout &lt;&lt; "hello world" &lt;&lt; std::endl;</a:t>
            </a:r>
            <a:endParaRPr lang="en-IN" altLang="en-US" sz="20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62969EAF-5B18-4BB3-AB11-1ED0350F4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Input and Output in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95ADB-00E7-4760-AC3E-D963D5799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Operators</a:t>
            </a:r>
          </a:p>
          <a:p>
            <a:pPr lvl="1">
              <a:defRPr/>
            </a:pPr>
            <a:r>
              <a:rPr lang="en-IN" sz="2000" dirty="0"/>
              <a:t> &lt;&lt; (inserter or output) operator and </a:t>
            </a:r>
          </a:p>
          <a:p>
            <a:pPr lvl="1">
              <a:defRPr/>
            </a:pPr>
            <a:r>
              <a:rPr lang="en-IN" sz="2000" dirty="0"/>
              <a:t>&gt;&gt; (extractor or input) operator</a:t>
            </a:r>
          </a:p>
          <a:p>
            <a:pPr>
              <a:defRPr/>
            </a:pPr>
            <a:r>
              <a:rPr lang="en-IN" sz="2000" dirty="0"/>
              <a:t>These two operators work in conjunction with </a:t>
            </a:r>
            <a:r>
              <a:rPr lang="en-IN" sz="2000" dirty="0" err="1"/>
              <a:t>cout</a:t>
            </a:r>
            <a:r>
              <a:rPr lang="en-IN" sz="2000" dirty="0"/>
              <a:t>, </a:t>
            </a:r>
            <a:r>
              <a:rPr lang="en-IN" sz="2000" dirty="0" err="1"/>
              <a:t>cerr</a:t>
            </a:r>
            <a:r>
              <a:rPr lang="en-IN" sz="2000" dirty="0"/>
              <a:t>, and </a:t>
            </a:r>
            <a:r>
              <a:rPr lang="en-IN" sz="2000" dirty="0" err="1"/>
              <a:t>cin</a:t>
            </a:r>
            <a:r>
              <a:rPr lang="en-IN" sz="2000" dirty="0"/>
              <a:t> to write data out from or read data into a program</a:t>
            </a: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Example</a:t>
            </a:r>
          </a:p>
          <a:p>
            <a:pPr lvl="1">
              <a:defRPr/>
            </a:pPr>
            <a:r>
              <a:rPr lang="en-IN" sz="2000" dirty="0" err="1"/>
              <a:t>cout</a:t>
            </a:r>
            <a:r>
              <a:rPr lang="en-IN" sz="2000" dirty="0"/>
              <a:t> &lt;&lt; "Hello world" &lt;&lt; </a:t>
            </a:r>
            <a:r>
              <a:rPr lang="en-IN" sz="2000" dirty="0" err="1"/>
              <a:t>endl</a:t>
            </a:r>
            <a:r>
              <a:rPr lang="en-IN" sz="2000" dirty="0"/>
              <a:t>;    // data output                 </a:t>
            </a:r>
          </a:p>
          <a:p>
            <a:pPr lvl="1">
              <a:defRPr/>
            </a:pPr>
            <a:r>
              <a:rPr lang="en-IN" sz="2000" dirty="0" err="1"/>
              <a:t>cin</a:t>
            </a:r>
            <a:r>
              <a:rPr lang="en-IN" sz="2000" dirty="0"/>
              <a:t> &gt;&gt; counter;                           // data input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Note: </a:t>
            </a:r>
          </a:p>
          <a:p>
            <a:pPr lvl="1">
              <a:defRPr/>
            </a:pPr>
            <a:r>
              <a:rPr lang="en-IN" sz="1800" dirty="0"/>
              <a:t>&lt;&lt; inserts data into the output stream while &gt;&gt; extracts data from the input stream</a:t>
            </a:r>
          </a:p>
          <a:p>
            <a:pPr lvl="1">
              <a:defRPr/>
            </a:pPr>
            <a:r>
              <a:rPr lang="en-IN" sz="1800" dirty="0"/>
              <a:t>Think of the arrows as pointing in the direction that the data is flowing in relation to the I/O objects and the program</a:t>
            </a:r>
            <a:endParaRPr lang="en-IN" sz="18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400" dirty="0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ED6A58DB-7925-4A73-AE52-9AD71A0F92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490388-BB47-40AE-89C9-5B6A53B2AA77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EC974B72-2854-4D69-B639-F9D376CF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Why &gt;&gt; and &lt;&lt; for I/O in C++? 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82887-282C-4C9F-A036-CB3BB554D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8588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dirty="0"/>
              <a:t>Assignment operator = a candidate !</a:t>
            </a:r>
          </a:p>
          <a:p>
            <a:pPr lvl="1">
              <a:defRPr/>
            </a:pPr>
            <a:r>
              <a:rPr lang="en-IN" sz="1800" dirty="0"/>
              <a:t>Input operator different from output operator  </a:t>
            </a:r>
          </a:p>
          <a:p>
            <a:pPr lvl="1">
              <a:defRPr/>
            </a:pPr>
            <a:r>
              <a:rPr lang="en-IN" sz="1800" dirty="0" err="1"/>
              <a:t>cout</a:t>
            </a:r>
            <a:r>
              <a:rPr lang="en-IN" sz="1800" dirty="0"/>
              <a:t>=a=b means </a:t>
            </a:r>
            <a:r>
              <a:rPr lang="en-IN" sz="1800" dirty="0" err="1"/>
              <a:t>cout</a:t>
            </a:r>
            <a:r>
              <a:rPr lang="en-IN" sz="1800" dirty="0"/>
              <a:t>=(a=b)</a:t>
            </a:r>
          </a:p>
          <a:p>
            <a:pPr>
              <a:defRPr/>
            </a:pPr>
            <a:endParaRPr lang="en-IN" sz="1600" dirty="0"/>
          </a:p>
          <a:p>
            <a:pPr>
              <a:defRPr/>
            </a:pPr>
            <a:r>
              <a:rPr lang="en-IN" sz="2000" dirty="0"/>
              <a:t>   How about &lt; and &gt; ?</a:t>
            </a:r>
          </a:p>
          <a:p>
            <a:pPr>
              <a:defRPr/>
            </a:pPr>
            <a:r>
              <a:rPr lang="en-IN" sz="2000" dirty="0"/>
              <a:t>   </a:t>
            </a:r>
            <a:r>
              <a:rPr lang="en-IN" sz="2000" dirty="0">
                <a:solidFill>
                  <a:srgbClr val="C00000"/>
                </a:solidFill>
              </a:rPr>
              <a:t>&lt;&lt; and &gt;&gt; are </a:t>
            </a:r>
            <a:r>
              <a:rPr lang="en-US" sz="2000" dirty="0">
                <a:solidFill>
                  <a:srgbClr val="C00000"/>
                </a:solidFill>
              </a:rPr>
              <a:t>asymmetric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IN" sz="2000" dirty="0">
                <a:solidFill>
                  <a:srgbClr val="C00000"/>
                </a:solidFill>
              </a:rPr>
              <a:t>not commonly used</a:t>
            </a:r>
          </a:p>
          <a:p>
            <a:pPr>
              <a:defRPr/>
            </a:pPr>
            <a:endParaRPr lang="en-IN" sz="1200" dirty="0"/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Precedence of &lt;&lt; is low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#include&lt;</a:t>
            </a:r>
            <a:r>
              <a:rPr lang="en-IN" sz="2000" dirty="0" err="1"/>
              <a:t>iostream</a:t>
            </a:r>
            <a:r>
              <a:rPr lang="en-IN" sz="2000" dirty="0"/>
              <a:t>&gt;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using namespace </a:t>
            </a:r>
            <a:r>
              <a:rPr lang="en-IN" sz="2000" dirty="0" err="1"/>
              <a:t>std</a:t>
            </a:r>
            <a:r>
              <a:rPr lang="en-IN" sz="2000" dirty="0"/>
              <a:t>; 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 err="1"/>
              <a:t>int</a:t>
            </a:r>
            <a:r>
              <a:rPr lang="en-IN" sz="2000" dirty="0"/>
              <a:t> main()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{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       </a:t>
            </a:r>
            <a:r>
              <a:rPr lang="en-IN" sz="2000" dirty="0" err="1"/>
              <a:t>int</a:t>
            </a:r>
            <a:r>
              <a:rPr lang="en-IN" sz="2000" dirty="0"/>
              <a:t> a=1,b=2,c=3;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       </a:t>
            </a:r>
            <a:r>
              <a:rPr lang="en-IN" sz="2000" dirty="0" err="1"/>
              <a:t>cout</a:t>
            </a:r>
            <a:r>
              <a:rPr lang="en-IN" sz="2000" dirty="0"/>
              <a:t>&lt;&lt;“a*</a:t>
            </a:r>
            <a:r>
              <a:rPr lang="en-IN" sz="2000" dirty="0" err="1"/>
              <a:t>b+c</a:t>
            </a:r>
            <a:r>
              <a:rPr lang="en-IN" sz="2000" dirty="0"/>
              <a:t>=“&lt;&lt; a*</a:t>
            </a:r>
            <a:r>
              <a:rPr lang="en-IN" sz="2000" dirty="0" err="1"/>
              <a:t>b+c</a:t>
            </a:r>
            <a:r>
              <a:rPr lang="en-IN" sz="2000" dirty="0"/>
              <a:t>&lt;&lt;‘\n’;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}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C9CAAB3C-6059-4B90-8C8B-DA7162DC6F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1838E2-59C9-401D-ADF1-0E97132B4E37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BE74B484-E711-4A83-9984-E79158409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334000"/>
            <a:ext cx="1143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b="1"/>
              <a:t>Output</a:t>
            </a:r>
          </a:p>
          <a:p>
            <a:pPr eaLnBrk="1" hangingPunct="1"/>
            <a:r>
              <a:rPr lang="en-IN" altLang="en-US" b="1"/>
              <a:t>    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A27E4703-42D0-4D30-988B-D7220FFA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Why &gt;&gt; and &lt;&lt; for I/O in C++? </a:t>
            </a:r>
            <a:endParaRPr lang="en-IN" alt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8B96-D834-4826-9CBB-7B56EE711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Parentheses must be used when operator of lower precedence available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#include&lt;</a:t>
            </a:r>
            <a:r>
              <a:rPr lang="en-IN" sz="2000" dirty="0" err="1"/>
              <a:t>iostream</a:t>
            </a:r>
            <a:r>
              <a:rPr lang="en-IN" sz="2000" dirty="0"/>
              <a:t>&gt;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using namespace </a:t>
            </a:r>
            <a:r>
              <a:rPr lang="en-IN" sz="2000" dirty="0" err="1"/>
              <a:t>std</a:t>
            </a:r>
            <a:r>
              <a:rPr lang="en-IN" sz="2000" dirty="0"/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</a:t>
            </a:r>
            <a:r>
              <a:rPr lang="en-IN" sz="2000" dirty="0" err="1"/>
              <a:t>int</a:t>
            </a:r>
            <a:r>
              <a:rPr lang="en-IN" sz="2000" dirty="0"/>
              <a:t> main()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	</a:t>
            </a:r>
            <a:r>
              <a:rPr lang="en-IN" sz="2000" dirty="0" err="1"/>
              <a:t>int</a:t>
            </a:r>
            <a:r>
              <a:rPr lang="en-IN" sz="2000" dirty="0"/>
              <a:t> a=1,b=2,c=3;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	</a:t>
            </a:r>
            <a:r>
              <a:rPr lang="en-IN" sz="2000" dirty="0" err="1"/>
              <a:t>cout</a:t>
            </a:r>
            <a:r>
              <a:rPr lang="en-IN" sz="2000" dirty="0"/>
              <a:t>&lt;&lt;“</a:t>
            </a:r>
            <a:r>
              <a:rPr lang="en-IN" sz="2000" dirty="0" err="1"/>
              <a:t>a^b</a:t>
            </a:r>
            <a:r>
              <a:rPr lang="en-IN" sz="2000" dirty="0"/>
              <a:t>/c =“&lt;&lt;(</a:t>
            </a:r>
            <a:r>
              <a:rPr lang="en-IN" sz="2000" dirty="0" err="1"/>
              <a:t>a^b</a:t>
            </a:r>
            <a:r>
              <a:rPr lang="en-IN" sz="2000" dirty="0"/>
              <a:t>/c)&lt;&lt;‘\n’;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}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A7C8826C-5676-4ADD-BD00-1F86C14C9F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05932FD-6011-443E-B0DF-7F642F51298A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81" name="Rectangle 4">
            <a:extLst>
              <a:ext uri="{FF2B5EF4-FFF2-40B4-BE49-F238E27FC236}">
                <a16:creationId xmlns:a16="http://schemas.microsoft.com/office/drawing/2014/main" id="{40D4A50F-3B84-4EE4-B30C-407199725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353050"/>
            <a:ext cx="1447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b="1"/>
              <a:t>Output</a:t>
            </a:r>
          </a:p>
          <a:p>
            <a:pPr eaLnBrk="1" hangingPunct="1"/>
            <a:r>
              <a:rPr lang="en-IN" altLang="en-US" b="1"/>
              <a:t>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B0B1512-B425-488E-84ED-4F6945AAD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Why &gt;&gt; and &lt;&lt; for I/O in C++? </a:t>
            </a:r>
            <a:endParaRPr lang="en-IN" alt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1CFF1-56C7-48EC-8EAF-90BB10358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Left shift operator &lt;&lt; can be used in an output statement but it must appear within parentheses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#include&lt;</a:t>
            </a:r>
            <a:r>
              <a:rPr lang="en-IN" sz="2000" dirty="0" err="1"/>
              <a:t>iostream</a:t>
            </a:r>
            <a:r>
              <a:rPr lang="en-IN" sz="2000" dirty="0"/>
              <a:t>&gt;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using namespace </a:t>
            </a:r>
            <a:r>
              <a:rPr lang="en-IN" sz="2000" dirty="0" err="1"/>
              <a:t>std</a:t>
            </a:r>
            <a:r>
              <a:rPr lang="en-IN" sz="2000" dirty="0"/>
              <a:t>;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 err="1"/>
              <a:t>int</a:t>
            </a:r>
            <a:r>
              <a:rPr lang="en-IN" sz="2000" dirty="0"/>
              <a:t> main()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{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       </a:t>
            </a:r>
            <a:r>
              <a:rPr lang="en-IN" sz="2000" dirty="0" err="1"/>
              <a:t>int</a:t>
            </a:r>
            <a:r>
              <a:rPr lang="en-IN" sz="2000" dirty="0"/>
              <a:t> a=1,b=2;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       </a:t>
            </a:r>
            <a:r>
              <a:rPr lang="en-IN" sz="2000" dirty="0" err="1"/>
              <a:t>cout</a:t>
            </a:r>
            <a:r>
              <a:rPr lang="en-IN" sz="2000" dirty="0"/>
              <a:t>&lt;&lt;“a&lt;&lt;b=“&lt;&lt;(a&lt;&lt;b)&lt;&lt;‘\n’;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}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57A01A0E-9E3A-42B0-A905-2F9E30B93E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546DCD-22AF-47BE-9195-25E7AD805DB1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5" name="Rectangle 4">
            <a:extLst>
              <a:ext uri="{FF2B5EF4-FFF2-40B4-BE49-F238E27FC236}">
                <a16:creationId xmlns:a16="http://schemas.microsoft.com/office/drawing/2014/main" id="{1CDA3465-023D-44A1-98BC-243CE7CB8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257800"/>
            <a:ext cx="1066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b="1"/>
              <a:t>Output</a:t>
            </a:r>
          </a:p>
          <a:p>
            <a:pPr eaLnBrk="1" hangingPunct="1"/>
            <a:r>
              <a:rPr lang="en-IN" altLang="en-US" b="1"/>
              <a:t>  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3ED1A7B-F573-47C0-93B3-152928802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The Insertion Operator &lt;&lt;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30D89-94D0-41B0-BDD8-8197723E9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 err="1">
                <a:solidFill>
                  <a:srgbClr val="C00000"/>
                </a:solidFill>
              </a:rPr>
              <a:t>cout</a:t>
            </a:r>
            <a:r>
              <a:rPr lang="en-IN" sz="2000" dirty="0"/>
              <a:t>  - a predefined object that represents the </a:t>
            </a:r>
            <a:r>
              <a:rPr lang="en-IN" sz="2000" dirty="0">
                <a:solidFill>
                  <a:srgbClr val="C00000"/>
                </a:solidFill>
              </a:rPr>
              <a:t>standard output streams</a:t>
            </a:r>
            <a:r>
              <a:rPr lang="en-IN" sz="2000" dirty="0"/>
              <a:t> in C++</a:t>
            </a:r>
          </a:p>
          <a:p>
            <a:pPr>
              <a:defRPr/>
            </a:pPr>
            <a:r>
              <a:rPr lang="en-IN" sz="2000" dirty="0"/>
              <a:t>The operator used is known as the </a:t>
            </a:r>
            <a:r>
              <a:rPr lang="en-IN" sz="2000" i="1" dirty="0">
                <a:solidFill>
                  <a:srgbClr val="C00000"/>
                </a:solidFill>
              </a:rPr>
              <a:t>insertion or put-to operation</a:t>
            </a:r>
            <a:r>
              <a:rPr lang="en-IN" sz="2000" dirty="0"/>
              <a:t> as is represented as &lt;&lt;.</a:t>
            </a:r>
          </a:p>
          <a:p>
            <a:pPr>
              <a:defRPr/>
            </a:pPr>
            <a:r>
              <a:rPr lang="en-IN" sz="2000" dirty="0"/>
              <a:t>It sends the contents of a variable on its right to the object on its left</a:t>
            </a:r>
          </a:p>
          <a:p>
            <a:pPr>
              <a:defRPr/>
            </a:pPr>
            <a:r>
              <a:rPr lang="en-IN" sz="2000" b="1" dirty="0"/>
              <a:t>Syntax :</a:t>
            </a:r>
            <a:r>
              <a:rPr lang="en-IN" sz="2000" dirty="0"/>
              <a:t>   </a:t>
            </a:r>
            <a:r>
              <a:rPr lang="en-IN" sz="2000" dirty="0" err="1">
                <a:solidFill>
                  <a:srgbClr val="C00000"/>
                </a:solidFill>
              </a:rPr>
              <a:t>cout</a:t>
            </a:r>
            <a:r>
              <a:rPr lang="en-IN" sz="2000" dirty="0">
                <a:solidFill>
                  <a:srgbClr val="C00000"/>
                </a:solidFill>
              </a:rPr>
              <a:t>&lt;&lt;variable;        </a:t>
            </a:r>
            <a:r>
              <a:rPr lang="en-IN" sz="2000" dirty="0"/>
              <a:t>(or)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>
                <a:solidFill>
                  <a:srgbClr val="C00000"/>
                </a:solidFill>
              </a:rPr>
              <a:t>                      </a:t>
            </a:r>
            <a:r>
              <a:rPr lang="en-IN" sz="2000" dirty="0" err="1">
                <a:solidFill>
                  <a:srgbClr val="C00000"/>
                </a:solidFill>
              </a:rPr>
              <a:t>cout</a:t>
            </a:r>
            <a:r>
              <a:rPr lang="en-IN" sz="2000" dirty="0">
                <a:solidFill>
                  <a:srgbClr val="C00000"/>
                </a:solidFill>
              </a:rPr>
              <a:t>&lt;&lt;variable1&lt;&lt;variable2&lt;&lt; …&lt;&lt;</a:t>
            </a:r>
            <a:r>
              <a:rPr lang="en-IN" sz="2000" dirty="0" err="1">
                <a:solidFill>
                  <a:srgbClr val="C00000"/>
                </a:solidFill>
              </a:rPr>
              <a:t>variablen</a:t>
            </a:r>
            <a:r>
              <a:rPr lang="en-IN" sz="2000" dirty="0">
                <a:solidFill>
                  <a:srgbClr val="C00000"/>
                </a:solidFill>
              </a:rPr>
              <a:t>;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BC225BE9-75CA-46B7-AB62-8090E78F39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C0108A-FA76-4173-A8D7-86CAB2A64534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26629" name="Picture 3">
            <a:extLst>
              <a:ext uri="{FF2B5EF4-FFF2-40B4-BE49-F238E27FC236}">
                <a16:creationId xmlns:a16="http://schemas.microsoft.com/office/drawing/2014/main" id="{CC78AABA-4806-4272-9345-E90930DA1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962400"/>
            <a:ext cx="40640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6187B737-F5BA-4A01-973A-B20BD02A8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The Insertion Operator &lt;&lt;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EE257-079F-43CB-8BE0-8AA79E5EF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400" dirty="0"/>
              <a:t>Examples</a:t>
            </a:r>
          </a:p>
          <a:p>
            <a:pPr>
              <a:defRPr/>
            </a:pPr>
            <a:endParaRPr lang="en-IN" sz="2400" dirty="0"/>
          </a:p>
          <a:p>
            <a:pPr>
              <a:defRPr/>
            </a:pPr>
            <a:endParaRPr lang="en-IN" sz="2400" dirty="0"/>
          </a:p>
          <a:p>
            <a:pPr>
              <a:defRPr/>
            </a:pPr>
            <a:endParaRPr lang="en-IN" sz="2400" dirty="0"/>
          </a:p>
          <a:p>
            <a:pPr>
              <a:defRPr/>
            </a:pPr>
            <a:endParaRPr lang="en-IN" sz="2400" dirty="0"/>
          </a:p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Cascading or chaining of Output Operators</a:t>
            </a:r>
          </a:p>
          <a:p>
            <a:pPr lvl="1">
              <a:defRPr/>
            </a:pPr>
            <a:r>
              <a:rPr lang="en-IN" sz="2000" dirty="0" err="1"/>
              <a:t>cout</a:t>
            </a:r>
            <a:r>
              <a:rPr lang="en-IN" sz="2000" dirty="0"/>
              <a:t> &lt;&lt; “Sum=” &lt;&lt; sum &lt;&lt; “\n”;</a:t>
            </a:r>
          </a:p>
          <a:p>
            <a:pPr lvl="1">
              <a:defRPr/>
            </a:pPr>
            <a:r>
              <a:rPr lang="en-IN" sz="2000" dirty="0" err="1"/>
              <a:t>cout</a:t>
            </a:r>
            <a:r>
              <a:rPr lang="en-IN" sz="2000" dirty="0"/>
              <a:t> &lt;&lt; “Average=” &lt;&lt; average &lt;&lt; “\n”;</a:t>
            </a:r>
          </a:p>
          <a:p>
            <a:pPr lvl="1"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 err="1">
                <a:solidFill>
                  <a:srgbClr val="C00000"/>
                </a:solidFill>
              </a:rPr>
              <a:t>cout</a:t>
            </a:r>
            <a:r>
              <a:rPr lang="en-IN" sz="2000" dirty="0">
                <a:solidFill>
                  <a:srgbClr val="C00000"/>
                </a:solidFill>
              </a:rPr>
              <a:t> &lt;&lt; A &lt;&lt; B &lt;&lt; C &lt;&lt; D;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>
                <a:solidFill>
                  <a:srgbClr val="C00000"/>
                </a:solidFill>
              </a:rPr>
              <a:t>     This is evaluated from left to right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>
                <a:solidFill>
                  <a:srgbClr val="C00000"/>
                </a:solidFill>
              </a:rPr>
              <a:t>      (((</a:t>
            </a:r>
            <a:r>
              <a:rPr lang="en-IN" sz="2000" dirty="0" err="1">
                <a:solidFill>
                  <a:srgbClr val="C00000"/>
                </a:solidFill>
              </a:rPr>
              <a:t>cout</a:t>
            </a:r>
            <a:r>
              <a:rPr lang="en-IN" sz="2000" dirty="0">
                <a:solidFill>
                  <a:srgbClr val="C00000"/>
                </a:solidFill>
              </a:rPr>
              <a:t> &lt;&lt; A) &lt;&lt; B) &lt;&lt; C) &lt;&lt; D;</a:t>
            </a:r>
          </a:p>
          <a:p>
            <a:pPr>
              <a:defRPr/>
            </a:pPr>
            <a:endParaRPr lang="en-IN" sz="2400" dirty="0"/>
          </a:p>
          <a:p>
            <a:pPr>
              <a:defRPr/>
            </a:pPr>
            <a:endParaRPr lang="en-IN" dirty="0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1F085E90-EDC4-47B5-AFD2-F35337D443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00104FB-BC44-4AA5-9E64-91A0D3E24E8C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27653" name="Picture 2">
            <a:extLst>
              <a:ext uri="{FF2B5EF4-FFF2-40B4-BE49-F238E27FC236}">
                <a16:creationId xmlns:a16="http://schemas.microsoft.com/office/drawing/2014/main" id="{C7DD5906-2DB6-46A5-A090-AE10F57EB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88" y="1828800"/>
            <a:ext cx="5372100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2DAA3D59-8DB7-40C7-B7CF-654B0739A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The Extraction Operator &gt;&gt;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FD211-C22E-4BFF-894C-1818DB417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i="1" dirty="0" err="1">
                <a:solidFill>
                  <a:srgbClr val="C00000"/>
                </a:solidFill>
              </a:rPr>
              <a:t>cin</a:t>
            </a:r>
            <a:r>
              <a:rPr lang="en-IN" sz="2000" dirty="0"/>
              <a:t>  - is a predefined object in C++ that corresponds to the standard input stream</a:t>
            </a:r>
          </a:p>
          <a:p>
            <a:pPr>
              <a:defRPr/>
            </a:pPr>
            <a:r>
              <a:rPr lang="en-IN" sz="2000" i="1" dirty="0">
                <a:solidFill>
                  <a:srgbClr val="C00000"/>
                </a:solidFill>
              </a:rPr>
              <a:t>Extraction or  get-from operator</a:t>
            </a:r>
            <a:r>
              <a:rPr lang="en-IN" sz="2000" dirty="0"/>
              <a:t> is used and is represented as ‘&gt;&gt;’</a:t>
            </a:r>
          </a:p>
          <a:p>
            <a:pPr>
              <a:defRPr/>
            </a:pPr>
            <a:r>
              <a:rPr lang="en-IN" sz="2000" dirty="0"/>
              <a:t>It takes the value from the keyboard and assigns it to the variable on its right</a:t>
            </a:r>
          </a:p>
          <a:p>
            <a:pPr>
              <a:defRPr/>
            </a:pPr>
            <a:r>
              <a:rPr lang="en-IN" sz="2000" b="1" dirty="0"/>
              <a:t>Syntax</a:t>
            </a:r>
            <a:r>
              <a:rPr lang="en-IN" sz="2000" dirty="0"/>
              <a:t> : </a:t>
            </a:r>
            <a:r>
              <a:rPr lang="en-IN" sz="2000" dirty="0" err="1">
                <a:solidFill>
                  <a:srgbClr val="C00000"/>
                </a:solidFill>
              </a:rPr>
              <a:t>cin</a:t>
            </a:r>
            <a:r>
              <a:rPr lang="en-IN" sz="2000" dirty="0">
                <a:solidFill>
                  <a:srgbClr val="C00000"/>
                </a:solidFill>
              </a:rPr>
              <a:t>&gt;&gt;variable;  </a:t>
            </a:r>
            <a:r>
              <a:rPr lang="en-IN" sz="2000" dirty="0"/>
              <a:t>(or)  </a:t>
            </a:r>
            <a:r>
              <a:rPr lang="en-IN" sz="2000" dirty="0" err="1">
                <a:solidFill>
                  <a:srgbClr val="C00000"/>
                </a:solidFill>
              </a:rPr>
              <a:t>cin</a:t>
            </a:r>
            <a:r>
              <a:rPr lang="en-IN" sz="2000" dirty="0">
                <a:solidFill>
                  <a:srgbClr val="C00000"/>
                </a:solidFill>
              </a:rPr>
              <a:t>&gt;&gt;variable1&gt;&gt;…&gt;&gt;</a:t>
            </a:r>
            <a:r>
              <a:rPr lang="en-IN" sz="2000" dirty="0" err="1">
                <a:solidFill>
                  <a:srgbClr val="C00000"/>
                </a:solidFill>
              </a:rPr>
              <a:t>varaiblen</a:t>
            </a:r>
            <a:r>
              <a:rPr lang="en-IN" sz="2000" dirty="0">
                <a:solidFill>
                  <a:srgbClr val="C00000"/>
                </a:solidFill>
              </a:rPr>
              <a:t>;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0E0542E6-9AB0-4C49-8BFA-26741343C1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03B418A-5E8C-40B3-A1FA-68648D55E46D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28677" name="Picture 2">
            <a:extLst>
              <a:ext uri="{FF2B5EF4-FFF2-40B4-BE49-F238E27FC236}">
                <a16:creationId xmlns:a16="http://schemas.microsoft.com/office/drawing/2014/main" id="{9A582CFC-72C3-44AE-897E-C8D2B8A2F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191000"/>
            <a:ext cx="6981825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992A5BDE-16B9-4141-B933-2750800EF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The Extraction Operator &gt;&gt;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8461D-2991-4484-A555-787175574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400" b="1" dirty="0"/>
              <a:t>Examples</a:t>
            </a:r>
          </a:p>
          <a:p>
            <a:pPr>
              <a:defRPr/>
            </a:pPr>
            <a:endParaRPr lang="en-IN" sz="2400" b="1" dirty="0"/>
          </a:p>
          <a:p>
            <a:pPr>
              <a:defRPr/>
            </a:pPr>
            <a:endParaRPr lang="en-IN" sz="2400" b="1" dirty="0"/>
          </a:p>
          <a:p>
            <a:pPr>
              <a:defRPr/>
            </a:pPr>
            <a:endParaRPr lang="en-IN" sz="2400" b="1" dirty="0"/>
          </a:p>
          <a:p>
            <a:pPr>
              <a:defRPr/>
            </a:pPr>
            <a:endParaRPr lang="en-IN" sz="2400" b="1" dirty="0"/>
          </a:p>
          <a:p>
            <a:pPr>
              <a:defRPr/>
            </a:pPr>
            <a:r>
              <a:rPr lang="en-IN" sz="2400" dirty="0">
                <a:solidFill>
                  <a:srgbClr val="C00000"/>
                </a:solidFill>
              </a:rPr>
              <a:t>Cascading or chaining of Input Operators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400" dirty="0"/>
              <a:t>    float a, b;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400" dirty="0"/>
              <a:t>    </a:t>
            </a:r>
            <a:r>
              <a:rPr lang="en-IN" sz="2400" dirty="0" err="1"/>
              <a:t>int</a:t>
            </a:r>
            <a:r>
              <a:rPr lang="en-IN" sz="2400" dirty="0"/>
              <a:t> c, d;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400" dirty="0"/>
              <a:t>    </a:t>
            </a:r>
            <a:r>
              <a:rPr lang="en-IN" sz="2400" dirty="0" err="1"/>
              <a:t>cin</a:t>
            </a:r>
            <a:r>
              <a:rPr lang="en-IN" sz="2400" dirty="0"/>
              <a:t>&gt;&gt;a&gt;&gt;b&gt;&gt;c&gt;&gt;d;</a:t>
            </a:r>
          </a:p>
          <a:p>
            <a:pPr>
              <a:defRPr/>
            </a:pPr>
            <a:endParaRPr lang="en-IN" sz="2400" b="1" dirty="0"/>
          </a:p>
          <a:p>
            <a:pPr>
              <a:defRPr/>
            </a:pPr>
            <a:endParaRPr lang="en-IN" sz="2400" b="1" dirty="0"/>
          </a:p>
          <a:p>
            <a:pPr>
              <a:defRPr/>
            </a:pPr>
            <a:endParaRPr lang="en-IN" sz="2400" b="1" dirty="0"/>
          </a:p>
          <a:p>
            <a:pPr>
              <a:defRPr/>
            </a:pPr>
            <a:endParaRPr lang="en-IN" sz="2400" b="1" dirty="0"/>
          </a:p>
          <a:p>
            <a:pPr>
              <a:defRPr/>
            </a:pPr>
            <a:endParaRPr lang="en-IN" sz="2400" b="1" dirty="0"/>
          </a:p>
          <a:p>
            <a:pPr>
              <a:defRPr/>
            </a:pPr>
            <a:endParaRPr lang="en-IN" sz="2400" b="1" dirty="0"/>
          </a:p>
          <a:p>
            <a:pPr>
              <a:defRPr/>
            </a:pPr>
            <a:endParaRPr lang="en-IN" sz="2400" dirty="0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6406A256-1673-45C7-A26C-3BCC7896F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79B26C-4742-4AB6-AD78-3D81CABDF2FD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29701" name="Picture 2">
            <a:extLst>
              <a:ext uri="{FF2B5EF4-FFF2-40B4-BE49-F238E27FC236}">
                <a16:creationId xmlns:a16="http://schemas.microsoft.com/office/drawing/2014/main" id="{1BFC2193-CB5F-4485-95DA-B4512B8B4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09800"/>
            <a:ext cx="5019675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7C03C8F2-84EE-416E-A19D-2FC38269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Advantages of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07862-BE5C-4304-B246-0AB63F704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Advantages of using the stream classes for I/O, instead of traditional C functions such as printf() and </a:t>
            </a:r>
            <a:r>
              <a:rPr lang="en-IN" sz="2000" dirty="0" err="1"/>
              <a:t>scanf</a:t>
            </a:r>
            <a:r>
              <a:rPr lang="en-IN" sz="2000" dirty="0"/>
              <a:t>(), and for files—</a:t>
            </a:r>
            <a:r>
              <a:rPr lang="en-IN" sz="2000" dirty="0" err="1"/>
              <a:t>fprintf</a:t>
            </a:r>
            <a:r>
              <a:rPr lang="en-IN" sz="2000" dirty="0"/>
              <a:t>(), </a:t>
            </a:r>
            <a:r>
              <a:rPr lang="en-IN" sz="2000" dirty="0" err="1"/>
              <a:t>fscanf</a:t>
            </a:r>
            <a:r>
              <a:rPr lang="en-IN" sz="2000" dirty="0"/>
              <a:t>(), and so on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Simplicity </a:t>
            </a:r>
          </a:p>
          <a:p>
            <a:pPr lvl="1">
              <a:defRPr/>
            </a:pPr>
            <a:r>
              <a:rPr lang="en-IN" sz="1800" dirty="0"/>
              <a:t>There are </a:t>
            </a:r>
            <a:r>
              <a:rPr lang="en-IN" sz="1800" b="1" dirty="0"/>
              <a:t>no such formatting characters in streams</a:t>
            </a:r>
            <a:r>
              <a:rPr lang="en-IN" sz="1800" dirty="0"/>
              <a:t>, since each object already knows how to display - This removes a major source of errors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Overload existing operators and functions, such as the insertion (&lt;&lt;) and extraction (&gt;&gt;) operators, to work with classes that you create</a:t>
            </a:r>
          </a:p>
          <a:p>
            <a:pPr lvl="1">
              <a:defRPr/>
            </a:pPr>
            <a:r>
              <a:rPr lang="en-IN" sz="1800" dirty="0"/>
              <a:t>This makes your own classes work in the same way as the built-in types, which again makes programming easier</a:t>
            </a:r>
            <a:endParaRPr lang="en-IN" sz="1800" dirty="0">
              <a:solidFill>
                <a:srgbClr val="C00000"/>
              </a:solidFill>
            </a:endParaRP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9A32B97A-3013-4325-A2E0-C3F9394A4F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D7B287-6C18-4F24-AA01-4AE10563DFAE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EAFC3BEF-3373-426A-9467-80018B038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The Stream Class Hierarchy</a:t>
            </a: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BBD9A29-E561-43E4-8173-09CE767A35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F86D23-56CD-4277-A027-DEC086FE1B6B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31748" name="Picture 3">
            <a:extLst>
              <a:ext uri="{FF2B5EF4-FFF2-40B4-BE49-F238E27FC236}">
                <a16:creationId xmlns:a16="http://schemas.microsoft.com/office/drawing/2014/main" id="{5EB0E68E-57D2-49BB-BAB9-08E9E689B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8" y="971550"/>
            <a:ext cx="6513512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9" name="Picture 4">
            <a:extLst>
              <a:ext uri="{FF2B5EF4-FFF2-40B4-BE49-F238E27FC236}">
                <a16:creationId xmlns:a16="http://schemas.microsoft.com/office/drawing/2014/main" id="{90C7B390-97C8-4520-B557-62F6388C5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50" y="5257800"/>
            <a:ext cx="165735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E824D950-6E20-4C55-A157-C6E1CF68A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The Stream Class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BFB24-F083-4DE4-9896-E9D16EE23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Extraction operator </a:t>
            </a:r>
            <a:r>
              <a:rPr lang="en-IN" sz="2000" dirty="0"/>
              <a:t>&gt;&gt;  is a member of the </a:t>
            </a:r>
            <a:r>
              <a:rPr lang="en-IN" sz="2000" dirty="0" err="1">
                <a:solidFill>
                  <a:srgbClr val="C00000"/>
                </a:solidFill>
              </a:rPr>
              <a:t>istream</a:t>
            </a:r>
            <a:r>
              <a:rPr lang="en-IN" sz="2000" dirty="0"/>
              <a:t> class  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Insertion operator </a:t>
            </a:r>
            <a:r>
              <a:rPr lang="en-IN" sz="2000" dirty="0"/>
              <a:t>&lt;&lt;  is a member of the </a:t>
            </a:r>
            <a:r>
              <a:rPr lang="en-IN" sz="2000" dirty="0" err="1">
                <a:solidFill>
                  <a:srgbClr val="C00000"/>
                </a:solidFill>
              </a:rPr>
              <a:t>ostream</a:t>
            </a:r>
            <a:r>
              <a:rPr lang="en-IN" sz="2000" dirty="0"/>
              <a:t> class</a:t>
            </a:r>
          </a:p>
          <a:p>
            <a:pPr>
              <a:defRPr/>
            </a:pPr>
            <a:r>
              <a:rPr lang="en-IN" sz="2000" dirty="0"/>
              <a:t>Both of these classes are derived from the </a:t>
            </a:r>
            <a:r>
              <a:rPr lang="en-IN" sz="2000" dirty="0" err="1">
                <a:solidFill>
                  <a:srgbClr val="C00000"/>
                </a:solidFill>
              </a:rPr>
              <a:t>ios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  <a:r>
              <a:rPr lang="en-IN" sz="2000" dirty="0"/>
              <a:t>class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The </a:t>
            </a:r>
            <a:r>
              <a:rPr lang="en-IN" sz="2000" dirty="0" err="1">
                <a:solidFill>
                  <a:srgbClr val="C00000"/>
                </a:solidFill>
              </a:rPr>
              <a:t>cout</a:t>
            </a:r>
            <a:r>
              <a:rPr lang="en-IN" sz="2000" dirty="0">
                <a:solidFill>
                  <a:srgbClr val="C00000"/>
                </a:solidFill>
              </a:rPr>
              <a:t> object </a:t>
            </a:r>
            <a:r>
              <a:rPr lang="en-IN" sz="2000" dirty="0"/>
              <a:t>- representing the standard output stream, which is usually directed to the video display, </a:t>
            </a:r>
            <a:r>
              <a:rPr lang="en-IN" sz="2000" b="1" dirty="0"/>
              <a:t>is a predefined object of the </a:t>
            </a:r>
            <a:r>
              <a:rPr lang="en-IN" sz="2000" dirty="0" err="1">
                <a:solidFill>
                  <a:srgbClr val="C00000"/>
                </a:solidFill>
              </a:rPr>
              <a:t>ostream_withassign</a:t>
            </a:r>
            <a:r>
              <a:rPr lang="en-IN" sz="2000" dirty="0">
                <a:solidFill>
                  <a:srgbClr val="C00000"/>
                </a:solidFill>
              </a:rPr>
              <a:t> class</a:t>
            </a:r>
            <a:r>
              <a:rPr lang="en-IN" sz="2000" dirty="0"/>
              <a:t>, which is derived from the </a:t>
            </a:r>
            <a:r>
              <a:rPr lang="en-IN" sz="2000" dirty="0" err="1">
                <a:solidFill>
                  <a:srgbClr val="C00000"/>
                </a:solidFill>
              </a:rPr>
              <a:t>ostream</a:t>
            </a:r>
            <a:r>
              <a:rPr lang="en-IN" sz="2000" dirty="0"/>
              <a:t> class</a:t>
            </a:r>
          </a:p>
          <a:p>
            <a:pPr>
              <a:defRPr/>
            </a:pPr>
            <a:r>
              <a:rPr lang="en-IN" sz="2000" dirty="0"/>
              <a:t> </a:t>
            </a:r>
          </a:p>
          <a:p>
            <a:pPr>
              <a:defRPr/>
            </a:pPr>
            <a:r>
              <a:rPr lang="en-IN" sz="2000" dirty="0"/>
              <a:t>Similarly, </a:t>
            </a:r>
            <a:r>
              <a:rPr lang="en-IN" sz="2000" dirty="0" err="1">
                <a:solidFill>
                  <a:srgbClr val="C00000"/>
                </a:solidFill>
              </a:rPr>
              <a:t>cin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  <a:r>
              <a:rPr lang="en-IN" sz="2000" dirty="0"/>
              <a:t>is an object of the </a:t>
            </a:r>
            <a:r>
              <a:rPr lang="en-IN" sz="2000" dirty="0" err="1">
                <a:solidFill>
                  <a:srgbClr val="C00000"/>
                </a:solidFill>
              </a:rPr>
              <a:t>istream_withassign</a:t>
            </a:r>
            <a:r>
              <a:rPr lang="en-IN" sz="2000" dirty="0">
                <a:solidFill>
                  <a:srgbClr val="C00000"/>
                </a:solidFill>
              </a:rPr>
              <a:t> class</a:t>
            </a:r>
            <a:r>
              <a:rPr lang="en-IN" sz="2000" dirty="0"/>
              <a:t>, which is derived from </a:t>
            </a:r>
            <a:r>
              <a:rPr lang="en-IN" sz="2000" dirty="0" err="1">
                <a:solidFill>
                  <a:srgbClr val="C00000"/>
                </a:solidFill>
              </a:rPr>
              <a:t>istream</a:t>
            </a: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000" dirty="0"/>
              <a:t>The classes used for input and output to the video display and keyboard are declared in the header file </a:t>
            </a:r>
            <a:r>
              <a:rPr lang="en-IN" sz="2000" dirty="0" err="1">
                <a:solidFill>
                  <a:srgbClr val="C00000"/>
                </a:solidFill>
              </a:rPr>
              <a:t>iostream</a:t>
            </a: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754F9EBE-D96D-4AC4-A425-5D9700CE86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D951DA-8E9B-41E1-AFF7-69FF68922391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5C3EE665-DF65-4F4F-BC30-795D1625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The Stream Class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551B2-75C9-4D1E-9293-3201C3A48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 err="1">
                <a:solidFill>
                  <a:srgbClr val="C00000"/>
                </a:solidFill>
              </a:rPr>
              <a:t>ios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  <a:r>
              <a:rPr lang="en-IN" sz="2000" dirty="0"/>
              <a:t>class is the base class for the hierarchy</a:t>
            </a:r>
          </a:p>
          <a:p>
            <a:pPr lvl="1">
              <a:defRPr/>
            </a:pPr>
            <a:r>
              <a:rPr lang="en-IN" sz="1800" dirty="0"/>
              <a:t>It contains many constants and member functions common to input and output operations of all kinds</a:t>
            </a:r>
          </a:p>
          <a:p>
            <a:pPr lvl="1">
              <a:defRPr/>
            </a:pPr>
            <a:r>
              <a:rPr lang="en-IN" sz="1800" dirty="0"/>
              <a:t>Some of these, such as the </a:t>
            </a:r>
            <a:r>
              <a:rPr lang="en-IN" sz="1800" dirty="0" err="1"/>
              <a:t>showpoint</a:t>
            </a:r>
            <a:r>
              <a:rPr lang="en-IN" sz="1800" dirty="0"/>
              <a:t> and fixed formatting flags</a:t>
            </a:r>
          </a:p>
          <a:p>
            <a:pPr lvl="1">
              <a:defRPr/>
            </a:pPr>
            <a:endParaRPr lang="en-IN" sz="1600" dirty="0"/>
          </a:p>
          <a:p>
            <a:pPr>
              <a:defRPr/>
            </a:pPr>
            <a:r>
              <a:rPr lang="en-IN" sz="2000" dirty="0"/>
              <a:t>The </a:t>
            </a:r>
            <a:r>
              <a:rPr lang="en-IN" sz="2000" dirty="0" err="1"/>
              <a:t>ios</a:t>
            </a:r>
            <a:r>
              <a:rPr lang="en-IN" sz="2000" dirty="0"/>
              <a:t> class also contains </a:t>
            </a:r>
            <a:r>
              <a:rPr lang="en-IN" sz="2000" dirty="0">
                <a:solidFill>
                  <a:srgbClr val="C00000"/>
                </a:solidFill>
              </a:rPr>
              <a:t>a pointer to the </a:t>
            </a:r>
            <a:r>
              <a:rPr lang="en-IN" sz="2000" dirty="0" err="1">
                <a:solidFill>
                  <a:srgbClr val="C00000"/>
                </a:solidFill>
              </a:rPr>
              <a:t>streambuf</a:t>
            </a:r>
            <a:r>
              <a:rPr lang="en-IN" sz="2000" dirty="0">
                <a:solidFill>
                  <a:srgbClr val="C00000"/>
                </a:solidFill>
              </a:rPr>
              <a:t> class</a:t>
            </a:r>
            <a:r>
              <a:rPr lang="en-IN" sz="2000" dirty="0"/>
              <a:t>, which contains the actual </a:t>
            </a:r>
            <a:r>
              <a:rPr lang="en-IN" sz="2000" dirty="0">
                <a:solidFill>
                  <a:srgbClr val="C00000"/>
                </a:solidFill>
              </a:rPr>
              <a:t>memory buffer into which data is read or written</a:t>
            </a:r>
            <a:r>
              <a:rPr lang="en-IN" sz="2000" dirty="0"/>
              <a:t>, and the low-level routines for handling this data</a:t>
            </a:r>
          </a:p>
          <a:p>
            <a:pPr>
              <a:defRPr/>
            </a:pPr>
            <a:r>
              <a:rPr lang="en-IN" sz="2000" dirty="0"/>
              <a:t>The </a:t>
            </a:r>
            <a:r>
              <a:rPr lang="en-IN" sz="2000" dirty="0" err="1">
                <a:solidFill>
                  <a:srgbClr val="C00000"/>
                </a:solidFill>
              </a:rPr>
              <a:t>streambuf</a:t>
            </a:r>
            <a:r>
              <a:rPr lang="en-IN" sz="2000" dirty="0">
                <a:solidFill>
                  <a:srgbClr val="C00000"/>
                </a:solidFill>
              </a:rPr>
              <a:t> class </a:t>
            </a:r>
            <a:r>
              <a:rPr lang="en-IN" sz="2000" dirty="0"/>
              <a:t>is referenced automatically by other classes</a:t>
            </a:r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E683B101-6850-4888-B85C-D7E2D0AC0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F47EB5-180A-4428-81CD-2397C8A4A99D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357839F4-55F1-4A8A-8D1C-6B684C640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The Stream Class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32627-6264-49A2-BD56-8169BE713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30725"/>
          </a:xfrm>
        </p:spPr>
        <p:txBody>
          <a:bodyPr/>
          <a:lstStyle/>
          <a:p>
            <a:pPr>
              <a:defRPr/>
            </a:pPr>
            <a:r>
              <a:rPr lang="en-IN" sz="2000" dirty="0"/>
              <a:t>The </a:t>
            </a:r>
            <a:r>
              <a:rPr lang="en-IN" sz="2000" dirty="0" err="1">
                <a:solidFill>
                  <a:srgbClr val="C00000"/>
                </a:solidFill>
              </a:rPr>
              <a:t>istream</a:t>
            </a:r>
            <a:r>
              <a:rPr lang="en-IN" sz="2000" dirty="0">
                <a:solidFill>
                  <a:srgbClr val="C00000"/>
                </a:solidFill>
              </a:rPr>
              <a:t> and </a:t>
            </a:r>
            <a:r>
              <a:rPr lang="en-IN" sz="2000" dirty="0" err="1">
                <a:solidFill>
                  <a:srgbClr val="C00000"/>
                </a:solidFill>
              </a:rPr>
              <a:t>ostream</a:t>
            </a:r>
            <a:r>
              <a:rPr lang="en-IN" sz="2000" dirty="0">
                <a:solidFill>
                  <a:srgbClr val="C00000"/>
                </a:solidFill>
              </a:rPr>
              <a:t> classes </a:t>
            </a:r>
            <a:r>
              <a:rPr lang="en-IN" sz="2000" dirty="0"/>
              <a:t>are derived from </a:t>
            </a:r>
            <a:r>
              <a:rPr lang="en-IN" sz="2000" dirty="0" err="1">
                <a:solidFill>
                  <a:srgbClr val="C00000"/>
                </a:solidFill>
              </a:rPr>
              <a:t>ios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  <a:r>
              <a:rPr lang="en-IN" sz="2000" dirty="0"/>
              <a:t>and are dedicated to input and output, respectively </a:t>
            </a:r>
          </a:p>
          <a:p>
            <a:pPr>
              <a:defRPr/>
            </a:pPr>
            <a:r>
              <a:rPr lang="en-IN" sz="2000" dirty="0"/>
              <a:t>The </a:t>
            </a:r>
            <a:r>
              <a:rPr lang="en-IN" sz="2000" dirty="0" err="1"/>
              <a:t>istream</a:t>
            </a:r>
            <a:r>
              <a:rPr lang="en-IN" sz="2000" dirty="0"/>
              <a:t> class contains such functions as </a:t>
            </a:r>
            <a:r>
              <a:rPr lang="en-IN" sz="2000" dirty="0">
                <a:solidFill>
                  <a:srgbClr val="C00000"/>
                </a:solidFill>
              </a:rPr>
              <a:t>get(), </a:t>
            </a:r>
            <a:r>
              <a:rPr lang="en-IN" sz="2000" dirty="0" err="1">
                <a:solidFill>
                  <a:srgbClr val="C00000"/>
                </a:solidFill>
              </a:rPr>
              <a:t>getline</a:t>
            </a:r>
            <a:r>
              <a:rPr lang="en-IN" sz="2000" dirty="0">
                <a:solidFill>
                  <a:srgbClr val="C00000"/>
                </a:solidFill>
              </a:rPr>
              <a:t>(), read(), </a:t>
            </a:r>
            <a:r>
              <a:rPr lang="en-IN" sz="2000" dirty="0"/>
              <a:t>and the </a:t>
            </a:r>
            <a:r>
              <a:rPr lang="en-IN" sz="2000" dirty="0">
                <a:solidFill>
                  <a:srgbClr val="C00000"/>
                </a:solidFill>
              </a:rPr>
              <a:t>overloaded extraction (&gt;&gt;) operators</a:t>
            </a:r>
          </a:p>
          <a:p>
            <a:pPr>
              <a:defRPr/>
            </a:pPr>
            <a:r>
              <a:rPr lang="en-IN" sz="2000" dirty="0"/>
              <a:t>The </a:t>
            </a:r>
            <a:r>
              <a:rPr lang="en-IN" sz="2000" dirty="0" err="1"/>
              <a:t>ostream</a:t>
            </a:r>
            <a:r>
              <a:rPr lang="en-IN" sz="2000" dirty="0"/>
              <a:t> class contains </a:t>
            </a:r>
            <a:r>
              <a:rPr lang="en-IN" sz="2000" dirty="0">
                <a:solidFill>
                  <a:srgbClr val="C00000"/>
                </a:solidFill>
              </a:rPr>
              <a:t>put() and write(), and the overloaded insertion (&lt;&lt;) operators</a:t>
            </a:r>
          </a:p>
          <a:p>
            <a:pPr>
              <a:defRPr/>
            </a:pPr>
            <a:r>
              <a:rPr lang="en-IN" sz="2000" b="1" dirty="0"/>
              <a:t>The </a:t>
            </a:r>
            <a:r>
              <a:rPr lang="en-IN" sz="2000" b="1" dirty="0" err="1"/>
              <a:t>iostream</a:t>
            </a:r>
            <a:r>
              <a:rPr lang="en-IN" sz="2000" b="1" dirty="0"/>
              <a:t> class is derived from both </a:t>
            </a:r>
            <a:r>
              <a:rPr lang="en-IN" sz="2000" b="1" dirty="0" err="1"/>
              <a:t>istream</a:t>
            </a:r>
            <a:r>
              <a:rPr lang="en-IN" sz="2000" b="1" dirty="0"/>
              <a:t> and </a:t>
            </a:r>
            <a:r>
              <a:rPr lang="en-IN" sz="2000" b="1" dirty="0" err="1"/>
              <a:t>ostream</a:t>
            </a:r>
            <a:r>
              <a:rPr lang="en-IN" sz="2000" b="1" dirty="0"/>
              <a:t> by multiple inheritance</a:t>
            </a:r>
          </a:p>
          <a:p>
            <a:pPr>
              <a:defRPr/>
            </a:pPr>
            <a:endParaRPr lang="en-IN" sz="2000" b="1" dirty="0"/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References</a:t>
            </a:r>
          </a:p>
          <a:p>
            <a:pPr>
              <a:defRPr/>
            </a:pPr>
            <a:r>
              <a:rPr lang="en-IN" sz="1800" b="1" dirty="0">
                <a:hlinkClick r:id="rId2"/>
              </a:rPr>
              <a:t>http://osr507doc.xinuos.com/en/man/html.C%2B%2B/istream.C++.html</a:t>
            </a:r>
            <a:endParaRPr lang="en-IN" sz="1800" b="1" dirty="0"/>
          </a:p>
          <a:p>
            <a:pPr>
              <a:defRPr/>
            </a:pPr>
            <a:r>
              <a:rPr lang="en-IN" sz="1800" b="1" dirty="0">
                <a:hlinkClick r:id="rId3"/>
              </a:rPr>
              <a:t>http://osr507doc.xinuos.com/en/man/html.C%2B%2B/ostream.C++.html</a:t>
            </a:r>
            <a:endParaRPr lang="en-IN" sz="1800" b="1" dirty="0"/>
          </a:p>
          <a:p>
            <a:pPr>
              <a:defRPr/>
            </a:pPr>
            <a:r>
              <a:rPr lang="en-IN" sz="1800" b="1" dirty="0">
                <a:hlinkClick r:id="rId4"/>
              </a:rPr>
              <a:t>http://osr507doc.xinuos.com/en/man/html.C%2B%2B/ios.C++.html</a:t>
            </a:r>
            <a:endParaRPr lang="en-IN" sz="1800" b="1" dirty="0"/>
          </a:p>
          <a:p>
            <a:pPr>
              <a:defRPr/>
            </a:pPr>
            <a:endParaRPr lang="en-IN" sz="1800" b="1" dirty="0"/>
          </a:p>
          <a:p>
            <a:pPr>
              <a:defRPr/>
            </a:pPr>
            <a:endParaRPr lang="en-IN" sz="2000" b="1" dirty="0"/>
          </a:p>
          <a:p>
            <a:pPr>
              <a:defRPr/>
            </a:pPr>
            <a:endParaRPr lang="en-IN" sz="2000" dirty="0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F3EC6321-E27B-4921-96CD-9FDC9BF85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C7A532-6E55-47DA-BA37-268BD04ABE72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AE95BCE4-0C3F-404D-94C8-9E631D0FC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The Stream Class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50431-FC83-4D63-BE81-39060DB5E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Three classes - </a:t>
            </a:r>
            <a:r>
              <a:rPr lang="en-IN" sz="2000" dirty="0" err="1">
                <a:solidFill>
                  <a:srgbClr val="C00000"/>
                </a:solidFill>
              </a:rPr>
              <a:t>istream_withassign</a:t>
            </a:r>
            <a:r>
              <a:rPr lang="en-IN" sz="2000" dirty="0">
                <a:solidFill>
                  <a:srgbClr val="C00000"/>
                </a:solidFill>
              </a:rPr>
              <a:t>, </a:t>
            </a:r>
            <a:r>
              <a:rPr lang="en-IN" sz="2000" dirty="0" err="1">
                <a:solidFill>
                  <a:srgbClr val="C00000"/>
                </a:solidFill>
              </a:rPr>
              <a:t>ostream_withassig</a:t>
            </a:r>
            <a:r>
              <a:rPr lang="en-IN" sz="2000" dirty="0" err="1"/>
              <a:t>n</a:t>
            </a:r>
            <a:r>
              <a:rPr lang="en-IN" sz="2000" dirty="0"/>
              <a:t>, and </a:t>
            </a:r>
            <a:r>
              <a:rPr lang="en-IN" sz="2000" dirty="0" err="1">
                <a:solidFill>
                  <a:srgbClr val="C00000"/>
                </a:solidFill>
              </a:rPr>
              <a:t>iostream_withassign</a:t>
            </a:r>
            <a:r>
              <a:rPr lang="en-IN" sz="2000" dirty="0"/>
              <a:t> - are inherited from </a:t>
            </a:r>
            <a:r>
              <a:rPr lang="en-IN" sz="2000" dirty="0" err="1">
                <a:solidFill>
                  <a:srgbClr val="C00000"/>
                </a:solidFill>
              </a:rPr>
              <a:t>istream</a:t>
            </a:r>
            <a:r>
              <a:rPr lang="en-IN" sz="2000" dirty="0">
                <a:solidFill>
                  <a:srgbClr val="C00000"/>
                </a:solidFill>
              </a:rPr>
              <a:t>, </a:t>
            </a:r>
            <a:r>
              <a:rPr lang="en-IN" sz="2000" dirty="0" err="1">
                <a:solidFill>
                  <a:srgbClr val="C00000"/>
                </a:solidFill>
              </a:rPr>
              <a:t>ostream</a:t>
            </a:r>
            <a:r>
              <a:rPr lang="en-IN" sz="2000" dirty="0">
                <a:solidFill>
                  <a:srgbClr val="C00000"/>
                </a:solidFill>
              </a:rPr>
              <a:t>, and </a:t>
            </a:r>
            <a:r>
              <a:rPr lang="en-IN" sz="2000" dirty="0" err="1">
                <a:solidFill>
                  <a:srgbClr val="C00000"/>
                </a:solidFill>
              </a:rPr>
              <a:t>iostream</a:t>
            </a:r>
            <a:r>
              <a:rPr lang="en-IN" sz="2000" dirty="0"/>
              <a:t>, respectively</a:t>
            </a:r>
          </a:p>
          <a:p>
            <a:pPr>
              <a:defRPr/>
            </a:pPr>
            <a:r>
              <a:rPr lang="en-IN" sz="2000" dirty="0"/>
              <a:t>They add assignment operators to these classes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b="1" dirty="0">
                <a:solidFill>
                  <a:srgbClr val="C00000"/>
                </a:solidFill>
              </a:rPr>
              <a:t>Formatted I/O operations</a:t>
            </a:r>
          </a:p>
          <a:p>
            <a:pPr>
              <a:defRPr/>
            </a:pPr>
            <a:r>
              <a:rPr lang="en-IN" sz="2000" dirty="0"/>
              <a:t>The three ways to display formatted input and output in C++ are:</a:t>
            </a:r>
          </a:p>
          <a:p>
            <a:pPr lvl="1">
              <a:defRPr/>
            </a:pPr>
            <a:r>
              <a:rPr lang="en-IN" sz="2000" b="1" dirty="0" err="1"/>
              <a:t>ios</a:t>
            </a:r>
            <a:r>
              <a:rPr lang="en-IN" sz="2000" dirty="0"/>
              <a:t> class functions and flags</a:t>
            </a:r>
          </a:p>
          <a:p>
            <a:pPr lvl="1">
              <a:defRPr/>
            </a:pPr>
            <a:r>
              <a:rPr lang="en-IN" sz="2000" dirty="0"/>
              <a:t>Manipulators</a:t>
            </a:r>
          </a:p>
          <a:p>
            <a:pPr lvl="1">
              <a:defRPr/>
            </a:pPr>
            <a:r>
              <a:rPr lang="en-IN" sz="2000" dirty="0"/>
              <a:t>Member functions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b="1" dirty="0"/>
          </a:p>
          <a:p>
            <a:pPr>
              <a:defRPr/>
            </a:pPr>
            <a:endParaRPr lang="en-IN" dirty="0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295AFE32-A7F9-461A-8DFB-A431EE985B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42B44D-33ED-4A13-8618-E20674310B6B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AF08C537-7918-4B4B-967D-425ECEB3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Formatted Console I/O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A1822-5F59-437B-AF28-B7CD7DCF1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dirty="0"/>
              <a:t>There are several ways to set the formatting flags</a:t>
            </a:r>
          </a:p>
          <a:p>
            <a:pPr>
              <a:defRPr/>
            </a:pPr>
            <a:r>
              <a:rPr lang="en-IN" sz="2000" dirty="0"/>
              <a:t>Since they are members of the </a:t>
            </a:r>
            <a:r>
              <a:rPr lang="en-IN" sz="2000" dirty="0" err="1"/>
              <a:t>ios</a:t>
            </a:r>
            <a:r>
              <a:rPr lang="en-IN" sz="2000" dirty="0"/>
              <a:t> class, you must usually precede them with the name </a:t>
            </a:r>
            <a:r>
              <a:rPr lang="en-IN" sz="2000" dirty="0" err="1"/>
              <a:t>ios</a:t>
            </a:r>
            <a:r>
              <a:rPr lang="en-IN" sz="2000" dirty="0"/>
              <a:t> and the scope-resolution operator </a:t>
            </a:r>
          </a:p>
          <a:p>
            <a:pPr lvl="1">
              <a:defRPr/>
            </a:pPr>
            <a:r>
              <a:rPr lang="en-IN" sz="1800" dirty="0"/>
              <a:t>For example, </a:t>
            </a:r>
            <a:r>
              <a:rPr lang="en-IN" sz="1800" dirty="0" err="1"/>
              <a:t>ios</a:t>
            </a:r>
            <a:r>
              <a:rPr lang="en-IN" sz="1800" dirty="0"/>
              <a:t>::</a:t>
            </a:r>
            <a:r>
              <a:rPr lang="en-IN" sz="1800" dirty="0" err="1"/>
              <a:t>skipws</a:t>
            </a:r>
            <a:endParaRPr lang="en-IN" sz="1800" dirty="0"/>
          </a:p>
          <a:p>
            <a:pPr>
              <a:defRPr/>
            </a:pPr>
            <a:r>
              <a:rPr lang="en-IN" sz="2000" dirty="0"/>
              <a:t>All the flags can be set using the </a:t>
            </a:r>
            <a:r>
              <a:rPr lang="en-IN" sz="2000" dirty="0" err="1">
                <a:solidFill>
                  <a:srgbClr val="C00000"/>
                </a:solidFill>
              </a:rPr>
              <a:t>setf</a:t>
            </a:r>
            <a:r>
              <a:rPr lang="en-IN" sz="2000" dirty="0">
                <a:solidFill>
                  <a:srgbClr val="C00000"/>
                </a:solidFill>
              </a:rPr>
              <a:t>() and </a:t>
            </a:r>
            <a:r>
              <a:rPr lang="en-IN" sz="2000" dirty="0" err="1">
                <a:solidFill>
                  <a:srgbClr val="C00000"/>
                </a:solidFill>
              </a:rPr>
              <a:t>unsetf</a:t>
            </a:r>
            <a:r>
              <a:rPr lang="en-IN" sz="2000" dirty="0">
                <a:solidFill>
                  <a:srgbClr val="C00000"/>
                </a:solidFill>
              </a:rPr>
              <a:t>() </a:t>
            </a:r>
            <a:r>
              <a:rPr lang="en-IN" sz="2000" dirty="0" err="1">
                <a:solidFill>
                  <a:srgbClr val="C00000"/>
                </a:solidFill>
              </a:rPr>
              <a:t>ios</a:t>
            </a:r>
            <a:r>
              <a:rPr lang="en-IN" sz="2000" dirty="0">
                <a:solidFill>
                  <a:srgbClr val="C00000"/>
                </a:solidFill>
              </a:rPr>
              <a:t> member functions</a:t>
            </a: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238CBDB0-EDE9-4117-A60E-776E2A4B54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39D014-5D30-4564-B1E1-A114D2A406AE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9" name="Rectangle 4">
            <a:extLst>
              <a:ext uri="{FF2B5EF4-FFF2-40B4-BE49-F238E27FC236}">
                <a16:creationId xmlns:a16="http://schemas.microsoft.com/office/drawing/2014/main" id="{6C710E97-7210-4CB1-8876-6015280E3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200400"/>
            <a:ext cx="8610600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#include &lt;iostream&gt;</a:t>
            </a:r>
          </a:p>
          <a:p>
            <a:pPr eaLnBrk="1" hangingPunct="1"/>
            <a:r>
              <a:rPr lang="en-IN" altLang="en-US"/>
              <a:t>#include &lt;iomanip&gt;</a:t>
            </a:r>
          </a:p>
          <a:p>
            <a:pPr eaLnBrk="1" hangingPunct="1"/>
            <a:r>
              <a:rPr lang="en-IN" altLang="en-US"/>
              <a:t>using namespace std;</a:t>
            </a:r>
          </a:p>
          <a:p>
            <a:pPr eaLnBrk="1" hangingPunct="1"/>
            <a:r>
              <a:rPr lang="en-IN" altLang="en-US"/>
              <a:t>int main()</a:t>
            </a:r>
          </a:p>
          <a:p>
            <a:pPr eaLnBrk="1" hangingPunct="1"/>
            <a:r>
              <a:rPr lang="en-IN" altLang="en-US"/>
              <a:t>{</a:t>
            </a:r>
          </a:p>
          <a:p>
            <a:pPr eaLnBrk="1" hangingPunct="1"/>
            <a:r>
              <a:rPr lang="en-IN" altLang="en-US"/>
              <a:t>      char str[]="Hello";</a:t>
            </a:r>
          </a:p>
          <a:p>
            <a:pPr eaLnBrk="1" hangingPunct="1"/>
            <a:r>
              <a:rPr lang="en-IN" altLang="en-US"/>
              <a:t>      </a:t>
            </a:r>
            <a:r>
              <a:rPr lang="en-IN" altLang="en-US" b="1"/>
              <a:t>cout.setf(ios::left);</a:t>
            </a:r>
          </a:p>
          <a:p>
            <a:pPr eaLnBrk="1" hangingPunct="1"/>
            <a:r>
              <a:rPr lang="en-IN" altLang="en-US"/>
              <a:t>      cout&lt;&lt;setw(10)&lt;&lt;str&lt;&lt;setw(10)&lt;&lt;str&lt;&lt;endl;</a:t>
            </a:r>
          </a:p>
          <a:p>
            <a:pPr eaLnBrk="1" hangingPunct="1"/>
            <a:r>
              <a:rPr lang="en-IN" altLang="en-US" b="1"/>
              <a:t>      cout.unsetf(ios::left);</a:t>
            </a:r>
          </a:p>
          <a:p>
            <a:pPr eaLnBrk="1" hangingPunct="1"/>
            <a:r>
              <a:rPr lang="en-IN" altLang="en-US"/>
              <a:t>      cout&lt;&lt;setw(10)&lt;&lt;str&lt;&lt;setw(10)&lt;&lt;str&lt;&lt;endl;</a:t>
            </a:r>
          </a:p>
          <a:p>
            <a:pPr eaLnBrk="1" hangingPunct="1"/>
            <a:r>
              <a:rPr lang="en-IN" altLang="en-US"/>
              <a:t>      </a:t>
            </a:r>
            <a:r>
              <a:rPr lang="en-IN" altLang="en-US" b="1"/>
              <a:t>cout.setf(ios::right);</a:t>
            </a:r>
          </a:p>
          <a:p>
            <a:pPr eaLnBrk="1" hangingPunct="1"/>
            <a:r>
              <a:rPr lang="en-IN" altLang="en-US"/>
              <a:t>      cout&lt;&lt;setw(10)&lt;&lt;str&lt;&lt;setw(10)&lt;&lt;str&lt;&lt;endl;</a:t>
            </a:r>
          </a:p>
          <a:p>
            <a:pPr eaLnBrk="1" hangingPunct="1"/>
            <a:r>
              <a:rPr lang="en-IN" altLang="en-US"/>
              <a:t>      return 0;   }</a:t>
            </a:r>
          </a:p>
        </p:txBody>
      </p:sp>
      <p:pic>
        <p:nvPicPr>
          <p:cNvPr id="36870" name="Picture 2">
            <a:extLst>
              <a:ext uri="{FF2B5EF4-FFF2-40B4-BE49-F238E27FC236}">
                <a16:creationId xmlns:a16="http://schemas.microsoft.com/office/drawing/2014/main" id="{F540FE21-C056-4A85-80DC-7CB251E55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505200"/>
            <a:ext cx="3267075" cy="1042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C5DF34FB-C0B9-4339-8FDD-1866E7ED5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Formatted Console I/O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C5C9C-9839-400F-9E7C-E459A3BC5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6675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The </a:t>
            </a:r>
            <a:r>
              <a:rPr lang="en-IN" sz="2000" dirty="0" err="1">
                <a:solidFill>
                  <a:srgbClr val="C00000"/>
                </a:solidFill>
              </a:rPr>
              <a:t>ios</a:t>
            </a:r>
            <a:r>
              <a:rPr lang="en-IN" sz="2000" dirty="0">
                <a:solidFill>
                  <a:srgbClr val="C00000"/>
                </a:solidFill>
              </a:rPr>
              <a:t> Class </a:t>
            </a:r>
          </a:p>
          <a:p>
            <a:pPr>
              <a:defRPr/>
            </a:pPr>
            <a:r>
              <a:rPr lang="en-IN" sz="2000" b="1" dirty="0"/>
              <a:t>Formatting Flags</a:t>
            </a:r>
          </a:p>
          <a:p>
            <a:pPr>
              <a:defRPr/>
            </a:pPr>
            <a:r>
              <a:rPr lang="en-IN" sz="2000" dirty="0"/>
              <a:t>The C++ input/output system uses bit-vectors, unsigned 32-bit integers, to control various aspects of how </a:t>
            </a:r>
            <a:r>
              <a:rPr lang="en-IN" sz="2000" dirty="0" err="1"/>
              <a:t>cin</a:t>
            </a:r>
            <a:r>
              <a:rPr lang="en-IN" sz="2000" dirty="0"/>
              <a:t> and </a:t>
            </a:r>
            <a:r>
              <a:rPr lang="en-IN" sz="2000" dirty="0" err="1"/>
              <a:t>cout</a:t>
            </a:r>
            <a:r>
              <a:rPr lang="en-IN" sz="2000" dirty="0"/>
              <a:t> behave</a:t>
            </a:r>
          </a:p>
          <a:p>
            <a:pPr>
              <a:defRPr/>
            </a:pPr>
            <a:r>
              <a:rPr lang="en-IN" sz="2000" dirty="0"/>
              <a:t>Each console object has a </a:t>
            </a:r>
            <a:r>
              <a:rPr lang="en-IN" sz="2000" b="1" dirty="0"/>
              <a:t>bit-vector that controls how output is formatted or how input is interpreted</a:t>
            </a:r>
            <a:endParaRPr lang="en-IN" sz="2000" dirty="0"/>
          </a:p>
          <a:p>
            <a:pPr>
              <a:defRPr/>
            </a:pPr>
            <a:r>
              <a:rPr lang="en-IN" sz="2000" dirty="0"/>
              <a:t>Each bit in a bit-vector, </a:t>
            </a:r>
            <a:r>
              <a:rPr lang="en-IN" sz="2000" b="1" dirty="0"/>
              <a:t>called a flag</a:t>
            </a:r>
            <a:r>
              <a:rPr lang="en-IN" sz="2000" dirty="0"/>
              <a:t>, represents a specific formatting feature: a flag set to 1 indicates that a feature is switched on or is active, while a flag set to 0 indicates that the feature is switched off or is inactive</a:t>
            </a:r>
          </a:p>
          <a:p>
            <a:pPr>
              <a:defRPr/>
            </a:pPr>
            <a:r>
              <a:rPr lang="en-IN" sz="2000" dirty="0"/>
              <a:t>The I/O system also defines a pseudo data type, called </a:t>
            </a:r>
            <a:r>
              <a:rPr lang="en-IN" sz="2000" dirty="0" err="1"/>
              <a:t>fmtflags</a:t>
            </a:r>
            <a:r>
              <a:rPr lang="en-IN" sz="2000" dirty="0"/>
              <a:t>, to represent bit-vectors and bit-masks. Bit-masks are constant values that represent bit patterns, or, in this context, formatting flags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b="1" dirty="0">
                <a:solidFill>
                  <a:srgbClr val="C00000"/>
                </a:solidFill>
              </a:rPr>
              <a:t>     http://www.cplusplus.com/reference/ios/ios_base/fmtflags/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17862CD6-AF98-46C0-9259-7C3FFA549B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BD22C9-DA59-4537-9DB3-8FB194D6217A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58106F0A-10EC-4E91-9306-38AB0F2A3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Manipulators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2A4B5-1F0F-4EB5-B8DC-5B210699E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Manipulators are special functions that are designed to work with the inserter ( &lt;&lt; ) and extractor ( &gt;&gt; ) operators in conjunction with one of the I/O stream objects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b="1" dirty="0"/>
              <a:t>Note : 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It is sufficient to #include &lt;</a:t>
            </a:r>
            <a:r>
              <a:rPr lang="en-IN" sz="2000" dirty="0" err="1">
                <a:solidFill>
                  <a:srgbClr val="C00000"/>
                </a:solidFill>
              </a:rPr>
              <a:t>iostream</a:t>
            </a:r>
            <a:r>
              <a:rPr lang="en-IN" sz="2000" dirty="0">
                <a:solidFill>
                  <a:srgbClr val="C00000"/>
                </a:solidFill>
              </a:rPr>
              <a:t>&gt; to use manipulators without arguments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You must also #include &lt;</a:t>
            </a:r>
            <a:r>
              <a:rPr lang="en-IN" sz="2000" dirty="0" err="1">
                <a:solidFill>
                  <a:srgbClr val="C00000"/>
                </a:solidFill>
              </a:rPr>
              <a:t>iomanip</a:t>
            </a:r>
            <a:r>
              <a:rPr lang="en-IN" sz="2000" dirty="0">
                <a:solidFill>
                  <a:srgbClr val="C00000"/>
                </a:solidFill>
              </a:rPr>
              <a:t>&gt; to use manipulators with arguments</a:t>
            </a: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000" dirty="0"/>
              <a:t>A complete list of C++ manipulators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http://www.cplusplus.com/reference/library/manipulators/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9E8AEF9E-05D2-443E-9740-BEA370006B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DE1A4C-462D-433A-A428-874EE0AC4D9C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46E1617D-2089-4D76-B28C-3F5BE6B13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Manipulators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ADAA3-6D76-436E-9DB0-5B686C877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dirty="0" err="1">
                <a:solidFill>
                  <a:srgbClr val="C00000"/>
                </a:solidFill>
              </a:rPr>
              <a:t>endl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  <a:r>
              <a:rPr lang="en-IN" sz="2000" dirty="0"/>
              <a:t>- Insert an end of line \n and flush the output buffer (the last character is a lower-case 'L')</a:t>
            </a:r>
          </a:p>
          <a:p>
            <a:pPr>
              <a:defRPr/>
            </a:pPr>
            <a:r>
              <a:rPr lang="en-IN" sz="2000" b="1" dirty="0"/>
              <a:t>Note :</a:t>
            </a:r>
            <a:r>
              <a:rPr lang="en-IN" sz="2000" dirty="0"/>
              <a:t> </a:t>
            </a:r>
            <a:r>
              <a:rPr lang="en-IN" sz="2000" dirty="0" err="1"/>
              <a:t>endl</a:t>
            </a:r>
            <a:r>
              <a:rPr lang="en-IN" sz="2000" dirty="0"/>
              <a:t> may appear anywhere, not just at the end of an output statement</a:t>
            </a:r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2AA63A23-6C1F-4EFF-A73A-5B070301D7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37EF29-D372-49F2-A875-08DBCDD405C3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39941" name="Picture 2">
            <a:extLst>
              <a:ext uri="{FF2B5EF4-FFF2-40B4-BE49-F238E27FC236}">
                <a16:creationId xmlns:a16="http://schemas.microsoft.com/office/drawing/2014/main" id="{677F9729-AE65-4195-9477-C647C50E6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19400"/>
            <a:ext cx="4924425" cy="3871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942" name="Picture 3">
            <a:extLst>
              <a:ext uri="{FF2B5EF4-FFF2-40B4-BE49-F238E27FC236}">
                <a16:creationId xmlns:a16="http://schemas.microsoft.com/office/drawing/2014/main" id="{097EC5FB-B757-4B0E-9092-CD997309C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538" y="3581400"/>
            <a:ext cx="3573462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F9653380-5711-4DC4-A595-518448426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Manipulators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62F25-0CB9-47B7-B863-B11A5B1C1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 err="1">
                <a:solidFill>
                  <a:srgbClr val="C00000"/>
                </a:solidFill>
              </a:rPr>
              <a:t>dec</a:t>
            </a:r>
            <a:r>
              <a:rPr lang="en-IN" sz="2000" dirty="0"/>
              <a:t> - Displays output in decimal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hex</a:t>
            </a:r>
            <a:r>
              <a:rPr lang="en-IN" sz="2000" dirty="0"/>
              <a:t> - Displays output in hexadecimal</a:t>
            </a:r>
          </a:p>
          <a:p>
            <a:pPr>
              <a:defRPr/>
            </a:pPr>
            <a:r>
              <a:rPr lang="en-IN" sz="2000" dirty="0" err="1">
                <a:solidFill>
                  <a:srgbClr val="C00000"/>
                </a:solidFill>
              </a:rPr>
              <a:t>oct</a:t>
            </a:r>
            <a:r>
              <a:rPr lang="en-IN" sz="2000" dirty="0"/>
              <a:t> - Displays output in octal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Note: </a:t>
            </a:r>
          </a:p>
          <a:p>
            <a:pPr lvl="1">
              <a:defRPr/>
            </a:pPr>
            <a:r>
              <a:rPr lang="en-IN" sz="1800" dirty="0"/>
              <a:t>The default output is decimal or base 10</a:t>
            </a:r>
          </a:p>
          <a:p>
            <a:pPr lvl="1">
              <a:defRPr/>
            </a:pPr>
            <a:r>
              <a:rPr lang="en-IN" sz="1800" dirty="0"/>
              <a:t>Order is important: </a:t>
            </a:r>
            <a:r>
              <a:rPr lang="en-IN" sz="1800" b="1" dirty="0"/>
              <a:t>hex &lt;&lt; number</a:t>
            </a:r>
            <a:r>
              <a:rPr lang="en-IN" sz="1800" dirty="0"/>
              <a:t> not</a:t>
            </a:r>
            <a:r>
              <a:rPr lang="en-IN" sz="1800" b="1" dirty="0"/>
              <a:t> number &lt;&lt; hex</a:t>
            </a:r>
          </a:p>
          <a:p>
            <a:pPr lvl="1">
              <a:defRPr/>
            </a:pPr>
            <a:r>
              <a:rPr lang="en-IN" sz="1800" dirty="0"/>
              <a:t>All three manipulators change one of the formatting flags; once changed, all numerical output will be in the new base until the base is changed by another manipulator or function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C5C58E01-808F-47F2-BD6E-A0F38A1649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8C3CA2-A63D-4619-B355-78EE8C86F7CD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AECE3E63-A81F-4834-A5EE-5277B9175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Manipulators</a:t>
            </a:r>
          </a:p>
        </p:txBody>
      </p:sp>
      <p:sp>
        <p:nvSpPr>
          <p:cNvPr id="41987" name="Slide Number Placeholder 3">
            <a:extLst>
              <a:ext uri="{FF2B5EF4-FFF2-40B4-BE49-F238E27FC236}">
                <a16:creationId xmlns:a16="http://schemas.microsoft.com/office/drawing/2014/main" id="{3FB792E4-263E-4EA9-9A6C-7FD466C33F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56DB02-D913-4294-9A7D-C919178F342F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1988" name="Picture 2">
            <a:extLst>
              <a:ext uri="{FF2B5EF4-FFF2-40B4-BE49-F238E27FC236}">
                <a16:creationId xmlns:a16="http://schemas.microsoft.com/office/drawing/2014/main" id="{F0F2E491-5879-460E-8773-E913FDA53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7242175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89" name="Picture 3">
            <a:extLst>
              <a:ext uri="{FF2B5EF4-FFF2-40B4-BE49-F238E27FC236}">
                <a16:creationId xmlns:a16="http://schemas.microsoft.com/office/drawing/2014/main" id="{C72FAD97-D671-4EFB-9B18-44E413F3E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25" y="2711450"/>
            <a:ext cx="762000" cy="2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CEA25016-62D8-44F4-BEC3-05E8666AA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Manipulators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76635-E567-4B08-8BC4-2081C9E9F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right</a:t>
            </a:r>
            <a:r>
              <a:rPr lang="en-IN" sz="2000" dirty="0"/>
              <a:t> - Right-align, pad on the left (used with </a:t>
            </a:r>
            <a:r>
              <a:rPr lang="en-IN" sz="2000" dirty="0" err="1"/>
              <a:t>setw</a:t>
            </a:r>
            <a:r>
              <a:rPr lang="en-IN" sz="2000" dirty="0"/>
              <a:t> )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left</a:t>
            </a:r>
            <a:r>
              <a:rPr lang="en-IN" sz="2000" dirty="0"/>
              <a:t> - Left-align, pad on the right (used with </a:t>
            </a:r>
            <a:r>
              <a:rPr lang="en-IN" sz="2000" dirty="0" err="1"/>
              <a:t>setw</a:t>
            </a:r>
            <a:r>
              <a:rPr lang="en-IN" sz="2000" dirty="0"/>
              <a:t>)</a:t>
            </a: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D0676ACB-72CC-48C0-AFBF-632FC111A2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CA4E780-EE3C-4045-A738-0F9B841728FE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3013" name="Picture 2">
            <a:extLst>
              <a:ext uri="{FF2B5EF4-FFF2-40B4-BE49-F238E27FC236}">
                <a16:creationId xmlns:a16="http://schemas.microsoft.com/office/drawing/2014/main" id="{0AED8F23-66D4-4DF0-8B7C-A218585B5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362200"/>
            <a:ext cx="6581775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4" name="Picture 3">
            <a:extLst>
              <a:ext uri="{FF2B5EF4-FFF2-40B4-BE49-F238E27FC236}">
                <a16:creationId xmlns:a16="http://schemas.microsoft.com/office/drawing/2014/main" id="{DE0CD056-D1B3-4D44-A63A-3DE58527C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514600"/>
            <a:ext cx="2000250" cy="25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3E8D0098-3458-4D88-B81E-C8A60C11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Manipulators</a:t>
            </a:r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406CB3C4-B10F-46F8-BA06-6C190B6C45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A6637E-4BF2-4482-B334-7BB790229480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4036" name="Picture 2">
            <a:extLst>
              <a:ext uri="{FF2B5EF4-FFF2-40B4-BE49-F238E27FC236}">
                <a16:creationId xmlns:a16="http://schemas.microsoft.com/office/drawing/2014/main" id="{6B8B1548-64C3-4949-8FC6-8E2B9540D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1066800"/>
            <a:ext cx="6716712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37" name="Picture 3">
            <a:extLst>
              <a:ext uri="{FF2B5EF4-FFF2-40B4-BE49-F238E27FC236}">
                <a16:creationId xmlns:a16="http://schemas.microsoft.com/office/drawing/2014/main" id="{B6C023C6-19AA-48E0-BF9D-2D2B28F9F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429000"/>
            <a:ext cx="21050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038B210A-DC24-44F8-B733-EF46705D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Manipulators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DCE48-A138-4E78-A73C-49059E2F7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Fixed</a:t>
            </a:r>
            <a:r>
              <a:rPr lang="en-IN" sz="2000" dirty="0"/>
              <a:t> - Display numbers in a fixed decimal point notation (no scientific notation)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Scientific</a:t>
            </a:r>
            <a:r>
              <a:rPr lang="en-IN" sz="2000" dirty="0"/>
              <a:t> - Display numbers in scientific notation</a:t>
            </a: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2108DBF5-20BF-44A2-9D10-EE2D381C9C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DE6331-7486-4032-BA45-EDFA20B997FA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5061" name="Picture 1">
            <a:extLst>
              <a:ext uri="{FF2B5EF4-FFF2-40B4-BE49-F238E27FC236}">
                <a16:creationId xmlns:a16="http://schemas.microsoft.com/office/drawing/2014/main" id="{92BC42B3-BE00-4D32-8150-EA7A1B54A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86000"/>
            <a:ext cx="4543425" cy="435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2" name="Picture 2">
            <a:extLst>
              <a:ext uri="{FF2B5EF4-FFF2-40B4-BE49-F238E27FC236}">
                <a16:creationId xmlns:a16="http://schemas.microsoft.com/office/drawing/2014/main" id="{15C775B7-D773-4E32-BE0A-2B3C3F0D0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311400"/>
            <a:ext cx="2971800" cy="253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E68514D1-E6F5-4239-AAC6-846137227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Manipulators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F6491-5B50-4935-9D75-4B2D31797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400" dirty="0" err="1">
                <a:solidFill>
                  <a:srgbClr val="C00000"/>
                </a:solidFill>
              </a:rPr>
              <a:t>setw</a:t>
            </a:r>
            <a:r>
              <a:rPr lang="en-IN" sz="2400" dirty="0">
                <a:solidFill>
                  <a:srgbClr val="C00000"/>
                </a:solidFill>
              </a:rPr>
              <a:t>(</a:t>
            </a:r>
            <a:r>
              <a:rPr lang="en-IN" sz="2400" dirty="0" err="1">
                <a:solidFill>
                  <a:srgbClr val="C00000"/>
                </a:solidFill>
              </a:rPr>
              <a:t>int</a:t>
            </a:r>
            <a:r>
              <a:rPr lang="en-IN" sz="2400" dirty="0">
                <a:solidFill>
                  <a:srgbClr val="C00000"/>
                </a:solidFill>
              </a:rPr>
              <a:t> width) </a:t>
            </a:r>
            <a:r>
              <a:rPr lang="en-IN" sz="2400" dirty="0"/>
              <a:t>- </a:t>
            </a:r>
            <a:r>
              <a:rPr lang="en-IN" sz="2000" dirty="0"/>
              <a:t>Sets the output field width; if the output is shorter than the field with, the unused space is padded; the default pad character is a space but can be changed with "</a:t>
            </a:r>
            <a:r>
              <a:rPr lang="en-IN" sz="2000" dirty="0" err="1"/>
              <a:t>setfill</a:t>
            </a:r>
            <a:r>
              <a:rPr lang="en-IN" sz="2000" dirty="0"/>
              <a:t>" </a:t>
            </a:r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B28CA0DA-02BF-4EBF-A9C0-ED25B3B4E0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50589B-7621-4B9F-A697-18D742CE8127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6085" name="Picture 2">
            <a:extLst>
              <a:ext uri="{FF2B5EF4-FFF2-40B4-BE49-F238E27FC236}">
                <a16:creationId xmlns:a16="http://schemas.microsoft.com/office/drawing/2014/main" id="{325B8C80-6175-40EB-A6E6-692551E7C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62200"/>
            <a:ext cx="6629400" cy="427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086" name="Picture 3">
            <a:extLst>
              <a:ext uri="{FF2B5EF4-FFF2-40B4-BE49-F238E27FC236}">
                <a16:creationId xmlns:a16="http://schemas.microsoft.com/office/drawing/2014/main" id="{EC05C327-8F29-4089-AFA0-D3AFDCCC1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5" y="2514600"/>
            <a:ext cx="1990725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6421CB4A-F57D-43DD-9582-2F372A759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Manipulators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5B75A-C525-4248-88C3-4CD75BB6C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dirty="0" err="1">
                <a:solidFill>
                  <a:srgbClr val="C00000"/>
                </a:solidFill>
              </a:rPr>
              <a:t>setfill</a:t>
            </a:r>
            <a:r>
              <a:rPr lang="en-IN" sz="2000" dirty="0">
                <a:solidFill>
                  <a:srgbClr val="C00000"/>
                </a:solidFill>
              </a:rPr>
              <a:t>(char fill)</a:t>
            </a:r>
            <a:r>
              <a:rPr lang="en-IN" sz="2000" dirty="0"/>
              <a:t> -  Sets the padding or fill character when the output field is wider the printed data. The default fill character is a space or blank. Used with </a:t>
            </a:r>
            <a:r>
              <a:rPr lang="en-IN" sz="2000" dirty="0" err="1"/>
              <a:t>setw</a:t>
            </a:r>
            <a:r>
              <a:rPr lang="en-IN" sz="2000" dirty="0"/>
              <a:t>. Requires #include &lt;</a:t>
            </a:r>
            <a:r>
              <a:rPr lang="en-IN" sz="2000" dirty="0" err="1"/>
              <a:t>iomanip</a:t>
            </a:r>
            <a:r>
              <a:rPr lang="en-IN" sz="2000" dirty="0"/>
              <a:t>&gt;</a:t>
            </a:r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C4455BBA-6B8C-4DB3-B135-B9617A4EFE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6373A6-E201-41F6-A46A-23002906C2BB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7109" name="Picture 2">
            <a:extLst>
              <a:ext uri="{FF2B5EF4-FFF2-40B4-BE49-F238E27FC236}">
                <a16:creationId xmlns:a16="http://schemas.microsoft.com/office/drawing/2014/main" id="{63BE2D18-2B74-4F38-B2DD-490BE857A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395538"/>
            <a:ext cx="619125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110" name="Picture 3">
            <a:extLst>
              <a:ext uri="{FF2B5EF4-FFF2-40B4-BE49-F238E27FC236}">
                <a16:creationId xmlns:a16="http://schemas.microsoft.com/office/drawing/2014/main" id="{D7CFC99C-F342-4D2F-BBEF-34AB5F144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743200"/>
            <a:ext cx="216535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F5D2FEDF-8DA3-4A12-B338-3D904F4F3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User-Defined Manipulators</a:t>
            </a:r>
          </a:p>
        </p:txBody>
      </p:sp>
      <p:sp>
        <p:nvSpPr>
          <p:cNvPr id="48131" name="Slide Number Placeholder 3">
            <a:extLst>
              <a:ext uri="{FF2B5EF4-FFF2-40B4-BE49-F238E27FC236}">
                <a16:creationId xmlns:a16="http://schemas.microsoft.com/office/drawing/2014/main" id="{7DC1D126-9D2C-4C36-B585-80359924DF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D2DB8FA-93F2-40F1-98D5-FEF6320A125D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8132" name="Picture 5">
            <a:extLst>
              <a:ext uri="{FF2B5EF4-FFF2-40B4-BE49-F238E27FC236}">
                <a16:creationId xmlns:a16="http://schemas.microsoft.com/office/drawing/2014/main" id="{6694459A-642C-4ECC-9ACA-D19CB498F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88" y="1600200"/>
            <a:ext cx="6789737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A6B03052-A46C-41B7-AEB7-96BC5FFAC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Member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C3E87-D71F-4112-8B94-06E27D0B0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 err="1"/>
              <a:t>cout</a:t>
            </a:r>
            <a:r>
              <a:rPr lang="en-IN" sz="2000" dirty="0"/>
              <a:t> is an instance of a class named </a:t>
            </a:r>
            <a:r>
              <a:rPr lang="en-IN" sz="2000" dirty="0" err="1"/>
              <a:t>ostream</a:t>
            </a:r>
            <a:r>
              <a:rPr lang="en-IN" sz="2000" dirty="0"/>
              <a:t> </a:t>
            </a:r>
          </a:p>
          <a:p>
            <a:pPr>
              <a:defRPr/>
            </a:pPr>
            <a:r>
              <a:rPr lang="en-IN" sz="2000" dirty="0" err="1"/>
              <a:t>cin</a:t>
            </a:r>
            <a:r>
              <a:rPr lang="en-IN" sz="2000" dirty="0"/>
              <a:t> is an instance of </a:t>
            </a:r>
            <a:r>
              <a:rPr lang="en-IN" sz="2000" dirty="0" err="1"/>
              <a:t>istream</a:t>
            </a:r>
            <a:endParaRPr lang="en-IN" sz="2000" dirty="0"/>
          </a:p>
          <a:p>
            <a:pPr>
              <a:defRPr/>
            </a:pPr>
            <a:r>
              <a:rPr lang="en-IN" sz="2000" dirty="0"/>
              <a:t>As instances, both objects may access any of the member functions belonging to each class</a:t>
            </a:r>
          </a:p>
          <a:p>
            <a:pPr>
              <a:defRPr/>
            </a:pPr>
            <a:r>
              <a:rPr lang="en-IN" sz="2000" dirty="0"/>
              <a:t>The </a:t>
            </a:r>
            <a:r>
              <a:rPr lang="en-IN" sz="2000" dirty="0" err="1"/>
              <a:t>ios</a:t>
            </a:r>
            <a:r>
              <a:rPr lang="en-IN" sz="2000" dirty="0"/>
              <a:t> class contains a number of functions that you can use to set the formatting flags and perform other tasks</a:t>
            </a: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16DB91FA-FDBA-439C-A6F0-A167D784F0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BDA4E3-02CF-4B77-8D83-09DA04BFC4B2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9157" name="Picture 2">
            <a:extLst>
              <a:ext uri="{FF2B5EF4-FFF2-40B4-BE49-F238E27FC236}">
                <a16:creationId xmlns:a16="http://schemas.microsoft.com/office/drawing/2014/main" id="{2447E7E9-B0E8-47F5-9214-A5C7B30A4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57600"/>
            <a:ext cx="6553200" cy="300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6924E0AD-50CB-4F99-ABF7-97E7BB1C6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Member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CD2C6-6876-432E-BEDB-35C9E59E4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dirty="0"/>
              <a:t>These functions are called for specific stream objects using the normal dot operator</a:t>
            </a:r>
          </a:p>
          <a:p>
            <a:pPr>
              <a:defRPr/>
            </a:pPr>
            <a:r>
              <a:rPr lang="en-IN" sz="2000" b="1" dirty="0"/>
              <a:t>Examples</a:t>
            </a:r>
          </a:p>
          <a:p>
            <a:pPr lvl="1">
              <a:defRPr/>
            </a:pPr>
            <a:r>
              <a:rPr lang="en-IN" sz="2000" dirty="0" err="1"/>
              <a:t>cout.width</a:t>
            </a:r>
            <a:r>
              <a:rPr lang="en-IN" sz="2000" dirty="0"/>
              <a:t>(14);</a:t>
            </a:r>
          </a:p>
          <a:p>
            <a:pPr lvl="1">
              <a:defRPr/>
            </a:pPr>
            <a:r>
              <a:rPr lang="en-IN" sz="2000" dirty="0" err="1"/>
              <a:t>cout.fill</a:t>
            </a:r>
            <a:r>
              <a:rPr lang="en-IN" sz="2000" dirty="0"/>
              <a:t>(‘*’);</a:t>
            </a:r>
          </a:p>
          <a:p>
            <a:pPr lvl="1">
              <a:defRPr/>
            </a:pPr>
            <a:r>
              <a:rPr lang="en-IN" sz="2000" dirty="0" err="1"/>
              <a:t>cout.setf</a:t>
            </a:r>
            <a:r>
              <a:rPr lang="en-IN" sz="2000" dirty="0"/>
              <a:t>(</a:t>
            </a:r>
            <a:r>
              <a:rPr lang="en-IN" sz="2000" dirty="0" err="1"/>
              <a:t>ios</a:t>
            </a:r>
            <a:r>
              <a:rPr lang="en-IN" sz="2000" dirty="0"/>
              <a:t>::left);</a:t>
            </a:r>
          </a:p>
          <a:p>
            <a:pPr lvl="1">
              <a:defRPr/>
            </a:pPr>
            <a:r>
              <a:rPr lang="en-IN" sz="2000" dirty="0" err="1"/>
              <a:t>cout.unsetf</a:t>
            </a:r>
            <a:r>
              <a:rPr lang="en-IN" sz="2000" dirty="0"/>
              <a:t>(</a:t>
            </a:r>
            <a:r>
              <a:rPr lang="en-IN" sz="2000" dirty="0" err="1"/>
              <a:t>ios</a:t>
            </a:r>
            <a:r>
              <a:rPr lang="en-IN" sz="2000" dirty="0"/>
              <a:t>::left);</a:t>
            </a:r>
          </a:p>
          <a:p>
            <a:pPr lvl="1"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A two-argument version of </a:t>
            </a:r>
            <a:r>
              <a:rPr lang="en-IN" sz="2000" dirty="0" err="1">
                <a:solidFill>
                  <a:srgbClr val="C00000"/>
                </a:solidFill>
              </a:rPr>
              <a:t>setf</a:t>
            </a:r>
            <a:r>
              <a:rPr lang="en-IN" sz="2000" dirty="0">
                <a:solidFill>
                  <a:srgbClr val="C00000"/>
                </a:solidFill>
              </a:rPr>
              <a:t>() uses the second argument to reset all the flags of a particular type or </a:t>
            </a:r>
            <a:r>
              <a:rPr lang="en-IN" sz="2000" i="1" dirty="0">
                <a:solidFill>
                  <a:srgbClr val="C00000"/>
                </a:solidFill>
              </a:rPr>
              <a:t>field</a:t>
            </a: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000" dirty="0"/>
              <a:t>Then the flag specified in the first argument is set. This makes it easier to reset the relevant flags before setting a new one</a:t>
            </a:r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0010EA61-29F5-42EF-BC9A-9AA973490E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8D09C1-9F2B-495E-8203-E164C491AFB9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A7013741-35B9-4FF0-94A8-FC906096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Member Functions</a:t>
            </a:r>
          </a:p>
        </p:txBody>
      </p:sp>
      <p:sp>
        <p:nvSpPr>
          <p:cNvPr id="51203" name="Slide Number Placeholder 3">
            <a:extLst>
              <a:ext uri="{FF2B5EF4-FFF2-40B4-BE49-F238E27FC236}">
                <a16:creationId xmlns:a16="http://schemas.microsoft.com/office/drawing/2014/main" id="{14B43354-1721-4CCF-87E0-189274D6CB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6CDCB0-C086-49D7-AD77-2F655AB2E216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81954B-9A59-4613-B4E4-A283CE311876}"/>
              </a:ext>
            </a:extLst>
          </p:cNvPr>
          <p:cNvSpPr/>
          <p:nvPr/>
        </p:nvSpPr>
        <p:spPr>
          <a:xfrm>
            <a:off x="609600" y="1524000"/>
            <a:ext cx="7820025" cy="22463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q"/>
              <a:defRPr/>
            </a:pPr>
            <a:r>
              <a:rPr lang="en-IN" sz="2000" b="1" dirty="0">
                <a:latin typeface="Arial" charset="0"/>
              </a:rPr>
              <a:t>For example </a:t>
            </a:r>
          </a:p>
          <a:p>
            <a:pPr>
              <a:defRPr/>
            </a:pPr>
            <a:r>
              <a:rPr lang="en-IN" sz="2000" b="1" dirty="0">
                <a:solidFill>
                  <a:srgbClr val="C00000"/>
                </a:solidFill>
                <a:latin typeface="Arial" charset="0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Arial" charset="0"/>
              </a:rPr>
              <a:t>     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  <a:latin typeface="Arial" charset="0"/>
              </a:rPr>
              <a:t>    </a:t>
            </a:r>
            <a:r>
              <a:rPr lang="en-IN" sz="2000" dirty="0" err="1">
                <a:solidFill>
                  <a:srgbClr val="C00000"/>
                </a:solidFill>
                <a:latin typeface="Arial" charset="0"/>
              </a:rPr>
              <a:t>cout.setf</a:t>
            </a:r>
            <a:r>
              <a:rPr lang="en-IN" sz="2000" dirty="0">
                <a:solidFill>
                  <a:srgbClr val="C00000"/>
                </a:solidFill>
                <a:latin typeface="Arial" charset="0"/>
              </a:rPr>
              <a:t>(</a:t>
            </a:r>
            <a:r>
              <a:rPr lang="en-IN" sz="2000" dirty="0" err="1">
                <a:solidFill>
                  <a:srgbClr val="C00000"/>
                </a:solidFill>
                <a:latin typeface="Arial" charset="0"/>
              </a:rPr>
              <a:t>ios</a:t>
            </a:r>
            <a:r>
              <a:rPr lang="en-IN" sz="2000" dirty="0">
                <a:solidFill>
                  <a:srgbClr val="C00000"/>
                </a:solidFill>
                <a:latin typeface="Arial" charset="0"/>
              </a:rPr>
              <a:t>::left, </a:t>
            </a:r>
            <a:r>
              <a:rPr lang="en-IN" sz="2000" dirty="0" err="1">
                <a:solidFill>
                  <a:srgbClr val="C00000"/>
                </a:solidFill>
                <a:latin typeface="Arial" charset="0"/>
              </a:rPr>
              <a:t>ios</a:t>
            </a:r>
            <a:r>
              <a:rPr lang="en-IN" sz="2000" dirty="0">
                <a:solidFill>
                  <a:srgbClr val="C00000"/>
                </a:solidFill>
                <a:latin typeface="Arial" charset="0"/>
              </a:rPr>
              <a:t>::</a:t>
            </a:r>
            <a:r>
              <a:rPr lang="en-IN" sz="2000" dirty="0" err="1">
                <a:solidFill>
                  <a:srgbClr val="C00000"/>
                </a:solidFill>
                <a:latin typeface="Arial" charset="0"/>
              </a:rPr>
              <a:t>adjustfield</a:t>
            </a:r>
            <a:r>
              <a:rPr lang="en-IN" sz="2000" dirty="0">
                <a:solidFill>
                  <a:srgbClr val="C00000"/>
                </a:solidFill>
                <a:latin typeface="Arial" charset="0"/>
              </a:rPr>
              <a:t>);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  <a:latin typeface="Arial" charset="0"/>
              </a:rPr>
              <a:t>    </a:t>
            </a:r>
            <a:r>
              <a:rPr lang="en-IN" sz="2000" dirty="0" err="1">
                <a:solidFill>
                  <a:srgbClr val="C00000"/>
                </a:solidFill>
                <a:latin typeface="Arial" charset="0"/>
              </a:rPr>
              <a:t>cout.setf</a:t>
            </a:r>
            <a:r>
              <a:rPr lang="en-IN" sz="2000" dirty="0">
                <a:solidFill>
                  <a:srgbClr val="C00000"/>
                </a:solidFill>
                <a:latin typeface="Arial" charset="0"/>
              </a:rPr>
              <a:t>(</a:t>
            </a:r>
            <a:r>
              <a:rPr lang="en-IN" sz="2000" dirty="0" err="1">
                <a:solidFill>
                  <a:srgbClr val="C00000"/>
                </a:solidFill>
                <a:latin typeface="Arial" charset="0"/>
              </a:rPr>
              <a:t>ios</a:t>
            </a:r>
            <a:r>
              <a:rPr lang="en-IN" sz="2000" dirty="0">
                <a:solidFill>
                  <a:srgbClr val="C00000"/>
                </a:solidFill>
                <a:latin typeface="Arial" charset="0"/>
              </a:rPr>
              <a:t>::scientific, </a:t>
            </a:r>
            <a:r>
              <a:rPr lang="en-IN" sz="2000" dirty="0" err="1">
                <a:solidFill>
                  <a:srgbClr val="C00000"/>
                </a:solidFill>
                <a:latin typeface="Arial" charset="0"/>
              </a:rPr>
              <a:t>ios</a:t>
            </a:r>
            <a:r>
              <a:rPr lang="en-IN" sz="2000" dirty="0">
                <a:solidFill>
                  <a:srgbClr val="C00000"/>
                </a:solidFill>
                <a:latin typeface="Arial" charset="0"/>
              </a:rPr>
              <a:t>::</a:t>
            </a:r>
            <a:r>
              <a:rPr lang="en-IN" sz="2000" dirty="0" err="1">
                <a:solidFill>
                  <a:srgbClr val="C00000"/>
                </a:solidFill>
                <a:latin typeface="Arial" charset="0"/>
              </a:rPr>
              <a:t>floatfield</a:t>
            </a:r>
            <a:r>
              <a:rPr lang="en-IN" sz="2000" dirty="0">
                <a:solidFill>
                  <a:srgbClr val="C00000"/>
                </a:solidFill>
                <a:latin typeface="Arial" charset="0"/>
              </a:rPr>
              <a:t>);</a:t>
            </a:r>
          </a:p>
          <a:p>
            <a:pPr>
              <a:defRPr/>
            </a:pPr>
            <a:endParaRPr lang="en-IN" sz="2000" dirty="0">
              <a:latin typeface="Arial" charset="0"/>
            </a:endParaRPr>
          </a:p>
          <a:p>
            <a:pPr marL="342900" indent="-342900">
              <a:buFont typeface="Wingdings" pitchFamily="2" charset="2"/>
              <a:buChar char="q"/>
              <a:defRPr/>
            </a:pPr>
            <a:r>
              <a:rPr lang="en-IN" sz="2000" dirty="0">
                <a:latin typeface="Arial" charset="0"/>
              </a:rPr>
              <a:t>Clears all the flags dealing with text justification and then sets the left flag for left-justified output</a:t>
            </a:r>
          </a:p>
        </p:txBody>
      </p:sp>
      <p:pic>
        <p:nvPicPr>
          <p:cNvPr id="51205" name="Picture 3">
            <a:extLst>
              <a:ext uri="{FF2B5EF4-FFF2-40B4-BE49-F238E27FC236}">
                <a16:creationId xmlns:a16="http://schemas.microsoft.com/office/drawing/2014/main" id="{632DAA4F-B088-4D3F-A997-E27C2219B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733800"/>
            <a:ext cx="6438900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089740FE-7309-4714-BFC1-FB8C39856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Unformatted I/O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87A94-046E-4FD9-AFED-E5A833B1E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put() and get() functions </a:t>
            </a:r>
            <a:r>
              <a:rPr lang="en-IN" sz="2000" dirty="0"/>
              <a:t>– member of  </a:t>
            </a:r>
            <a:r>
              <a:rPr lang="en-IN" sz="2000" dirty="0" err="1"/>
              <a:t>ostream</a:t>
            </a:r>
            <a:r>
              <a:rPr lang="en-IN" sz="2000" dirty="0"/>
              <a:t> and </a:t>
            </a:r>
            <a:r>
              <a:rPr lang="en-IN" sz="2000" dirty="0" err="1"/>
              <a:t>istream</a:t>
            </a:r>
            <a:r>
              <a:rPr lang="en-IN" sz="2000" dirty="0"/>
              <a:t>  respectively</a:t>
            </a:r>
          </a:p>
          <a:p>
            <a:pPr>
              <a:defRPr/>
            </a:pPr>
            <a:r>
              <a:rPr lang="en-IN" sz="2000" dirty="0"/>
              <a:t>Used to handle single character input and out operations</a:t>
            </a:r>
          </a:p>
          <a:p>
            <a:pPr>
              <a:defRPr/>
            </a:pPr>
            <a:r>
              <a:rPr lang="en-IN" sz="2000" dirty="0"/>
              <a:t>get() – takes two forms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 marL="0" indent="0">
              <a:buFont typeface="Wingdings" pitchFamily="2" charset="2"/>
              <a:buNone/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  <a:p>
            <a:pPr lvl="1">
              <a:defRPr/>
            </a:pPr>
            <a:endParaRPr lang="en-IN" sz="1800" dirty="0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D42C7184-D582-4A34-A4A0-8F53D8F01B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4A239B2-F82A-4939-B23A-75534A1E7281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52229" name="Picture 3">
            <a:extLst>
              <a:ext uri="{FF2B5EF4-FFF2-40B4-BE49-F238E27FC236}">
                <a16:creationId xmlns:a16="http://schemas.microsoft.com/office/drawing/2014/main" id="{8DB74B9C-714B-43A6-8039-D5D79CC65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88" y="3600450"/>
            <a:ext cx="2895600" cy="1125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230" name="Picture 4">
            <a:extLst>
              <a:ext uri="{FF2B5EF4-FFF2-40B4-BE49-F238E27FC236}">
                <a16:creationId xmlns:a16="http://schemas.microsoft.com/office/drawing/2014/main" id="{43CA7267-B654-48EE-9C16-88E70C638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086100"/>
            <a:ext cx="3819525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8ABFB101-A7F8-4706-93AF-4EDC0525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Unformatted I/O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44589-B2B3-4331-A8A2-70979FFF6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b="1" dirty="0"/>
              <a:t>Example</a:t>
            </a:r>
          </a:p>
          <a:p>
            <a:pPr>
              <a:defRPr/>
            </a:pPr>
            <a:endParaRPr lang="en-IN" sz="2000" b="1" dirty="0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E5074A91-9A98-4DE2-B7B0-6E577045CC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78ED5B-00FC-4FEF-833D-6F62F204F9DE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53253" name="Picture 2">
            <a:extLst>
              <a:ext uri="{FF2B5EF4-FFF2-40B4-BE49-F238E27FC236}">
                <a16:creationId xmlns:a16="http://schemas.microsoft.com/office/drawing/2014/main" id="{1C37F8C6-0F70-4797-9D69-89CE74B97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4168775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254" name="Picture 3">
            <a:extLst>
              <a:ext uri="{FF2B5EF4-FFF2-40B4-BE49-F238E27FC236}">
                <a16:creationId xmlns:a16="http://schemas.microsoft.com/office/drawing/2014/main" id="{3280BEAC-D6FE-44E0-94ED-49B5B272E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192338"/>
            <a:ext cx="419100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EF4E347F-F8A5-445C-BF57-2F4EA0152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Unformatted I/O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093C8-2797-4463-B31B-3E77FF48E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b="1" dirty="0"/>
              <a:t>How do the following two statements differ in operation?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 </a:t>
            </a:r>
            <a:r>
              <a:rPr lang="en-IN" sz="2400" dirty="0" err="1">
                <a:solidFill>
                  <a:srgbClr val="C00000"/>
                </a:solidFill>
              </a:rPr>
              <a:t>cin</a:t>
            </a:r>
            <a:r>
              <a:rPr lang="en-IN" sz="2400" dirty="0">
                <a:solidFill>
                  <a:srgbClr val="C00000"/>
                </a:solidFill>
              </a:rPr>
              <a:t>&gt;&gt;</a:t>
            </a:r>
            <a:r>
              <a:rPr lang="en-IN" sz="2400" dirty="0" err="1">
                <a:solidFill>
                  <a:srgbClr val="C00000"/>
                </a:solidFill>
              </a:rPr>
              <a:t>ch</a:t>
            </a:r>
            <a:r>
              <a:rPr lang="en-IN" sz="2400" dirty="0">
                <a:solidFill>
                  <a:srgbClr val="C00000"/>
                </a:solidFill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400" dirty="0">
                <a:solidFill>
                  <a:srgbClr val="C00000"/>
                </a:solidFill>
              </a:rPr>
              <a:t>      </a:t>
            </a:r>
            <a:r>
              <a:rPr lang="en-IN" sz="2400" dirty="0" err="1">
                <a:solidFill>
                  <a:srgbClr val="C00000"/>
                </a:solidFill>
              </a:rPr>
              <a:t>cin.get</a:t>
            </a:r>
            <a:r>
              <a:rPr lang="en-IN" sz="2400" dirty="0">
                <a:solidFill>
                  <a:srgbClr val="C00000"/>
                </a:solidFill>
              </a:rPr>
              <a:t>(</a:t>
            </a:r>
            <a:r>
              <a:rPr lang="en-IN" sz="2400" dirty="0" err="1">
                <a:solidFill>
                  <a:srgbClr val="C00000"/>
                </a:solidFill>
              </a:rPr>
              <a:t>ch</a:t>
            </a:r>
            <a:r>
              <a:rPr lang="en-IN" sz="2400" dirty="0">
                <a:solidFill>
                  <a:srgbClr val="C00000"/>
                </a:solidFill>
              </a:rPr>
              <a:t>); </a:t>
            </a:r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C232F8B1-B29E-4533-8A70-6BE2DCC34C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632D05-825B-43E5-8377-C47C1EADA1F3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54277" name="Picture 2">
            <a:extLst>
              <a:ext uri="{FF2B5EF4-FFF2-40B4-BE49-F238E27FC236}">
                <a16:creationId xmlns:a16="http://schemas.microsoft.com/office/drawing/2014/main" id="{0FC5E962-DC2B-4E86-936F-683A55A61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24200"/>
            <a:ext cx="7208838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AECA8DDF-0297-4C3B-BB0C-C2EE301A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Reading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88F58-A2C6-4A04-ACA6-CCF02BC62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A string can be read from the keyboard using the </a:t>
            </a:r>
            <a:r>
              <a:rPr lang="en-IN" sz="2000" dirty="0" err="1"/>
              <a:t>cin</a:t>
            </a:r>
            <a:r>
              <a:rPr lang="en-IN" sz="2000" dirty="0"/>
              <a:t> object. </a:t>
            </a:r>
          </a:p>
          <a:p>
            <a:pPr lvl="1">
              <a:defRPr/>
            </a:pPr>
            <a:r>
              <a:rPr lang="en-IN" sz="1600" dirty="0">
                <a:solidFill>
                  <a:srgbClr val="C00000"/>
                </a:solidFill>
              </a:rPr>
              <a:t>https://web.stanford.edu/class/archive/cs/cs106b/cs106b.1132/handouts/08-C++-Strings.pdf</a:t>
            </a:r>
          </a:p>
          <a:p>
            <a:pPr>
              <a:defRPr/>
            </a:pPr>
            <a:r>
              <a:rPr lang="en-IN" sz="2000" b="1" dirty="0"/>
              <a:t>For example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r>
              <a:rPr lang="en-IN" sz="2000" dirty="0">
                <a:solidFill>
                  <a:srgbClr val="C00000"/>
                </a:solidFill>
              </a:rPr>
              <a:t>string city;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r>
              <a:rPr lang="en-IN" sz="2000" dirty="0" err="1">
                <a:solidFill>
                  <a:srgbClr val="C00000"/>
                </a:solidFill>
              </a:rPr>
              <a:t>cout</a:t>
            </a:r>
            <a:r>
              <a:rPr lang="en-IN" sz="2000" dirty="0">
                <a:solidFill>
                  <a:srgbClr val="C00000"/>
                </a:solidFill>
              </a:rPr>
              <a:t> &lt;&lt; "Enter a city: ";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r>
              <a:rPr lang="en-IN" sz="2000" dirty="0" err="1">
                <a:solidFill>
                  <a:srgbClr val="C00000"/>
                </a:solidFill>
              </a:rPr>
              <a:t>cin</a:t>
            </a:r>
            <a:r>
              <a:rPr lang="en-IN" sz="2000" dirty="0">
                <a:solidFill>
                  <a:srgbClr val="C00000"/>
                </a:solidFill>
              </a:rPr>
              <a:t> &gt;&gt; city; // Read to string city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r>
              <a:rPr lang="en-IN" sz="2000" dirty="0" err="1">
                <a:solidFill>
                  <a:srgbClr val="C00000"/>
                </a:solidFill>
              </a:rPr>
              <a:t>cout</a:t>
            </a:r>
            <a:r>
              <a:rPr lang="en-IN" sz="2000" dirty="0">
                <a:solidFill>
                  <a:srgbClr val="C00000"/>
                </a:solidFill>
              </a:rPr>
              <a:t> &lt;&lt; "You entered " &lt;&lt; city &lt;&lt; </a:t>
            </a:r>
            <a:r>
              <a:rPr lang="en-IN" sz="2000" dirty="0" err="1">
                <a:solidFill>
                  <a:srgbClr val="C00000"/>
                </a:solidFill>
              </a:rPr>
              <a:t>endl</a:t>
            </a:r>
            <a:r>
              <a:rPr lang="en-IN" sz="2000" dirty="0">
                <a:solidFill>
                  <a:srgbClr val="C00000"/>
                </a:solidFill>
              </a:rPr>
              <a:t>;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endParaRPr lang="en-IN" sz="1600" dirty="0"/>
          </a:p>
          <a:p>
            <a:pPr>
              <a:defRPr/>
            </a:pPr>
            <a:r>
              <a:rPr lang="en-IN" sz="2000" dirty="0"/>
              <a:t>This approach to reading a string is simple, but there is a problem.</a:t>
            </a:r>
          </a:p>
          <a:p>
            <a:pPr>
              <a:defRPr/>
            </a:pPr>
            <a:r>
              <a:rPr lang="en-IN" sz="2000" dirty="0"/>
              <a:t>The input ends with a whitespace character. If you want to enter </a:t>
            </a:r>
            <a:r>
              <a:rPr lang="en-IN" sz="2000" dirty="0">
                <a:solidFill>
                  <a:srgbClr val="C00000"/>
                </a:solidFill>
              </a:rPr>
              <a:t>New York</a:t>
            </a:r>
            <a:r>
              <a:rPr lang="en-IN" sz="2000" dirty="0"/>
              <a:t>, you have to use an alternative approach</a:t>
            </a:r>
            <a:endParaRPr lang="en-IN" sz="5400" dirty="0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8AE36188-D4BF-4CAC-8704-5FA463C134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E835F1-F122-478A-A93A-D9D851D9A63F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5058E04B-1BDA-43CC-ACF4-74F5E1F2F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Reading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960AF-8CC9-41CB-AABE-12BBA90AF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C++ provides the </a:t>
            </a:r>
            <a:r>
              <a:rPr lang="en-IN" sz="2000" dirty="0" err="1"/>
              <a:t>getline</a:t>
            </a:r>
            <a:r>
              <a:rPr lang="en-IN" sz="2000" dirty="0"/>
              <a:t> function in the string header file, which reads a string from the keyboard </a:t>
            </a:r>
          </a:p>
          <a:p>
            <a:pPr>
              <a:defRPr/>
            </a:pPr>
            <a:r>
              <a:rPr lang="en-IN" sz="2000" b="1" dirty="0"/>
              <a:t>Syntax:</a:t>
            </a:r>
            <a:r>
              <a:rPr lang="en-IN" sz="2000" dirty="0"/>
              <a:t>  </a:t>
            </a:r>
            <a:r>
              <a:rPr lang="en-IN" sz="2000" dirty="0" err="1">
                <a:solidFill>
                  <a:srgbClr val="C00000"/>
                </a:solidFill>
              </a:rPr>
              <a:t>getline</a:t>
            </a:r>
            <a:r>
              <a:rPr lang="en-IN" sz="2000" dirty="0">
                <a:solidFill>
                  <a:srgbClr val="C00000"/>
                </a:solidFill>
              </a:rPr>
              <a:t>(</a:t>
            </a:r>
            <a:r>
              <a:rPr lang="en-IN" sz="2000" dirty="0" err="1">
                <a:solidFill>
                  <a:srgbClr val="C00000"/>
                </a:solidFill>
              </a:rPr>
              <a:t>cin</a:t>
            </a:r>
            <a:r>
              <a:rPr lang="en-IN" sz="2000" dirty="0">
                <a:solidFill>
                  <a:srgbClr val="C00000"/>
                </a:solidFill>
              </a:rPr>
              <a:t>, s, </a:t>
            </a:r>
            <a:r>
              <a:rPr lang="en-IN" sz="2000" dirty="0" err="1">
                <a:solidFill>
                  <a:srgbClr val="C00000"/>
                </a:solidFill>
              </a:rPr>
              <a:t>delimitCharacter</a:t>
            </a:r>
            <a:r>
              <a:rPr lang="en-IN" sz="2000" dirty="0">
                <a:solidFill>
                  <a:srgbClr val="C00000"/>
                </a:solidFill>
              </a:rPr>
              <a:t>)</a:t>
            </a: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000" dirty="0"/>
              <a:t>The function stops reading characters when the delimiter character is encountered.</a:t>
            </a:r>
          </a:p>
          <a:p>
            <a:pPr>
              <a:defRPr/>
            </a:pPr>
            <a:r>
              <a:rPr lang="en-IN" sz="2000" dirty="0"/>
              <a:t>The delimiter is read but not stored into the string. The </a:t>
            </a:r>
            <a:r>
              <a:rPr lang="en-IN" sz="2000" dirty="0">
                <a:solidFill>
                  <a:srgbClr val="C00000"/>
                </a:solidFill>
              </a:rPr>
              <a:t>third argument </a:t>
            </a:r>
            <a:r>
              <a:rPr lang="en-IN" sz="2000" dirty="0" err="1">
                <a:solidFill>
                  <a:srgbClr val="C00000"/>
                </a:solidFill>
              </a:rPr>
              <a:t>delimitCharacter</a:t>
            </a:r>
            <a:r>
              <a:rPr lang="en-IN" sz="2000" dirty="0">
                <a:solidFill>
                  <a:srgbClr val="C00000"/>
                </a:solidFill>
              </a:rPr>
              <a:t> has a default value ('\n')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string city;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 err="1"/>
              <a:t>cout</a:t>
            </a:r>
            <a:r>
              <a:rPr lang="en-IN" sz="2000" dirty="0"/>
              <a:t> &lt;&lt; "Enter a city: ";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 err="1">
                <a:solidFill>
                  <a:srgbClr val="C00000"/>
                </a:solidFill>
              </a:rPr>
              <a:t>getline</a:t>
            </a:r>
            <a:r>
              <a:rPr lang="en-IN" sz="2000" dirty="0">
                <a:solidFill>
                  <a:srgbClr val="C00000"/>
                </a:solidFill>
              </a:rPr>
              <a:t>(</a:t>
            </a:r>
            <a:r>
              <a:rPr lang="en-IN" sz="2000" dirty="0" err="1">
                <a:solidFill>
                  <a:srgbClr val="C00000"/>
                </a:solidFill>
              </a:rPr>
              <a:t>cin</a:t>
            </a:r>
            <a:r>
              <a:rPr lang="en-IN" sz="2000" dirty="0">
                <a:solidFill>
                  <a:srgbClr val="C00000"/>
                </a:solidFill>
              </a:rPr>
              <a:t>, city, '\n');    // Same as </a:t>
            </a:r>
            <a:r>
              <a:rPr lang="en-IN" sz="2000" dirty="0" err="1">
                <a:solidFill>
                  <a:srgbClr val="C00000"/>
                </a:solidFill>
              </a:rPr>
              <a:t>getline</a:t>
            </a:r>
            <a:r>
              <a:rPr lang="en-IN" sz="2000" dirty="0">
                <a:solidFill>
                  <a:srgbClr val="C00000"/>
                </a:solidFill>
              </a:rPr>
              <a:t>(</a:t>
            </a:r>
            <a:r>
              <a:rPr lang="en-IN" sz="2000" dirty="0" err="1">
                <a:solidFill>
                  <a:srgbClr val="C00000"/>
                </a:solidFill>
              </a:rPr>
              <a:t>cin</a:t>
            </a:r>
            <a:r>
              <a:rPr lang="en-IN" sz="2000" dirty="0">
                <a:solidFill>
                  <a:srgbClr val="C00000"/>
                </a:solidFill>
              </a:rPr>
              <a:t>, city)</a:t>
            </a:r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IN" sz="2000" dirty="0" err="1"/>
              <a:t>cout</a:t>
            </a:r>
            <a:r>
              <a:rPr lang="en-IN" sz="2000" dirty="0"/>
              <a:t> &lt;&lt; "You entered " &lt;&lt; city &lt;&lt; </a:t>
            </a:r>
            <a:r>
              <a:rPr lang="en-IN" sz="2000" dirty="0" err="1"/>
              <a:t>endl</a:t>
            </a:r>
            <a:r>
              <a:rPr lang="en-IN" sz="2000" dirty="0"/>
              <a:t>;</a:t>
            </a:r>
            <a:endParaRPr lang="en-IN" sz="1600" dirty="0">
              <a:solidFill>
                <a:srgbClr val="C00000"/>
              </a:solidFill>
            </a:endParaRPr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9546ED15-21AD-4578-AD73-BA1C2202AD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1E7CDE-A205-438F-B1F2-6D4AF989517A}" type="slidenum">
              <a:rPr lang="en-US" altLang="en-US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E8A19869-782F-41B4-B816-6447964E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Reading Strings</a:t>
            </a:r>
          </a:p>
        </p:txBody>
      </p:sp>
      <p:sp>
        <p:nvSpPr>
          <p:cNvPr id="57347" name="Slide Number Placeholder 3">
            <a:extLst>
              <a:ext uri="{FF2B5EF4-FFF2-40B4-BE49-F238E27FC236}">
                <a16:creationId xmlns:a16="http://schemas.microsoft.com/office/drawing/2014/main" id="{B9146E6B-0411-481F-AE66-EA6BA8E335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56B778-3E0C-46B2-BBE1-DBCCADC4B39D}" type="slidenum">
              <a:rPr lang="en-US" altLang="en-US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57348" name="Picture 2">
            <a:extLst>
              <a:ext uri="{FF2B5EF4-FFF2-40B4-BE49-F238E27FC236}">
                <a16:creationId xmlns:a16="http://schemas.microsoft.com/office/drawing/2014/main" id="{4D07E871-D961-45D3-8628-BA0DD0660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1320800"/>
            <a:ext cx="6273800" cy="469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7349" name="Picture 3">
            <a:extLst>
              <a:ext uri="{FF2B5EF4-FFF2-40B4-BE49-F238E27FC236}">
                <a16:creationId xmlns:a16="http://schemas.microsoft.com/office/drawing/2014/main" id="{AB07A1B8-CBE6-4F55-B593-30B8FF941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905000"/>
            <a:ext cx="455295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3AD00C93-7B59-4E30-9C50-F02ACDD8C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Namespaces in C++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4DC56-9D19-4757-86AD-1D662E45B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Namespace</a:t>
            </a:r>
            <a:r>
              <a:rPr lang="en-IN" sz="2000" dirty="0"/>
              <a:t> -  a mechanism to avoid naming conflicts in a large program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As different pieces of a large application introduce new identifiers, it may happen that two different variables, functions or classes have the same name</a:t>
            </a:r>
          </a:p>
          <a:p>
            <a:pPr>
              <a:defRPr/>
            </a:pPr>
            <a:r>
              <a:rPr lang="en-IN" sz="2000" dirty="0"/>
              <a:t>The concept of </a:t>
            </a:r>
            <a:r>
              <a:rPr lang="en-IN" sz="2000" i="1" dirty="0"/>
              <a:t>namespaces</a:t>
            </a:r>
            <a:r>
              <a:rPr lang="en-IN" sz="2000" dirty="0"/>
              <a:t> was created in order to avoid this problem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The idea is that each identifier belongs to a certain namespace, and that different namespaces are kept separate so that they may contain equal identifiers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FB96FF97-D2DC-4BED-B0D3-A54913846B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0FC25D-957E-4E38-BCDE-6956E12B023C}" type="slidenum">
              <a:rPr lang="en-US" altLang="en-US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284B5C68-E056-4608-844C-1852D847B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Namespaces in C++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D4621-93BF-4291-8DDB-1CF0F5464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US" sz="2000" b="1" dirty="0"/>
              <a:t>A namespace defines a scope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using namespace </a:t>
            </a:r>
            <a:r>
              <a:rPr lang="en-IN" sz="2000" dirty="0" err="1">
                <a:solidFill>
                  <a:srgbClr val="C00000"/>
                </a:solidFill>
              </a:rPr>
              <a:t>std</a:t>
            </a:r>
            <a:r>
              <a:rPr lang="en-IN" sz="2000" dirty="0">
                <a:solidFill>
                  <a:srgbClr val="C00000"/>
                </a:solidFill>
              </a:rPr>
              <a:t>;</a:t>
            </a:r>
          </a:p>
          <a:p>
            <a:pPr>
              <a:defRPr/>
            </a:pPr>
            <a:r>
              <a:rPr lang="en-IN" sz="2000" dirty="0"/>
              <a:t>tells the compiler to use the standard namespace. </a:t>
            </a:r>
            <a:r>
              <a:rPr lang="en-IN" sz="2000" dirty="0" err="1"/>
              <a:t>std</a:t>
            </a:r>
            <a:r>
              <a:rPr lang="en-IN" sz="2000" dirty="0"/>
              <a:t> is an abbreviation of </a:t>
            </a:r>
            <a:r>
              <a:rPr lang="en-IN" sz="2000" i="1" dirty="0"/>
              <a:t>standard</a:t>
            </a:r>
          </a:p>
          <a:p>
            <a:pPr>
              <a:defRPr/>
            </a:pPr>
            <a:r>
              <a:rPr lang="en-IN" sz="2000" dirty="0"/>
              <a:t>Namespace is a mechanism to avoid naming conflicts in a large program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C++ uses </a:t>
            </a:r>
            <a:r>
              <a:rPr lang="en-IN" sz="2000" i="1" dirty="0"/>
              <a:t>namespaces </a:t>
            </a:r>
            <a:r>
              <a:rPr lang="en-IN" sz="2000" dirty="0"/>
              <a:t>to organize the names of program entities.</a:t>
            </a:r>
          </a:p>
          <a:p>
            <a:pPr>
              <a:defRPr/>
            </a:pPr>
            <a:r>
              <a:rPr lang="en-IN" sz="2000" dirty="0"/>
              <a:t>The statement using namespace </a:t>
            </a:r>
            <a:r>
              <a:rPr lang="en-IN" sz="2000" dirty="0" err="1"/>
              <a:t>std</a:t>
            </a:r>
            <a:r>
              <a:rPr lang="en-IN" sz="2000" dirty="0"/>
              <a:t>; declares that the program will be accessing entities whose names are part of the namespace called </a:t>
            </a:r>
            <a:r>
              <a:rPr lang="en-IN" sz="2000" dirty="0" err="1"/>
              <a:t>std</a:t>
            </a:r>
            <a:r>
              <a:rPr lang="en-IN" sz="2000" dirty="0"/>
              <a:t> (even namespaces have names!)</a:t>
            </a:r>
          </a:p>
          <a:p>
            <a:pPr>
              <a:defRPr/>
            </a:pPr>
            <a:r>
              <a:rPr lang="en-IN" sz="2000" dirty="0"/>
              <a:t>In order for a program to use the entities in </a:t>
            </a:r>
            <a:r>
              <a:rPr lang="en-IN" sz="2000" dirty="0" err="1"/>
              <a:t>iostream</a:t>
            </a:r>
            <a:r>
              <a:rPr lang="en-IN" sz="2000" dirty="0"/>
              <a:t> , it must have access to the </a:t>
            </a:r>
            <a:r>
              <a:rPr lang="en-IN" sz="2000" dirty="0" err="1"/>
              <a:t>std</a:t>
            </a:r>
            <a:r>
              <a:rPr lang="en-IN" sz="2000" dirty="0"/>
              <a:t> namespace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F23C031A-4865-435A-A104-09282F7D29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A6FB6A-B5AF-49CE-8B04-20DCDA4942AB}" type="slidenum">
              <a:rPr lang="en-US" altLang="en-US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46372982-153B-447E-89C7-C0F4C04C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Namespaces in C++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18302-44A8-4446-86A1-3706401D6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Consider following C++ program</a:t>
            </a:r>
          </a:p>
          <a:p>
            <a:pPr>
              <a:defRPr/>
            </a:pPr>
            <a:r>
              <a:rPr lang="en-US" sz="2000" dirty="0"/>
              <a:t>// A program to demonstrate need of namespace </a:t>
            </a:r>
            <a:endParaRPr lang="en-IN" sz="2000" dirty="0"/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US" sz="2000" dirty="0" err="1"/>
              <a:t>int</a:t>
            </a:r>
            <a:r>
              <a:rPr lang="en-US" sz="2000" dirty="0"/>
              <a:t> main() </a:t>
            </a:r>
            <a:endParaRPr lang="en-IN" sz="2000" dirty="0"/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{ </a:t>
            </a:r>
            <a:endParaRPr lang="en-IN" sz="2000" dirty="0"/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    </a:t>
            </a:r>
            <a:r>
              <a:rPr lang="en-US" sz="2000" dirty="0" err="1"/>
              <a:t>int</a:t>
            </a:r>
            <a:r>
              <a:rPr lang="en-US" sz="2000" dirty="0"/>
              <a:t> value; </a:t>
            </a:r>
            <a:endParaRPr lang="en-IN" sz="2000" dirty="0"/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    value = 0; </a:t>
            </a:r>
            <a:endParaRPr lang="en-IN" sz="2000" dirty="0"/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    double value; // Error here </a:t>
            </a:r>
            <a:endParaRPr lang="en-IN" sz="2000" dirty="0"/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    value = 0.0; </a:t>
            </a:r>
            <a:endParaRPr lang="en-IN" sz="2000" dirty="0"/>
          </a:p>
          <a:p>
            <a:pPr marL="327025" lvl="1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} </a:t>
            </a:r>
            <a:endParaRPr lang="en-IN" sz="2000" dirty="0"/>
          </a:p>
          <a:p>
            <a:pPr>
              <a:defRPr/>
            </a:pPr>
            <a:r>
              <a:rPr lang="en-US" sz="2000" dirty="0"/>
              <a:t> </a:t>
            </a:r>
            <a:r>
              <a:rPr lang="en-US" sz="2000" b="1" dirty="0"/>
              <a:t>Compiler Error:</a:t>
            </a:r>
            <a:endParaRPr lang="en-IN" sz="2000" b="1" dirty="0"/>
          </a:p>
          <a:p>
            <a:pPr>
              <a:defRPr/>
            </a:pPr>
            <a:r>
              <a:rPr lang="en-US" sz="2000" dirty="0"/>
              <a:t>'value' has a previous declaration as '</a:t>
            </a:r>
            <a:r>
              <a:rPr lang="en-US" sz="2000" dirty="0" err="1"/>
              <a:t>int</a:t>
            </a:r>
            <a:r>
              <a:rPr lang="en-US" sz="2000" dirty="0"/>
              <a:t> value'</a:t>
            </a:r>
            <a:endParaRPr lang="en-IN" sz="2000" dirty="0"/>
          </a:p>
          <a:p>
            <a:pPr>
              <a:defRPr/>
            </a:pPr>
            <a:r>
              <a:rPr lang="en-US" sz="2000" dirty="0"/>
              <a:t>In each scope, a name can only represent one entity. So, there cannot be two variables with the same name in the same scope</a:t>
            </a:r>
            <a:endParaRPr lang="en-IN" sz="2000" dirty="0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C5C2229A-BC29-453B-BA75-3CE98748D7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C2522B-4A9B-474B-8ABD-3C15955D4C6B}" type="slidenum">
              <a:rPr lang="en-US" altLang="en-US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4094B45D-471F-4195-83E2-CE031F5B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Namespaces in C++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016ED-9D74-424F-A46F-F4395647E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b="1" dirty="0"/>
              <a:t>Defining a Namespace</a:t>
            </a:r>
            <a:endParaRPr lang="en-IN" sz="2000" dirty="0"/>
          </a:p>
          <a:p>
            <a:pPr>
              <a:defRPr/>
            </a:pPr>
            <a:r>
              <a:rPr lang="en-US" sz="2000" dirty="0"/>
              <a:t>A namespace definition begins with the keyword </a:t>
            </a:r>
            <a:r>
              <a:rPr lang="en-US" sz="2000" b="1" dirty="0"/>
              <a:t>namespace</a:t>
            </a:r>
            <a:r>
              <a:rPr lang="en-US" sz="2000" dirty="0"/>
              <a:t> followed by the namespace name namespace </a:t>
            </a:r>
            <a:r>
              <a:rPr lang="en-US" sz="2000" dirty="0" err="1">
                <a:solidFill>
                  <a:srgbClr val="C00000"/>
                </a:solidFill>
              </a:rPr>
              <a:t>namespace</a:t>
            </a:r>
            <a:r>
              <a:rPr lang="en-US" sz="2000" dirty="0">
                <a:solidFill>
                  <a:srgbClr val="C00000"/>
                </a:solidFill>
              </a:rPr>
              <a:t>  name {</a:t>
            </a:r>
            <a:endParaRPr lang="en-IN" sz="2000" dirty="0">
              <a:solidFill>
                <a:srgbClr val="C000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           // code declarations</a:t>
            </a:r>
            <a:endParaRPr lang="en-IN" sz="2000" dirty="0">
              <a:solidFill>
                <a:srgbClr val="C000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      }</a:t>
            </a:r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Example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>
                <a:cs typeface="Courier New" pitchFamily="49" charset="0"/>
              </a:rPr>
              <a:t>	namespace price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>
                <a:cs typeface="Courier New" pitchFamily="49" charset="0"/>
              </a:rPr>
              <a:t>   		 double </a:t>
            </a:r>
            <a:r>
              <a:rPr lang="en-US" sz="2000" dirty="0" err="1">
                <a:cs typeface="Courier New" pitchFamily="49" charset="0"/>
              </a:rPr>
              <a:t>sqrt</a:t>
            </a:r>
            <a:r>
              <a:rPr lang="en-US" sz="2000" dirty="0">
                <a:cs typeface="Courier New" pitchFamily="49" charset="0"/>
              </a:rPr>
              <a:t>(</a:t>
            </a:r>
            <a:r>
              <a:rPr lang="en-US" sz="2000" dirty="0" err="1">
                <a:cs typeface="Courier New" pitchFamily="49" charset="0"/>
              </a:rPr>
              <a:t>const</a:t>
            </a:r>
            <a:r>
              <a:rPr lang="en-US" sz="2000" dirty="0">
                <a:cs typeface="Courier New" pitchFamily="49" charset="0"/>
              </a:rPr>
              <a:t> double);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>
                <a:cs typeface="Courier New" pitchFamily="49" charset="0"/>
              </a:rPr>
              <a:t>	}</a:t>
            </a:r>
          </a:p>
          <a:p>
            <a:pPr>
              <a:defRPr/>
            </a:pPr>
            <a:r>
              <a:rPr lang="en-US" sz="2000" b="1" dirty="0"/>
              <a:t>To call the namespace-enabled version of either function or variable</a:t>
            </a:r>
            <a:r>
              <a:rPr lang="en-US" sz="2000" dirty="0"/>
              <a:t>, prepend (::) the namespace name as follows </a:t>
            </a:r>
            <a:endParaRPr lang="en-IN" sz="20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      name::code;  // code could be variable or function</a:t>
            </a:r>
            <a:endParaRPr lang="en-US" sz="2000" dirty="0"/>
          </a:p>
          <a:p>
            <a:pPr marL="0" indent="0">
              <a:buFont typeface="Wingdings" pitchFamily="2" charset="2"/>
              <a:buNone/>
              <a:defRPr/>
            </a:pPr>
            <a:endParaRPr lang="en-IN" sz="2000" dirty="0"/>
          </a:p>
          <a:p>
            <a:pPr>
              <a:defRPr/>
            </a:pPr>
            <a:endParaRPr lang="en-IN" sz="2000" dirty="0"/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D3AA59E8-A7D7-4D4E-9953-C2237B88AA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9F9825-07D0-4E1D-817E-119BB3F6B1E8}" type="slidenum">
              <a:rPr lang="en-US" altLang="en-US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1303D13E-00A2-46E9-AE80-B91CA657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Namespaces in C++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B195D-8E9B-4109-90B4-263B82B20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sz="2000" dirty="0">
                <a:cs typeface="Courier New" pitchFamily="49" charset="0"/>
              </a:rPr>
              <a:t>namespace price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>
                <a:cs typeface="Courier New" pitchFamily="49" charset="0"/>
              </a:rPr>
              <a:t>    double </a:t>
            </a:r>
            <a:r>
              <a:rPr lang="en-US" sz="2000" dirty="0" err="1">
                <a:cs typeface="Courier New" pitchFamily="49" charset="0"/>
              </a:rPr>
              <a:t>sqrt</a:t>
            </a:r>
            <a:r>
              <a:rPr lang="en-US" sz="2000" dirty="0">
                <a:cs typeface="Courier New" pitchFamily="49" charset="0"/>
              </a:rPr>
              <a:t>(</a:t>
            </a:r>
            <a:r>
              <a:rPr lang="en-US" sz="2000" dirty="0" err="1">
                <a:cs typeface="Courier New" pitchFamily="49" charset="0"/>
              </a:rPr>
              <a:t>const</a:t>
            </a:r>
            <a:r>
              <a:rPr lang="en-US" sz="2000" dirty="0">
                <a:cs typeface="Courier New" pitchFamily="49" charset="0"/>
              </a:rPr>
              <a:t> double);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IN" dirty="0"/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A4356CDA-2E27-41FA-8C66-73386C4C07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58B32C-040A-45D5-B729-F32C933923E6}" type="slidenum">
              <a:rPr lang="en-US" altLang="en-US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62469" name="Picture 2">
            <a:extLst>
              <a:ext uri="{FF2B5EF4-FFF2-40B4-BE49-F238E27FC236}">
                <a16:creationId xmlns:a16="http://schemas.microsoft.com/office/drawing/2014/main" id="{A762D332-5D22-4A6F-A31E-E1857AC8E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76563"/>
            <a:ext cx="8186738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520D1DC5-72FD-41CC-8564-AF2332A14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Preventing Conflicts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4621B-7D1C-4846-9A78-7092EE55A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sz="2000" dirty="0">
                <a:cs typeface="Courier New" pitchFamily="49" charset="0"/>
              </a:rPr>
              <a:t>namespace price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>
                <a:cs typeface="Courier New" pitchFamily="49" charset="0"/>
              </a:rPr>
              <a:t>    double </a:t>
            </a:r>
            <a:r>
              <a:rPr lang="en-US" sz="2000" dirty="0" err="1">
                <a:cs typeface="Courier New" pitchFamily="49" charset="0"/>
              </a:rPr>
              <a:t>sqrt</a:t>
            </a:r>
            <a:r>
              <a:rPr lang="en-US" sz="2000" dirty="0">
                <a:cs typeface="Courier New" pitchFamily="49" charset="0"/>
              </a:rPr>
              <a:t>(</a:t>
            </a:r>
            <a:r>
              <a:rPr lang="en-US" sz="2000" dirty="0" err="1">
                <a:cs typeface="Courier New" pitchFamily="49" charset="0"/>
              </a:rPr>
              <a:t>const</a:t>
            </a:r>
            <a:r>
              <a:rPr lang="en-US" sz="2000" dirty="0">
                <a:cs typeface="Courier New" pitchFamily="49" charset="0"/>
              </a:rPr>
              <a:t> double);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IN" dirty="0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2B53D103-3423-444A-BED2-D17DA44709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0A3926D-FF73-4B94-9F42-B161A85CE5A6}" type="slidenum">
              <a:rPr lang="en-US" altLang="en-US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63493" name="Picture 5">
            <a:extLst>
              <a:ext uri="{FF2B5EF4-FFF2-40B4-BE49-F238E27FC236}">
                <a16:creationId xmlns:a16="http://schemas.microsoft.com/office/drawing/2014/main" id="{1CB06FAF-5629-4396-9E1A-28CD01EED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581400"/>
            <a:ext cx="8569325" cy="173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625C8669-57FD-4D4B-827E-B87FDC1A0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Namespaces in C++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6EC41-A5DE-4DEF-AD10-131DD1DEB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Using namespaces, we can create two variables or member functions having the same name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/>
              <a:t>#include &lt;</a:t>
            </a:r>
            <a:r>
              <a:rPr lang="en-US" sz="2000" dirty="0" err="1"/>
              <a:t>iostream</a:t>
            </a:r>
            <a:r>
              <a:rPr lang="en-US" sz="2000" dirty="0"/>
              <a:t>&gt; </a:t>
            </a:r>
            <a:endParaRPr lang="en-IN" sz="20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/>
              <a:t>using namespace </a:t>
            </a:r>
            <a:r>
              <a:rPr lang="en-US" sz="2000" dirty="0" err="1"/>
              <a:t>std</a:t>
            </a:r>
            <a:r>
              <a:rPr lang="en-US" sz="2000" dirty="0"/>
              <a:t>; </a:t>
            </a:r>
            <a:endParaRPr lang="en-IN" sz="20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namespace first </a:t>
            </a:r>
            <a:endParaRPr lang="en-IN" sz="2000" dirty="0">
              <a:solidFill>
                <a:srgbClr val="C000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{ </a:t>
            </a:r>
            <a:endParaRPr lang="en-IN" sz="2000" dirty="0">
              <a:solidFill>
                <a:srgbClr val="C000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    </a:t>
            </a:r>
            <a:r>
              <a:rPr lang="en-US" sz="2000" dirty="0" err="1">
                <a:solidFill>
                  <a:srgbClr val="C00000"/>
                </a:solidFill>
              </a:rPr>
              <a:t>int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val</a:t>
            </a:r>
            <a:r>
              <a:rPr lang="en-US" sz="2000" dirty="0">
                <a:solidFill>
                  <a:srgbClr val="C00000"/>
                </a:solidFill>
              </a:rPr>
              <a:t> = 500; </a:t>
            </a:r>
            <a:endParaRPr lang="en-IN" sz="2000" dirty="0">
              <a:solidFill>
                <a:srgbClr val="C000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} </a:t>
            </a:r>
            <a:endParaRPr lang="en-IN" sz="2000" dirty="0">
              <a:solidFill>
                <a:srgbClr val="C000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/>
              <a:t>  </a:t>
            </a:r>
            <a:endParaRPr lang="en-IN" sz="20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// Global variable </a:t>
            </a:r>
            <a:endParaRPr lang="en-IN" sz="2000" dirty="0">
              <a:solidFill>
                <a:srgbClr val="C000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 err="1">
                <a:solidFill>
                  <a:srgbClr val="C00000"/>
                </a:solidFill>
              </a:rPr>
              <a:t>int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val</a:t>
            </a:r>
            <a:r>
              <a:rPr lang="en-US" sz="2000" dirty="0">
                <a:solidFill>
                  <a:srgbClr val="C00000"/>
                </a:solidFill>
              </a:rPr>
              <a:t> = 100; </a:t>
            </a:r>
            <a:endParaRPr lang="en-IN" sz="2000" dirty="0">
              <a:solidFill>
                <a:srgbClr val="C000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000" dirty="0"/>
              <a:t>  </a:t>
            </a:r>
            <a:endParaRPr lang="en-IN" sz="2000" dirty="0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C1E14BFD-66EB-467D-96C7-07E816AFF7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91CC7A-7F06-464A-BEE2-718258CE92BA}" type="slidenum">
              <a:rPr lang="en-US" altLang="en-US">
                <a:latin typeface="Times New Roman" panose="02020603050405020304" pitchFamily="18" charset="0"/>
              </a:rPr>
              <a:pPr/>
              <a:t>52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4517" name="Rectangle 1">
            <a:extLst>
              <a:ext uri="{FF2B5EF4-FFF2-40B4-BE49-F238E27FC236}">
                <a16:creationId xmlns:a16="http://schemas.microsoft.com/office/drawing/2014/main" id="{165BBC1D-FB65-4125-900B-19450B629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286000"/>
            <a:ext cx="45720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/>
              <a:t>int main() </a:t>
            </a:r>
            <a:endParaRPr lang="en-IN" altLang="en-US" sz="2000"/>
          </a:p>
          <a:p>
            <a:pPr eaLnBrk="1" hangingPunct="1"/>
            <a:r>
              <a:rPr lang="en-US" altLang="en-US" sz="2000"/>
              <a:t>{ </a:t>
            </a:r>
            <a:endParaRPr lang="en-IN" altLang="en-US" sz="2000"/>
          </a:p>
          <a:p>
            <a:pPr eaLnBrk="1" hangingPunct="1"/>
            <a:r>
              <a:rPr lang="en-US" altLang="en-US" sz="2000"/>
              <a:t>   </a:t>
            </a:r>
            <a:r>
              <a:rPr lang="en-US" altLang="en-US" sz="2000">
                <a:solidFill>
                  <a:srgbClr val="C00000"/>
                </a:solidFill>
              </a:rPr>
              <a:t> // Local variable </a:t>
            </a:r>
            <a:endParaRPr lang="en-IN" altLang="en-US" sz="2000">
              <a:solidFill>
                <a:srgbClr val="C00000"/>
              </a:solidFill>
            </a:endParaRPr>
          </a:p>
          <a:p>
            <a:pPr eaLnBrk="1" hangingPunct="1"/>
            <a:r>
              <a:rPr lang="en-US" altLang="en-US" sz="2000">
                <a:solidFill>
                  <a:srgbClr val="C00000"/>
                </a:solidFill>
              </a:rPr>
              <a:t>    int val = 200; </a:t>
            </a:r>
            <a:endParaRPr lang="en-IN" altLang="en-US" sz="2000">
              <a:solidFill>
                <a:srgbClr val="C00000"/>
              </a:solidFill>
            </a:endParaRPr>
          </a:p>
          <a:p>
            <a:pPr eaLnBrk="1" hangingPunct="1"/>
            <a:r>
              <a:rPr lang="en-US" altLang="en-US" sz="2000"/>
              <a:t>// These variables can be accessed from outside the namespace using the scope operator :: </a:t>
            </a:r>
            <a:endParaRPr lang="en-IN" altLang="en-US" sz="2000"/>
          </a:p>
          <a:p>
            <a:pPr eaLnBrk="1" hangingPunct="1"/>
            <a:r>
              <a:rPr lang="en-US" altLang="en-US" sz="2000"/>
              <a:t>   </a:t>
            </a:r>
            <a:r>
              <a:rPr lang="en-US" altLang="en-US" sz="2000">
                <a:solidFill>
                  <a:srgbClr val="C00000"/>
                </a:solidFill>
              </a:rPr>
              <a:t>cout &lt;&lt; first::val &lt;&lt; '\n';  </a:t>
            </a:r>
          </a:p>
          <a:p>
            <a:pPr eaLnBrk="1" hangingPunct="1"/>
            <a:r>
              <a:rPr lang="en-US" altLang="en-US" sz="2000"/>
              <a:t>   </a:t>
            </a:r>
            <a:r>
              <a:rPr lang="en-US" altLang="en-US" sz="2000">
                <a:solidFill>
                  <a:srgbClr val="C00000"/>
                </a:solidFill>
              </a:rPr>
              <a:t>cout&lt;&lt;val;</a:t>
            </a:r>
          </a:p>
          <a:p>
            <a:pPr eaLnBrk="1" hangingPunct="1"/>
            <a:r>
              <a:rPr lang="en-US" altLang="en-US" sz="2000">
                <a:solidFill>
                  <a:srgbClr val="C00000"/>
                </a:solidFill>
              </a:rPr>
              <a:t>   cout&lt;&lt; ::val;</a:t>
            </a:r>
            <a:endParaRPr lang="en-IN" altLang="en-US" sz="2000">
              <a:solidFill>
                <a:srgbClr val="C00000"/>
              </a:solidFill>
            </a:endParaRPr>
          </a:p>
          <a:p>
            <a:pPr eaLnBrk="1" hangingPunct="1"/>
            <a:r>
              <a:rPr lang="en-US" altLang="en-US" sz="2000"/>
              <a:t>  </a:t>
            </a:r>
            <a:endParaRPr lang="en-IN" altLang="en-US" sz="2000"/>
          </a:p>
          <a:p>
            <a:pPr eaLnBrk="1" hangingPunct="1"/>
            <a:r>
              <a:rPr lang="en-US" altLang="en-US" sz="2000"/>
              <a:t>    return 0; </a:t>
            </a:r>
          </a:p>
          <a:p>
            <a:pPr eaLnBrk="1" hangingPunct="1"/>
            <a:endParaRPr lang="en-IN" altLang="en-US" sz="2000"/>
          </a:p>
          <a:p>
            <a:pPr eaLnBrk="1" hangingPunct="1"/>
            <a:r>
              <a:rPr lang="en-US" altLang="en-US" sz="2000"/>
              <a:t>} </a:t>
            </a:r>
            <a:endParaRPr lang="en-IN" altLang="en-US" sz="2000"/>
          </a:p>
        </p:txBody>
      </p:sp>
      <p:sp>
        <p:nvSpPr>
          <p:cNvPr id="64518" name="Rectangle 3">
            <a:extLst>
              <a:ext uri="{FF2B5EF4-FFF2-40B4-BE49-F238E27FC236}">
                <a16:creationId xmlns:a16="http://schemas.microsoft.com/office/drawing/2014/main" id="{494531B2-462C-421E-A9E8-8135FF5BE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288" y="5549900"/>
            <a:ext cx="2017712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Output:</a:t>
            </a:r>
            <a:endParaRPr lang="en-IN" altLang="en-US"/>
          </a:p>
          <a:p>
            <a:pPr eaLnBrk="1" hangingPunct="1"/>
            <a:r>
              <a:rPr lang="en-US" altLang="en-US"/>
              <a:t>500</a:t>
            </a:r>
          </a:p>
          <a:p>
            <a:pPr eaLnBrk="1" hangingPunct="1"/>
            <a:r>
              <a:rPr lang="en-US" altLang="en-US"/>
              <a:t>200</a:t>
            </a:r>
          </a:p>
          <a:p>
            <a:pPr eaLnBrk="1" hangingPunct="1"/>
            <a:r>
              <a:rPr lang="en-US" altLang="en-US"/>
              <a:t>100</a:t>
            </a:r>
            <a:endParaRPr lang="en-I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8B753DA4-3487-408E-8963-719A6AD8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Namespaces in C++</a:t>
            </a:r>
            <a:endParaRPr lang="en-IN" altLang="en-US"/>
          </a:p>
        </p:txBody>
      </p:sp>
      <p:sp>
        <p:nvSpPr>
          <p:cNvPr id="65539" name="Slide Number Placeholder 3">
            <a:extLst>
              <a:ext uri="{FF2B5EF4-FFF2-40B4-BE49-F238E27FC236}">
                <a16:creationId xmlns:a16="http://schemas.microsoft.com/office/drawing/2014/main" id="{0F65B709-2DAA-4FBE-BE9C-537E2D5295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2A9522-E980-4664-827A-336FF8D1A795}" type="slidenum">
              <a:rPr lang="en-US" altLang="en-US">
                <a:latin typeface="Times New Roman" panose="02020603050405020304" pitchFamily="18" charset="0"/>
              </a:rPr>
              <a:pPr/>
              <a:t>53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F1B1020B-F5F9-47DF-83B0-EA43F7AAF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419225"/>
            <a:ext cx="51054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#include &lt;iostream&gt;</a:t>
            </a:r>
          </a:p>
          <a:p>
            <a:pPr eaLnBrk="1" hangingPunct="1"/>
            <a:r>
              <a:rPr lang="en-IN" altLang="en-US"/>
              <a:t>using namespace std;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/>
              <a:t>// first name space</a:t>
            </a:r>
          </a:p>
          <a:p>
            <a:pPr eaLnBrk="1" hangingPunct="1"/>
            <a:r>
              <a:rPr lang="en-IN" altLang="en-US" b="1"/>
              <a:t>namespace first_space {</a:t>
            </a:r>
          </a:p>
          <a:p>
            <a:pPr eaLnBrk="1" hangingPunct="1"/>
            <a:r>
              <a:rPr lang="en-IN" altLang="en-US"/>
              <a:t>   </a:t>
            </a:r>
            <a:r>
              <a:rPr lang="en-IN" altLang="en-US">
                <a:solidFill>
                  <a:srgbClr val="C00000"/>
                </a:solidFill>
              </a:rPr>
              <a:t>void func() {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cout &lt;&lt; "Inside first_space\n" 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}</a:t>
            </a:r>
          </a:p>
          <a:p>
            <a:pPr eaLnBrk="1" hangingPunct="1"/>
            <a:r>
              <a:rPr lang="en-IN" altLang="en-US" b="1"/>
              <a:t>}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/>
              <a:t>// second name space</a:t>
            </a:r>
          </a:p>
          <a:p>
            <a:pPr eaLnBrk="1" hangingPunct="1"/>
            <a:r>
              <a:rPr lang="en-IN" altLang="en-US" b="1"/>
              <a:t>namespace second_space {</a:t>
            </a:r>
          </a:p>
          <a:p>
            <a:pPr eaLnBrk="1" hangingPunct="1"/>
            <a:r>
              <a:rPr lang="en-IN" altLang="en-US"/>
              <a:t>   </a:t>
            </a:r>
            <a:r>
              <a:rPr lang="en-IN" altLang="en-US">
                <a:solidFill>
                  <a:srgbClr val="C00000"/>
                </a:solidFill>
              </a:rPr>
              <a:t>void func() {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cout &lt;&lt; "Inside second_space\n" 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}</a:t>
            </a:r>
          </a:p>
          <a:p>
            <a:pPr eaLnBrk="1" hangingPunct="1"/>
            <a:r>
              <a:rPr lang="en-IN" altLang="en-US" b="1"/>
              <a:t>}</a:t>
            </a:r>
          </a:p>
        </p:txBody>
      </p:sp>
      <p:sp>
        <p:nvSpPr>
          <p:cNvPr id="65541" name="Rectangle 4">
            <a:extLst>
              <a:ext uri="{FF2B5EF4-FFF2-40B4-BE49-F238E27FC236}">
                <a16:creationId xmlns:a16="http://schemas.microsoft.com/office/drawing/2014/main" id="{F6D9FD06-0018-4025-955F-85D94C683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419225"/>
            <a:ext cx="518160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int main () {</a:t>
            </a:r>
          </a:p>
          <a:p>
            <a:pPr eaLnBrk="1" hangingPunct="1"/>
            <a:r>
              <a:rPr lang="en-IN" altLang="en-US"/>
              <a:t>   // Calls function from first name space.</a:t>
            </a:r>
          </a:p>
          <a:p>
            <a:pPr eaLnBrk="1" hangingPunct="1"/>
            <a:r>
              <a:rPr lang="en-IN" altLang="en-US"/>
              <a:t>   </a:t>
            </a:r>
            <a:r>
              <a:rPr lang="en-IN" altLang="en-US">
                <a:solidFill>
                  <a:srgbClr val="C00000"/>
                </a:solidFill>
              </a:rPr>
              <a:t>first_space::func();</a:t>
            </a:r>
          </a:p>
          <a:p>
            <a:pPr eaLnBrk="1" hangingPunct="1"/>
            <a:r>
              <a:rPr lang="en-IN" altLang="en-US"/>
              <a:t>   </a:t>
            </a:r>
          </a:p>
          <a:p>
            <a:pPr eaLnBrk="1" hangingPunct="1"/>
            <a:r>
              <a:rPr lang="en-IN" altLang="en-US"/>
              <a:t>   // Calls function from second name space.</a:t>
            </a:r>
          </a:p>
          <a:p>
            <a:pPr eaLnBrk="1" hangingPunct="1"/>
            <a:r>
              <a:rPr lang="en-IN" altLang="en-US"/>
              <a:t>   </a:t>
            </a:r>
            <a:r>
              <a:rPr lang="en-IN" altLang="en-US">
                <a:solidFill>
                  <a:srgbClr val="C00000"/>
                </a:solidFill>
              </a:rPr>
              <a:t>second_space::func(); 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/>
              <a:t>   return 0;</a:t>
            </a:r>
          </a:p>
          <a:p>
            <a:pPr eaLnBrk="1" hangingPunct="1"/>
            <a:r>
              <a:rPr lang="en-IN" altLang="en-US"/>
              <a:t>}</a:t>
            </a:r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782F259E-E57C-46DC-B187-95EC32489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495800"/>
            <a:ext cx="2663825" cy="96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ea typeface="Times New Roman" panose="02020603050405020304" pitchFamily="18" charset="0"/>
                <a:cs typeface="Arial" panose="020B0604020202020204" pitchFamily="34" charset="0"/>
              </a:rPr>
              <a:t>Output</a:t>
            </a:r>
          </a:p>
          <a:p>
            <a:r>
              <a:rPr lang="en-US" altLang="en-US" sz="2000">
                <a:ea typeface="Times New Roman" panose="02020603050405020304" pitchFamily="18" charset="0"/>
                <a:cs typeface="Arial" panose="020B0604020202020204" pitchFamily="34" charset="0"/>
              </a:rPr>
              <a:t>Inside first_space</a:t>
            </a:r>
          </a:p>
          <a:p>
            <a:r>
              <a:rPr lang="en-US" altLang="en-US" sz="2000">
                <a:ea typeface="Times New Roman" panose="02020603050405020304" pitchFamily="18" charset="0"/>
                <a:cs typeface="Arial" panose="020B0604020202020204" pitchFamily="34" charset="0"/>
              </a:rPr>
              <a:t>Inside second_space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8D16655C-30BA-45EA-8A61-B22F2DF81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using directive</a:t>
            </a:r>
            <a:br>
              <a:rPr lang="en-IN" altLang="en-US" b="1"/>
            </a:b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D365E-AC93-493A-993F-E19B92FE2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This directive tells the compiler that the subsequent code is making use of names in the specified namespace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F67BD07B-6F94-4568-89C4-1C96977E6B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88B8E2-DBAD-474C-BE8F-9BE49442767D}" type="slidenum">
              <a:rPr lang="en-US" altLang="en-US">
                <a:latin typeface="Times New Roman" panose="02020603050405020304" pitchFamily="18" charset="0"/>
              </a:rPr>
              <a:pPr/>
              <a:t>54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6565" name="Rectangle 1">
            <a:extLst>
              <a:ext uri="{FF2B5EF4-FFF2-40B4-BE49-F238E27FC236}">
                <a16:creationId xmlns:a16="http://schemas.microsoft.com/office/drawing/2014/main" id="{2C285623-3E30-49E6-9B1A-298E60868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981200"/>
            <a:ext cx="5257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#include &lt;iostream&gt;</a:t>
            </a:r>
          </a:p>
          <a:p>
            <a:pPr eaLnBrk="1" hangingPunct="1"/>
            <a:r>
              <a:rPr lang="en-IN" altLang="en-US"/>
              <a:t>using namespace std;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/>
              <a:t>// first name space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namespace first_space {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void func() {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cout &lt;&lt; "Inside first_space" &lt;&lt; endl;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}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}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/>
              <a:t>// second name space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namespace second_space {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void func() {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cout &lt;&lt; "Inside second_space" &lt;&lt; endl;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}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}</a:t>
            </a:r>
          </a:p>
          <a:p>
            <a:pPr eaLnBrk="1" hangingPunct="1"/>
            <a:endParaRPr lang="en-IN" altLang="en-US"/>
          </a:p>
        </p:txBody>
      </p:sp>
      <p:sp>
        <p:nvSpPr>
          <p:cNvPr id="66566" name="Rectangle 3">
            <a:extLst>
              <a:ext uri="{FF2B5EF4-FFF2-40B4-BE49-F238E27FC236}">
                <a16:creationId xmlns:a16="http://schemas.microsoft.com/office/drawing/2014/main" id="{121A5133-7F07-4265-AF13-365B98463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124200"/>
            <a:ext cx="45720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b="1"/>
              <a:t>using namespace first_space;</a:t>
            </a:r>
          </a:p>
          <a:p>
            <a:pPr eaLnBrk="1" hangingPunct="1"/>
            <a:r>
              <a:rPr lang="en-IN" altLang="en-US"/>
              <a:t>int main () {</a:t>
            </a:r>
          </a:p>
          <a:p>
            <a:pPr eaLnBrk="1" hangingPunct="1"/>
            <a:r>
              <a:rPr lang="en-IN" altLang="en-US"/>
              <a:t>   // This calls function from first name space.</a:t>
            </a:r>
          </a:p>
          <a:p>
            <a:pPr eaLnBrk="1" hangingPunct="1"/>
            <a:r>
              <a:rPr lang="en-IN" altLang="en-US"/>
              <a:t>   </a:t>
            </a:r>
            <a:r>
              <a:rPr lang="en-IN" altLang="en-US" b="1"/>
              <a:t>func();</a:t>
            </a:r>
          </a:p>
          <a:p>
            <a:pPr eaLnBrk="1" hangingPunct="1"/>
            <a:r>
              <a:rPr lang="en-IN" altLang="en-US"/>
              <a:t>   </a:t>
            </a:r>
          </a:p>
          <a:p>
            <a:pPr eaLnBrk="1" hangingPunct="1"/>
            <a:r>
              <a:rPr lang="en-IN" altLang="en-US"/>
              <a:t>   return 0;</a:t>
            </a:r>
          </a:p>
          <a:p>
            <a:pPr eaLnBrk="1" hangingPunct="1"/>
            <a:r>
              <a:rPr lang="en-IN" altLang="en-US"/>
              <a:t>}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73656AB-40E3-4E76-8244-0F8579016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432425"/>
            <a:ext cx="2249488" cy="66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bIns="0" anchor="ctr">
            <a:spAutoFit/>
          </a:bodyPr>
          <a:lstStyle/>
          <a:p>
            <a:pPr eaLnBrk="0" hangingPunct="0">
              <a:defRPr/>
            </a:pPr>
            <a:r>
              <a:rPr lang="en-US" sz="2000" dirty="0">
                <a:latin typeface="+mn-lt"/>
                <a:ea typeface="Times New Roman" pitchFamily="18" charset="0"/>
                <a:cs typeface="Courier New" pitchFamily="49" charset="0"/>
              </a:rPr>
              <a:t>Output </a:t>
            </a:r>
          </a:p>
          <a:p>
            <a:pPr eaLnBrk="0" hangingPunct="0">
              <a:defRPr/>
            </a:pPr>
            <a:r>
              <a:rPr lang="en-US" sz="2000" dirty="0">
                <a:latin typeface="+mn-lt"/>
                <a:ea typeface="Times New Roman" pitchFamily="18" charset="0"/>
                <a:cs typeface="Courier New" pitchFamily="49" charset="0"/>
              </a:rPr>
              <a:t>Inside </a:t>
            </a:r>
            <a:r>
              <a:rPr lang="en-US" sz="2000" dirty="0" err="1">
                <a:latin typeface="+mn-lt"/>
                <a:ea typeface="Times New Roman" pitchFamily="18" charset="0"/>
                <a:cs typeface="Courier New" pitchFamily="49" charset="0"/>
              </a:rPr>
              <a:t>first_space</a:t>
            </a:r>
            <a:r>
              <a:rPr lang="en-US" sz="2000" dirty="0"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308074C9-84CC-4A52-AFD0-A2973289E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Namespaces in C++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E5727-FC2B-4D3F-832D-C9834F17F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Namespace declarations can be nested within another namespace</a:t>
            </a:r>
            <a:endParaRPr lang="en-IN" sz="2000" dirty="0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6CDC7C0C-07FD-4B0C-85EE-2DE36E6393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43C1884-0CF0-4C78-BC66-CC74E539B953}" type="slidenum">
              <a:rPr lang="en-US" altLang="en-US">
                <a:latin typeface="Times New Roman" panose="02020603050405020304" pitchFamily="18" charset="0"/>
              </a:rPr>
              <a:pPr/>
              <a:t>55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9" name="Rectangle 1">
            <a:extLst>
              <a:ext uri="{FF2B5EF4-FFF2-40B4-BE49-F238E27FC236}">
                <a16:creationId xmlns:a16="http://schemas.microsoft.com/office/drawing/2014/main" id="{B6DF7D19-AC9B-4F90-BC83-651623892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0"/>
            <a:ext cx="5181600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#include &lt;iostream&gt;</a:t>
            </a:r>
          </a:p>
          <a:p>
            <a:pPr eaLnBrk="1" hangingPunct="1"/>
            <a:r>
              <a:rPr lang="en-IN" altLang="en-US"/>
              <a:t>using namespace std;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// first name space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namespace first_space {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void func() {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cout &lt;&lt; "Inside first_space" &lt;&lt; endl;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}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// second name space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namespace second_space {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void func() {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cout &lt;&lt; "Inside second_space" &lt;&lt; endl;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}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}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}</a:t>
            </a:r>
          </a:p>
        </p:txBody>
      </p:sp>
      <p:sp>
        <p:nvSpPr>
          <p:cNvPr id="67590" name="Rectangle 3">
            <a:extLst>
              <a:ext uri="{FF2B5EF4-FFF2-40B4-BE49-F238E27FC236}">
                <a16:creationId xmlns:a16="http://schemas.microsoft.com/office/drawing/2014/main" id="{FA00F18E-2F4C-4EF6-8111-95F090022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979613"/>
            <a:ext cx="57150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b="1"/>
              <a:t>using namespace first_space::second_space</a:t>
            </a:r>
            <a:r>
              <a:rPr lang="en-IN" altLang="en-US"/>
              <a:t>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int main () {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// This calls function from second name space.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func();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return 0;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}</a:t>
            </a:r>
          </a:p>
        </p:txBody>
      </p:sp>
      <p:sp>
        <p:nvSpPr>
          <p:cNvPr id="67591" name="Rectangle 4">
            <a:extLst>
              <a:ext uri="{FF2B5EF4-FFF2-40B4-BE49-F238E27FC236}">
                <a16:creationId xmlns:a16="http://schemas.microsoft.com/office/drawing/2014/main" id="{82AEB8F6-E35F-4F36-946E-A31631E87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105400"/>
            <a:ext cx="23526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Output</a:t>
            </a:r>
          </a:p>
          <a:p>
            <a:pPr eaLnBrk="1" hangingPunct="1"/>
            <a:r>
              <a:rPr lang="en-US" altLang="en-US"/>
              <a:t>Inside second_space</a:t>
            </a:r>
            <a:endParaRPr lang="en-I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D90BB6CA-740C-4E01-BEC8-5ECD744C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Namespaces in C++</a:t>
            </a:r>
            <a:endParaRPr lang="en-IN" altLang="en-US"/>
          </a:p>
        </p:txBody>
      </p:sp>
      <p:sp>
        <p:nvSpPr>
          <p:cNvPr id="68611" name="Slide Number Placeholder 3">
            <a:extLst>
              <a:ext uri="{FF2B5EF4-FFF2-40B4-BE49-F238E27FC236}">
                <a16:creationId xmlns:a16="http://schemas.microsoft.com/office/drawing/2014/main" id="{BF3F8C27-6DDE-4E1C-AA81-1334C7F527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BA2A9F-DB0A-474B-ABC5-0FB455CAA5DF}" type="slidenum">
              <a:rPr lang="en-US" altLang="en-US">
                <a:latin typeface="Times New Roman" panose="02020603050405020304" pitchFamily="18" charset="0"/>
              </a:rPr>
              <a:pPr/>
              <a:t>56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2" name="Rectangle 1">
            <a:extLst>
              <a:ext uri="{FF2B5EF4-FFF2-40B4-BE49-F238E27FC236}">
                <a16:creationId xmlns:a16="http://schemas.microsoft.com/office/drawing/2014/main" id="{9A13E399-F528-4396-A414-2DA6A0DC5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24000"/>
            <a:ext cx="45720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// Creating namespaces </a:t>
            </a:r>
          </a:p>
          <a:p>
            <a:pPr eaLnBrk="1" hangingPunct="1"/>
            <a:r>
              <a:rPr lang="en-IN" altLang="en-US"/>
              <a:t>#include &lt;iostream&gt; </a:t>
            </a:r>
          </a:p>
          <a:p>
            <a:pPr eaLnBrk="1" hangingPunct="1"/>
            <a:r>
              <a:rPr lang="en-IN" altLang="en-US"/>
              <a:t>using namespace std; 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namespace ns1 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{ 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int value()    { return 5; } 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} 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namespace ns2  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{ 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const double x = 100; 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double value() {  return 2*x; } 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} </a:t>
            </a:r>
          </a:p>
          <a:p>
            <a:pPr eaLnBrk="1" hangingPunct="1"/>
            <a:r>
              <a:rPr lang="en-IN" altLang="en-US"/>
              <a:t>  </a:t>
            </a:r>
          </a:p>
        </p:txBody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F9458DD2-FE46-43E9-A213-EAB368ECE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524000"/>
            <a:ext cx="4572000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int main() </a:t>
            </a:r>
          </a:p>
          <a:p>
            <a:pPr eaLnBrk="1" hangingPunct="1"/>
            <a:r>
              <a:rPr lang="en-IN" altLang="en-US"/>
              <a:t>{ </a:t>
            </a:r>
          </a:p>
          <a:p>
            <a:pPr eaLnBrk="1" hangingPunct="1"/>
            <a:r>
              <a:rPr lang="en-IN" altLang="en-US"/>
              <a:t>    // Access value function within ns1 </a:t>
            </a:r>
          </a:p>
          <a:p>
            <a:pPr eaLnBrk="1" hangingPunct="1"/>
            <a:r>
              <a:rPr lang="en-IN" altLang="en-US"/>
              <a:t>    </a:t>
            </a:r>
            <a:r>
              <a:rPr lang="en-IN" altLang="en-US">
                <a:solidFill>
                  <a:srgbClr val="C00000"/>
                </a:solidFill>
              </a:rPr>
              <a:t>cout &lt;&lt; ns1::value() &lt;&lt; '\n'; </a:t>
            </a:r>
            <a:r>
              <a:rPr lang="en-IN" altLang="en-US"/>
              <a:t> </a:t>
            </a:r>
          </a:p>
          <a:p>
            <a:pPr eaLnBrk="1" hangingPunct="1"/>
            <a:r>
              <a:rPr lang="en-IN" altLang="en-US"/>
              <a:t>  </a:t>
            </a:r>
          </a:p>
          <a:p>
            <a:pPr eaLnBrk="1" hangingPunct="1"/>
            <a:r>
              <a:rPr lang="en-IN" altLang="en-US"/>
              <a:t>    // Access value function within ns2 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cout &lt;&lt; ns2::value() &lt;&lt; '\n';  </a:t>
            </a:r>
          </a:p>
          <a:p>
            <a:pPr eaLnBrk="1" hangingPunct="1"/>
            <a:r>
              <a:rPr lang="en-IN" altLang="en-US"/>
              <a:t>  </a:t>
            </a:r>
          </a:p>
          <a:p>
            <a:pPr eaLnBrk="1" hangingPunct="1"/>
            <a:r>
              <a:rPr lang="en-IN" altLang="en-US"/>
              <a:t>    // Access variable x directly </a:t>
            </a:r>
          </a:p>
          <a:p>
            <a:pPr eaLnBrk="1" hangingPunct="1"/>
            <a:r>
              <a:rPr lang="en-IN" altLang="en-US"/>
              <a:t>    </a:t>
            </a:r>
            <a:r>
              <a:rPr lang="en-IN" altLang="en-US">
                <a:solidFill>
                  <a:srgbClr val="C00000"/>
                </a:solidFill>
              </a:rPr>
              <a:t>cout &lt;&lt; ns2::x &lt;&lt; '\n';        </a:t>
            </a:r>
          </a:p>
          <a:p>
            <a:pPr eaLnBrk="1" hangingPunct="1"/>
            <a:r>
              <a:rPr lang="en-IN" altLang="en-US"/>
              <a:t>  </a:t>
            </a:r>
          </a:p>
          <a:p>
            <a:pPr eaLnBrk="1" hangingPunct="1"/>
            <a:r>
              <a:rPr lang="en-IN" altLang="en-US"/>
              <a:t>    return 0; </a:t>
            </a:r>
          </a:p>
          <a:p>
            <a:pPr eaLnBrk="1" hangingPunct="1"/>
            <a:r>
              <a:rPr lang="en-IN" altLang="en-US"/>
              <a:t>} </a:t>
            </a:r>
          </a:p>
        </p:txBody>
      </p:sp>
      <p:sp>
        <p:nvSpPr>
          <p:cNvPr id="68614" name="Rectangle 4">
            <a:extLst>
              <a:ext uri="{FF2B5EF4-FFF2-40B4-BE49-F238E27FC236}">
                <a16:creationId xmlns:a16="http://schemas.microsoft.com/office/drawing/2014/main" id="{178B5397-8610-4DC4-BA4E-D0EA9D814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648200"/>
            <a:ext cx="1447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b="1"/>
              <a:t>Output:</a:t>
            </a:r>
          </a:p>
          <a:p>
            <a:pPr eaLnBrk="1" hangingPunct="1"/>
            <a:r>
              <a:rPr lang="en-IN" altLang="en-US"/>
              <a:t>5</a:t>
            </a:r>
          </a:p>
          <a:p>
            <a:pPr eaLnBrk="1" hangingPunct="1"/>
            <a:r>
              <a:rPr lang="en-IN" altLang="en-US"/>
              <a:t>200</a:t>
            </a:r>
          </a:p>
          <a:p>
            <a:pPr eaLnBrk="1" hangingPunct="1"/>
            <a:r>
              <a:rPr lang="en-IN" altLang="en-US"/>
              <a:t>100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EF876D9E-91F6-45E6-B4EE-5DF242492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Namespaces in C++</a:t>
            </a:r>
            <a:endParaRPr lang="en-IN" altLang="en-US"/>
          </a:p>
        </p:txBody>
      </p:sp>
      <p:sp>
        <p:nvSpPr>
          <p:cNvPr id="69635" name="Slide Number Placeholder 3">
            <a:extLst>
              <a:ext uri="{FF2B5EF4-FFF2-40B4-BE49-F238E27FC236}">
                <a16:creationId xmlns:a16="http://schemas.microsoft.com/office/drawing/2014/main" id="{B45D2002-27EC-405C-BE0F-E4260B34F6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D5AF70-B0B4-4682-B477-9B2D8A0C326C}" type="slidenum">
              <a:rPr lang="en-US" altLang="en-US">
                <a:latin typeface="Times New Roman" panose="02020603050405020304" pitchFamily="18" charset="0"/>
              </a:rPr>
              <a:pPr/>
              <a:t>57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6" name="Rectangle 1">
            <a:extLst>
              <a:ext uri="{FF2B5EF4-FFF2-40B4-BE49-F238E27FC236}">
                <a16:creationId xmlns:a16="http://schemas.microsoft.com/office/drawing/2014/main" id="{F97C649C-14C3-46E2-9587-7D94C4C7E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8" y="1349375"/>
            <a:ext cx="5014912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// A C++ program to demonstrate use of class  in a namespace </a:t>
            </a:r>
          </a:p>
          <a:p>
            <a:pPr eaLnBrk="1" hangingPunct="1"/>
            <a:r>
              <a:rPr lang="en-IN" altLang="en-US"/>
              <a:t>#include &lt;iostream&gt; </a:t>
            </a:r>
          </a:p>
          <a:p>
            <a:pPr eaLnBrk="1" hangingPunct="1"/>
            <a:r>
              <a:rPr lang="en-IN" altLang="en-US"/>
              <a:t>using namespace std; </a:t>
            </a:r>
          </a:p>
          <a:p>
            <a:pPr eaLnBrk="1" hangingPunct="1"/>
            <a:r>
              <a:rPr lang="en-IN" altLang="en-US"/>
              <a:t> namespace ns </a:t>
            </a:r>
          </a:p>
          <a:p>
            <a:pPr eaLnBrk="1" hangingPunct="1"/>
            <a:r>
              <a:rPr lang="en-IN" altLang="en-US"/>
              <a:t>{ </a:t>
            </a:r>
          </a:p>
          <a:p>
            <a:pPr eaLnBrk="1" hangingPunct="1"/>
            <a:r>
              <a:rPr lang="en-IN" altLang="en-US"/>
              <a:t>    // A Class in a namespace </a:t>
            </a:r>
          </a:p>
          <a:p>
            <a:pPr eaLnBrk="1" hangingPunct="1"/>
            <a:r>
              <a:rPr lang="en-IN" altLang="en-US"/>
              <a:t>    class geek </a:t>
            </a:r>
          </a:p>
          <a:p>
            <a:pPr eaLnBrk="1" hangingPunct="1"/>
            <a:r>
              <a:rPr lang="en-IN" altLang="en-US"/>
              <a:t>    { </a:t>
            </a:r>
          </a:p>
          <a:p>
            <a:pPr eaLnBrk="1" hangingPunct="1"/>
            <a:r>
              <a:rPr lang="en-IN" altLang="en-US"/>
              <a:t>         public: </a:t>
            </a:r>
          </a:p>
          <a:p>
            <a:pPr eaLnBrk="1" hangingPunct="1"/>
            <a:r>
              <a:rPr lang="en-IN" altLang="en-US"/>
              <a:t>             void display() </a:t>
            </a:r>
          </a:p>
          <a:p>
            <a:pPr eaLnBrk="1" hangingPunct="1"/>
            <a:r>
              <a:rPr lang="en-IN" altLang="en-US"/>
              <a:t>             { </a:t>
            </a:r>
          </a:p>
          <a:p>
            <a:pPr eaLnBrk="1" hangingPunct="1"/>
            <a:r>
              <a:rPr lang="en-IN" altLang="en-US"/>
              <a:t>                    cout &lt;&lt; "ns::geek::display()\n"; </a:t>
            </a:r>
          </a:p>
          <a:p>
            <a:pPr eaLnBrk="1" hangingPunct="1"/>
            <a:r>
              <a:rPr lang="en-IN" altLang="en-US"/>
              <a:t>             } </a:t>
            </a:r>
          </a:p>
          <a:p>
            <a:pPr eaLnBrk="1" hangingPunct="1"/>
            <a:r>
              <a:rPr lang="en-IN" altLang="en-US"/>
              <a:t>    }; </a:t>
            </a:r>
          </a:p>
          <a:p>
            <a:pPr eaLnBrk="1" hangingPunct="1"/>
            <a:r>
              <a:rPr lang="en-IN" altLang="en-US"/>
              <a:t>} </a:t>
            </a:r>
          </a:p>
        </p:txBody>
      </p:sp>
      <p:sp>
        <p:nvSpPr>
          <p:cNvPr id="69637" name="Rectangle 3">
            <a:extLst>
              <a:ext uri="{FF2B5EF4-FFF2-40B4-BE49-F238E27FC236}">
                <a16:creationId xmlns:a16="http://schemas.microsoft.com/office/drawing/2014/main" id="{6B9F0C83-7E06-47D2-9165-6A8388139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905000"/>
            <a:ext cx="45720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int main() </a:t>
            </a:r>
          </a:p>
          <a:p>
            <a:pPr eaLnBrk="1" hangingPunct="1"/>
            <a:r>
              <a:rPr lang="en-IN" altLang="en-US"/>
              <a:t>{ </a:t>
            </a:r>
          </a:p>
          <a:p>
            <a:pPr eaLnBrk="1" hangingPunct="1"/>
            <a:r>
              <a:rPr lang="en-IN" altLang="en-US"/>
              <a:t>    // Creating Object of geek Class </a:t>
            </a:r>
          </a:p>
          <a:p>
            <a:pPr eaLnBrk="1" hangingPunct="1"/>
            <a:r>
              <a:rPr lang="en-IN" altLang="en-US"/>
              <a:t>    ns::geek obj; </a:t>
            </a:r>
          </a:p>
          <a:p>
            <a:pPr eaLnBrk="1" hangingPunct="1"/>
            <a:r>
              <a:rPr lang="en-IN" altLang="en-US"/>
              <a:t>    obj.display(); </a:t>
            </a:r>
          </a:p>
          <a:p>
            <a:pPr eaLnBrk="1" hangingPunct="1"/>
            <a:r>
              <a:rPr lang="en-IN" altLang="en-US"/>
              <a:t>  </a:t>
            </a:r>
          </a:p>
          <a:p>
            <a:pPr eaLnBrk="1" hangingPunct="1"/>
            <a:r>
              <a:rPr lang="en-IN" altLang="en-US"/>
              <a:t>    return 0; </a:t>
            </a:r>
          </a:p>
          <a:p>
            <a:pPr eaLnBrk="1" hangingPunct="1"/>
            <a:r>
              <a:rPr lang="en-IN" altLang="en-US"/>
              <a:t>} </a:t>
            </a:r>
          </a:p>
        </p:txBody>
      </p:sp>
      <p:sp>
        <p:nvSpPr>
          <p:cNvPr id="69638" name="Rectangle 4">
            <a:extLst>
              <a:ext uri="{FF2B5EF4-FFF2-40B4-BE49-F238E27FC236}">
                <a16:creationId xmlns:a16="http://schemas.microsoft.com/office/drawing/2014/main" id="{32519E57-723A-4239-8D91-260093593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5" y="5410200"/>
            <a:ext cx="2819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b="1"/>
              <a:t>Output:</a:t>
            </a:r>
          </a:p>
          <a:p>
            <a:pPr eaLnBrk="1" hangingPunct="1"/>
            <a:r>
              <a:rPr lang="en-IN" altLang="en-US"/>
              <a:t>ns::geek::display()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3E041473-11EF-49E1-8814-7E4FB0D7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Namespaces in C++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28A0D-6E2B-4C4F-BC29-C6248E2C8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A namespace is a declarative region that provides a scope to the identifiers (names of the types, function, variables </a:t>
            </a:r>
            <a:r>
              <a:rPr lang="en-IN" sz="2000" dirty="0" err="1"/>
              <a:t>etc</a:t>
            </a:r>
            <a:r>
              <a:rPr lang="en-IN" sz="2000" dirty="0"/>
              <a:t>) inside it</a:t>
            </a:r>
          </a:p>
          <a:p>
            <a:pPr>
              <a:defRPr/>
            </a:pPr>
            <a:r>
              <a:rPr lang="en-IN" sz="2000" dirty="0"/>
              <a:t>Multiple namespace blocks with the same name are allowed</a:t>
            </a:r>
          </a:p>
          <a:p>
            <a:pPr>
              <a:defRPr/>
            </a:pPr>
            <a:r>
              <a:rPr lang="en-IN" sz="2000" dirty="0"/>
              <a:t>Namespace declarations appear only at global scope</a:t>
            </a:r>
          </a:p>
          <a:p>
            <a:pPr>
              <a:defRPr/>
            </a:pPr>
            <a:r>
              <a:rPr lang="en-IN" sz="2000" dirty="0"/>
              <a:t>Namespace declarations can be nested within another namespace</a:t>
            </a:r>
          </a:p>
          <a:p>
            <a:pPr>
              <a:defRPr/>
            </a:pPr>
            <a:r>
              <a:rPr lang="en-IN" sz="2000" dirty="0"/>
              <a:t>Namespace declarations don’t have access specifiers (public or private)</a:t>
            </a:r>
          </a:p>
          <a:p>
            <a:pPr>
              <a:defRPr/>
            </a:pPr>
            <a:r>
              <a:rPr lang="en-IN" sz="2000" dirty="0"/>
              <a:t>No need to give semicolon after the closing brace of definition of namespace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9DB785AD-5085-4972-863F-5A04B544FD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4BB9C9B-FF6A-417A-B54F-D530F905D2E2}" type="slidenum">
              <a:rPr lang="en-US" altLang="en-US">
                <a:latin typeface="Times New Roman" panose="02020603050405020304" pitchFamily="18" charset="0"/>
              </a:rPr>
              <a:pPr/>
              <a:t>58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15526</TotalTime>
  <Words>4127</Words>
  <Application>Microsoft Office PowerPoint</Application>
  <PresentationFormat>On-screen Show (4:3)</PresentationFormat>
  <Paragraphs>622</Paragraphs>
  <Slides>58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Arial</vt:lpstr>
      <vt:lpstr>Garamond</vt:lpstr>
      <vt:lpstr>Wingdings</vt:lpstr>
      <vt:lpstr>Calibri</vt:lpstr>
      <vt:lpstr>Times New Roman</vt:lpstr>
      <vt:lpstr>Courier New</vt:lpstr>
      <vt:lpstr>Edge</vt:lpstr>
      <vt:lpstr>20XD24 - OBJECT ORIENTED PROGRAMMING   </vt:lpstr>
      <vt:lpstr>Outline</vt:lpstr>
      <vt:lpstr>Text and Reference Books</vt:lpstr>
      <vt:lpstr>Computer Languages </vt:lpstr>
      <vt:lpstr>Brief History of C++ </vt:lpstr>
      <vt:lpstr>Brief History of C++ </vt:lpstr>
      <vt:lpstr>C++ Program  Development  Cycle</vt:lpstr>
      <vt:lpstr>Streams in C++ </vt:lpstr>
      <vt:lpstr>Input and Output in C++</vt:lpstr>
      <vt:lpstr>Input and Output in C++ </vt:lpstr>
      <vt:lpstr>Input and Output in C++</vt:lpstr>
      <vt:lpstr>Why &gt;&gt; and &lt;&lt; for I/O in C++? </vt:lpstr>
      <vt:lpstr>Why &gt;&gt; and &lt;&lt; for I/O in C++? </vt:lpstr>
      <vt:lpstr>Why &gt;&gt; and &lt;&lt; for I/O in C++? </vt:lpstr>
      <vt:lpstr>The Insertion Operator &lt;&lt; </vt:lpstr>
      <vt:lpstr>The Insertion Operator &lt;&lt; </vt:lpstr>
      <vt:lpstr>The Extraction Operator &gt;&gt;</vt:lpstr>
      <vt:lpstr>The Extraction Operator &gt;&gt;</vt:lpstr>
      <vt:lpstr>Advantages of Streams</vt:lpstr>
      <vt:lpstr>The Stream Class Hierarchy</vt:lpstr>
      <vt:lpstr>The Stream Class Hierarchy</vt:lpstr>
      <vt:lpstr>The Stream Class Hierarchy</vt:lpstr>
      <vt:lpstr>The Stream Class Hierarchy</vt:lpstr>
      <vt:lpstr>The Stream Class Hierarchy</vt:lpstr>
      <vt:lpstr>Formatted Console I/O </vt:lpstr>
      <vt:lpstr>Formatted Console I/O </vt:lpstr>
      <vt:lpstr>Manipulators</vt:lpstr>
      <vt:lpstr>Manipulators</vt:lpstr>
      <vt:lpstr>Manipulators</vt:lpstr>
      <vt:lpstr>Manipulators</vt:lpstr>
      <vt:lpstr>Manipulators</vt:lpstr>
      <vt:lpstr>Manipulators</vt:lpstr>
      <vt:lpstr>Manipulators</vt:lpstr>
      <vt:lpstr>Manipulators</vt:lpstr>
      <vt:lpstr>Manipulators</vt:lpstr>
      <vt:lpstr>User-Defined Manipulators</vt:lpstr>
      <vt:lpstr>Member Functions</vt:lpstr>
      <vt:lpstr>Member Functions</vt:lpstr>
      <vt:lpstr>Member Functions</vt:lpstr>
      <vt:lpstr>Unformatted I/O functions</vt:lpstr>
      <vt:lpstr>Unformatted I/O functions</vt:lpstr>
      <vt:lpstr>Unformatted I/O functions</vt:lpstr>
      <vt:lpstr>Reading Strings</vt:lpstr>
      <vt:lpstr>Reading Strings</vt:lpstr>
      <vt:lpstr>Reading Strings</vt:lpstr>
      <vt:lpstr>Namespaces in C++ </vt:lpstr>
      <vt:lpstr>Namespaces in C++ </vt:lpstr>
      <vt:lpstr>Namespaces in C++ </vt:lpstr>
      <vt:lpstr>Namespaces in C++ </vt:lpstr>
      <vt:lpstr>Namespaces in C++</vt:lpstr>
      <vt:lpstr>Preventing Conflicts</vt:lpstr>
      <vt:lpstr>Namespaces in C++</vt:lpstr>
      <vt:lpstr>Namespaces in C++</vt:lpstr>
      <vt:lpstr>The using directive </vt:lpstr>
      <vt:lpstr>Namespaces in C++</vt:lpstr>
      <vt:lpstr>Namespaces in C++</vt:lpstr>
      <vt:lpstr>Namespaces in C++</vt:lpstr>
      <vt:lpstr>Namespaces in C++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vijayalaxmi</dc:creator>
  <cp:lastModifiedBy>cloudconvert_14</cp:lastModifiedBy>
  <cp:revision>1968</cp:revision>
  <dcterms:created xsi:type="dcterms:W3CDTF">2010-06-23T15:53:05Z</dcterms:created>
  <dcterms:modified xsi:type="dcterms:W3CDTF">2026-03-16T12:29:34Z</dcterms:modified>
</cp:coreProperties>
</file>