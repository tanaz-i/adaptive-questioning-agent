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</p:sldMasterIdLst>
  <p:notesMasterIdLst>
    <p:notesMasterId r:id="rId83"/>
  </p:notesMasterIdLst>
  <p:handoutMasterIdLst>
    <p:handoutMasterId r:id="rId84"/>
  </p:handoutMasterIdLst>
  <p:sldIdLst>
    <p:sldId id="489" r:id="rId2"/>
    <p:sldId id="806" r:id="rId3"/>
    <p:sldId id="822" r:id="rId4"/>
    <p:sldId id="823" r:id="rId5"/>
    <p:sldId id="825" r:id="rId6"/>
    <p:sldId id="828" r:id="rId7"/>
    <p:sldId id="827" r:id="rId8"/>
    <p:sldId id="824" r:id="rId9"/>
    <p:sldId id="826" r:id="rId10"/>
    <p:sldId id="829" r:id="rId11"/>
    <p:sldId id="833" r:id="rId12"/>
    <p:sldId id="830" r:id="rId13"/>
    <p:sldId id="831" r:id="rId14"/>
    <p:sldId id="832" r:id="rId15"/>
    <p:sldId id="836" r:id="rId16"/>
    <p:sldId id="834" r:id="rId17"/>
    <p:sldId id="837" r:id="rId18"/>
    <p:sldId id="835" r:id="rId19"/>
    <p:sldId id="841" r:id="rId20"/>
    <p:sldId id="838" r:id="rId21"/>
    <p:sldId id="839" r:id="rId22"/>
    <p:sldId id="840" r:id="rId23"/>
    <p:sldId id="842" r:id="rId24"/>
    <p:sldId id="843" r:id="rId25"/>
    <p:sldId id="859" r:id="rId26"/>
    <p:sldId id="844" r:id="rId27"/>
    <p:sldId id="858" r:id="rId28"/>
    <p:sldId id="863" r:id="rId29"/>
    <p:sldId id="853" r:id="rId30"/>
    <p:sldId id="852" r:id="rId31"/>
    <p:sldId id="854" r:id="rId32"/>
    <p:sldId id="845" r:id="rId33"/>
    <p:sldId id="856" r:id="rId34"/>
    <p:sldId id="857" r:id="rId35"/>
    <p:sldId id="846" r:id="rId36"/>
    <p:sldId id="855" r:id="rId37"/>
    <p:sldId id="860" r:id="rId38"/>
    <p:sldId id="861" r:id="rId39"/>
    <p:sldId id="847" r:id="rId40"/>
    <p:sldId id="862" r:id="rId41"/>
    <p:sldId id="848" r:id="rId42"/>
    <p:sldId id="899" r:id="rId43"/>
    <p:sldId id="865" r:id="rId44"/>
    <p:sldId id="849" r:id="rId45"/>
    <p:sldId id="866" r:id="rId46"/>
    <p:sldId id="867" r:id="rId47"/>
    <p:sldId id="868" r:id="rId48"/>
    <p:sldId id="869" r:id="rId49"/>
    <p:sldId id="870" r:id="rId50"/>
    <p:sldId id="871" r:id="rId51"/>
    <p:sldId id="851" r:id="rId52"/>
    <p:sldId id="850" r:id="rId53"/>
    <p:sldId id="872" r:id="rId54"/>
    <p:sldId id="883" r:id="rId55"/>
    <p:sldId id="884" r:id="rId56"/>
    <p:sldId id="892" r:id="rId57"/>
    <p:sldId id="885" r:id="rId58"/>
    <p:sldId id="886" r:id="rId59"/>
    <p:sldId id="887" r:id="rId60"/>
    <p:sldId id="888" r:id="rId61"/>
    <p:sldId id="889" r:id="rId62"/>
    <p:sldId id="890" r:id="rId63"/>
    <p:sldId id="893" r:id="rId64"/>
    <p:sldId id="901" r:id="rId65"/>
    <p:sldId id="894" r:id="rId66"/>
    <p:sldId id="900" r:id="rId67"/>
    <p:sldId id="895" r:id="rId68"/>
    <p:sldId id="896" r:id="rId69"/>
    <p:sldId id="891" r:id="rId70"/>
    <p:sldId id="873" r:id="rId71"/>
    <p:sldId id="874" r:id="rId72"/>
    <p:sldId id="875" r:id="rId73"/>
    <p:sldId id="876" r:id="rId74"/>
    <p:sldId id="877" r:id="rId75"/>
    <p:sldId id="878" r:id="rId76"/>
    <p:sldId id="879" r:id="rId77"/>
    <p:sldId id="880" r:id="rId78"/>
    <p:sldId id="881" r:id="rId79"/>
    <p:sldId id="882" r:id="rId80"/>
    <p:sldId id="897" r:id="rId81"/>
    <p:sldId id="898" r:id="rId82"/>
  </p:sldIdLst>
  <p:sldSz cx="9144000" cy="6858000" type="screen4x3"/>
  <p:notesSz cx="7023100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04FC"/>
    <a:srgbClr val="A50021"/>
    <a:srgbClr val="660033"/>
    <a:srgbClr val="99CCFF"/>
    <a:srgbClr val="6699FF"/>
    <a:srgbClr val="0BF527"/>
    <a:srgbClr val="666699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20" autoAdjust="0"/>
    <p:restoredTop sz="94533" autoAdjust="0"/>
  </p:normalViewPr>
  <p:slideViewPr>
    <p:cSldViewPr>
      <p:cViewPr>
        <p:scale>
          <a:sx n="66" d="100"/>
          <a:sy n="66" d="100"/>
        </p:scale>
        <p:origin x="-1740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-2886" y="-114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7A8E9E9-1390-46DF-8414-161F14D596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3368EB-169B-4840-9E80-B53A6A6691A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0863BCA-2415-417E-851B-042617E26A24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CE6B9F3-D7B1-462F-BDB6-14D4360370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09F5350-FBA1-4552-8169-93941D60D4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21188"/>
            <a:ext cx="5619750" cy="4189412"/>
          </a:xfrm>
          <a:prstGeom prst="rect">
            <a:avLst/>
          </a:prstGeom>
        </p:spPr>
        <p:txBody>
          <a:bodyPr vert="horz" lIns="93324" tIns="46662" rIns="93324" bIns="46662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BB102-34BD-4EEE-8F46-5FBFC9B2B09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16E20-0CC5-4ED8-9357-C2EA995AF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CB17C1FA-E6ED-4B57-8F37-BAA06B2579F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>
            <a:extLst>
              <a:ext uri="{FF2B5EF4-FFF2-40B4-BE49-F238E27FC236}">
                <a16:creationId xmlns:a16="http://schemas.microsoft.com/office/drawing/2014/main" id="{51084BB0-DB65-4EC1-9686-2FA39CCFA8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>
            <a:extLst>
              <a:ext uri="{FF2B5EF4-FFF2-40B4-BE49-F238E27FC236}">
                <a16:creationId xmlns:a16="http://schemas.microsoft.com/office/drawing/2014/main" id="{38688280-D40E-435E-A8E4-BCFEFC5E15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000C0-3CD0-4876-A876-5D36EA567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D07848-A7F7-4530-9F37-A88FB1157B27}" type="slidenum">
              <a:rPr lang="en-US" altLang="en-US">
                <a:latin typeface="Calibri" panose="020F0502020204030204" pitchFamily="34" charset="0"/>
              </a:rPr>
              <a:pPr eaLnBrk="1" hangingPunct="1"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7BBE8414-E55A-43ED-B895-266F376BAA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4B13D85B-245D-44BF-A8B1-C125823843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A99E4-7805-48C1-BE1E-7AB5B7A24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95E4643-B679-4F42-B977-BB6CF13A66E1}" type="slidenum">
              <a:rPr lang="en-US" altLang="en-US"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1D6943C0-6C81-4C5A-A57F-072AC1681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07E79C1C-FD94-454C-A9BF-C223D5D1F3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>
                <a:solidFill>
                  <a:srgbClr val="2704FC"/>
                </a:solidFill>
              </a:defRPr>
            </a:lvl1pPr>
          </a:lstStyle>
          <a:p>
            <a:r>
              <a:rPr lang="en-US" altLang="en-US" dirty="0"/>
              <a:t>Click to edit Master title style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79179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2704F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/>
              </a:buClr>
              <a:buFont typeface="Wingdings" pitchFamily="2" charset="2"/>
              <a:buChar char="q"/>
              <a:defRPr/>
            </a:lvl1pPr>
            <a:lvl3pPr>
              <a:buClr>
                <a:schemeClr val="accent6"/>
              </a:buClr>
              <a:buFont typeface="Wingdings" pitchFamily="2" charset="2"/>
              <a:buChar char="q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5F6C21EA-1BFE-4DD5-B3E3-9ED891130D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dirty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F6D16C6-6F41-42CD-A7C4-1002E4185A3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C6954528-DCA5-4D4C-9ED9-5F520BC946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0457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4800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5908C-0210-4DC8-99DF-6D3F657920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0C0EE-640E-43C0-AA76-F58B983CB9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BF72C-817F-4C16-8D0C-951FC9136A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84229860-4412-41A6-A9B2-04C762CA97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9387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6958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6961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4861B6B-CA19-45D4-A557-460272E81E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B17D58F-4BE1-48BE-A3FB-F4A1439667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C2CBA6C-D701-4867-AEDF-B1EE04F1B6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3E98F0AD-59B1-4351-9513-81E81E888C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4823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4E344-8BCD-436C-84CF-6E76B210A9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B573B-FF43-46F1-8EE5-50E3E0D683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4BA75-CB9E-4C84-96AF-DF59765C58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7B0331DE-3C3C-4811-AC63-54583C245E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1951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B7FEE-C09B-439C-9272-1459BFE19C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267FE-75CA-4BA1-83AC-899CAE7FBF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4BB27-7C0F-491B-A3FE-8B4549FF0F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8C2361B6-1E82-4AD7-8B48-A958B58D25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137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12B1B6-CB9E-425A-AC52-48990BCEB8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649C3A-DED0-47CA-8682-C447440AE5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BF12E2B-BFF0-444E-8CAB-E44F98890D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C407BED0-55DC-4878-8765-54D6FCA99A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0681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A3F8DFA-4FCD-4CC8-A4B0-8AD7AE8647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E04FD5-0AD8-49E4-B08B-110EE35A2A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4BBB05-DB40-4CFA-A93B-2D88BB64EF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46269ED9-2F3A-4F0D-83D5-6857156C2F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731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258A9C-472D-4BC2-941A-1F031714B5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9111D4-1F82-45A4-AE32-2B32B89BD0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24F34F4-D898-4B40-9670-B22FD43067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92383AA9-9102-452A-AB4F-385971321B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5705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F40B9-06EF-4731-97F9-0A6F2CF5C7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C51A2-F5D1-400F-B09F-38BC71E53D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43211-C8CE-42EF-9F72-44E13A3ED9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2AEE4880-C42E-477B-9A07-9F8FB8376B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048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854B4E2-F1E6-45CC-A85E-1C33E5387B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AB5DDDD-3F21-419A-B697-87FD8346D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Freeform 7">
            <a:extLst>
              <a:ext uri="{FF2B5EF4-FFF2-40B4-BE49-F238E27FC236}">
                <a16:creationId xmlns:a16="http://schemas.microsoft.com/office/drawing/2014/main" id="{927E51C4-A5F0-4D6F-96B3-D456FE358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" name="Line 8">
            <a:extLst>
              <a:ext uri="{FF2B5EF4-FFF2-40B4-BE49-F238E27FC236}">
                <a16:creationId xmlns:a16="http://schemas.microsoft.com/office/drawing/2014/main" id="{0E39997F-3AAC-41AC-9F66-6ACB9230D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257" r:id="rId1"/>
    <p:sldLayoutId id="2147486258" r:id="rId2"/>
    <p:sldLayoutId id="2147486254" r:id="rId3"/>
    <p:sldLayoutId id="2147486259" r:id="rId4"/>
    <p:sldLayoutId id="2147486255" r:id="rId5"/>
    <p:sldLayoutId id="2147486256" r:id="rId6"/>
    <p:sldLayoutId id="2147486260" r:id="rId7"/>
    <p:sldLayoutId id="2147486261" r:id="rId8"/>
    <p:sldLayoutId id="2147486262" r:id="rId9"/>
    <p:sldLayoutId id="2147486263" r:id="rId10"/>
    <p:sldLayoutId id="2147486264" r:id="rId11"/>
    <p:sldLayoutId id="2147486265" r:id="rId12"/>
    <p:sldLayoutId id="2147486266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4">
            <a:extLst>
              <a:ext uri="{FF2B5EF4-FFF2-40B4-BE49-F238E27FC236}">
                <a16:creationId xmlns:a16="http://schemas.microsoft.com/office/drawing/2014/main" id="{164A69BC-9EA5-44E8-ADCE-D5D482461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447800"/>
            <a:ext cx="8001000" cy="3124200"/>
          </a:xfrm>
        </p:spPr>
        <p:txBody>
          <a:bodyPr/>
          <a:lstStyle/>
          <a:p>
            <a:pPr algn="ctr"/>
            <a:r>
              <a:rPr lang="en-US" altLang="en-US" sz="4400" b="1"/>
              <a:t>20XD24 - OBJECT ORIENTED PROGRAMMING</a:t>
            </a:r>
            <a:br>
              <a:rPr lang="en-US" altLang="en-US" sz="4400" b="1"/>
            </a:br>
            <a:br>
              <a:rPr lang="en-US" altLang="en-US" sz="4400" b="1"/>
            </a:br>
            <a:br>
              <a:rPr lang="en-US" altLang="en-US" sz="4400" b="1"/>
            </a:br>
            <a:r>
              <a:rPr lang="en-US" altLang="en-US" sz="4400"/>
              <a:t>Chapter - II</a:t>
            </a:r>
            <a:br>
              <a:rPr lang="en-US" altLang="en-US" sz="4400"/>
            </a:br>
            <a:br>
              <a:rPr lang="en-US" altLang="en-US" sz="4400" b="1"/>
            </a:br>
            <a:br>
              <a:rPr lang="en-US" altLang="en-US" sz="4400" b="1"/>
            </a:br>
            <a:br>
              <a:rPr lang="en-US" altLang="en-US" sz="4400" b="1"/>
            </a:br>
            <a:br>
              <a:rPr lang="en-IN" altLang="en-US" sz="4400"/>
            </a:br>
            <a:br>
              <a:rPr lang="en-US" altLang="en-US" sz="4400" b="1"/>
            </a:br>
            <a:br>
              <a:rPr lang="en-US" altLang="en-US" sz="4400" b="1"/>
            </a:br>
            <a:endParaRPr lang="en-US" altLang="en-US" sz="5400"/>
          </a:p>
        </p:txBody>
      </p:sp>
      <p:sp>
        <p:nvSpPr>
          <p:cNvPr id="12291" name="AutoShape 5">
            <a:extLst>
              <a:ext uri="{FF2B5EF4-FFF2-40B4-BE49-F238E27FC236}">
                <a16:creationId xmlns:a16="http://schemas.microsoft.com/office/drawing/2014/main" id="{E8A4C6C5-DEF8-42F5-A26E-AF1792C03D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24600" y="2743200"/>
            <a:ext cx="10668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2" name="TextBox 5">
            <a:extLst>
              <a:ext uri="{FF2B5EF4-FFF2-40B4-BE49-F238E27FC236}">
                <a16:creationId xmlns:a16="http://schemas.microsoft.com/office/drawing/2014/main" id="{EE8FBDF8-8B13-4B2A-9852-D194E23A1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7620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slow"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F2143D9D-7955-4C2C-AF99-78310A864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547D1-A61F-4ECF-B9BB-72F022EE1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30725"/>
          </a:xfrm>
        </p:spPr>
        <p:txBody>
          <a:bodyPr/>
          <a:lstStyle/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Function Prototyping </a:t>
            </a:r>
          </a:p>
          <a:p>
            <a:pPr>
              <a:defRPr/>
            </a:pPr>
            <a:r>
              <a:rPr lang="en-US" sz="2000" dirty="0"/>
              <a:t>Call by Reference - Return by reference </a:t>
            </a:r>
          </a:p>
          <a:p>
            <a:pPr>
              <a:defRPr/>
            </a:pPr>
            <a:r>
              <a:rPr lang="en-US" sz="2000" dirty="0"/>
              <a:t>Inline functions</a:t>
            </a:r>
          </a:p>
          <a:p>
            <a:pPr>
              <a:defRPr/>
            </a:pPr>
            <a:r>
              <a:rPr lang="en-US" sz="2000" dirty="0"/>
              <a:t>Default, </a:t>
            </a:r>
            <a:r>
              <a:rPr lang="en-US" sz="2000" dirty="0" err="1"/>
              <a:t>Const</a:t>
            </a:r>
            <a:r>
              <a:rPr lang="en-US" sz="2000" dirty="0"/>
              <a:t> Arguments </a:t>
            </a:r>
          </a:p>
          <a:p>
            <a:pPr>
              <a:defRPr/>
            </a:pPr>
            <a:r>
              <a:rPr lang="en-US" sz="2000" dirty="0"/>
              <a:t>Function Overloading </a:t>
            </a: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89968442-572D-4498-8967-39D5AF7CFA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EF914AB-50A7-4430-B338-652B6BB4E9CF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271CB8A-7207-4EB2-B6EB-E2F76F9DD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5E40E-3DC2-424C-8EBB-D953D998D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A function is a collection of statements that performs a specific task</a:t>
            </a:r>
          </a:p>
          <a:p>
            <a:pPr>
              <a:defRPr/>
            </a:pPr>
            <a:r>
              <a:rPr lang="en-IN" sz="2000" dirty="0"/>
              <a:t>A function groups a number of program statements into a unit and gives it a name. This unit can then be invoked from other parts of the program</a:t>
            </a:r>
          </a:p>
          <a:p>
            <a:pPr>
              <a:defRPr/>
            </a:pPr>
            <a:endParaRPr lang="en-IN" sz="1400" dirty="0"/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Library functions  or built-in functions</a:t>
            </a:r>
          </a:p>
          <a:p>
            <a:pPr lvl="1">
              <a:defRPr/>
            </a:pPr>
            <a:r>
              <a:rPr lang="en-IN" sz="2000" dirty="0"/>
              <a:t>Library functions are not required to be written by us</a:t>
            </a:r>
          </a:p>
          <a:p>
            <a:pPr lvl="1">
              <a:defRPr/>
            </a:pPr>
            <a:r>
              <a:rPr lang="en-US" altLang="en-US" sz="2200" dirty="0"/>
              <a:t>The standard C++ library is collection of various types of functions which perform some standard and predefined tasks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User defined functions</a:t>
            </a:r>
          </a:p>
          <a:p>
            <a:pPr lvl="1">
              <a:defRPr/>
            </a:pPr>
            <a:r>
              <a:rPr lang="en-IN" sz="2000" dirty="0"/>
              <a:t>Programmers can create their own function to perform a specific task</a:t>
            </a:r>
          </a:p>
          <a:p>
            <a:pPr lvl="1">
              <a:defRPr/>
            </a:pPr>
            <a:r>
              <a:rPr lang="en-US" altLang="en-US" sz="2000" b="1" dirty="0"/>
              <a:t>Example:</a:t>
            </a:r>
            <a:r>
              <a:rPr lang="en-US" altLang="en-US" sz="2000" dirty="0"/>
              <a:t>  sum (), fact () , show(), display() and etc.,</a:t>
            </a:r>
          </a:p>
          <a:p>
            <a:pPr lvl="1"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8AA481DE-06A5-4916-831B-AC2340A201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359342-81BC-4B88-A299-F56D58E85487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44167ECD-D9FA-4E32-B2BC-9E8022DC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User-Defined Functions</a:t>
            </a:r>
            <a:endParaRPr lang="en-IN" alt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33725-8FA2-4ED3-8FF0-66A23CCB7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b="1" dirty="0"/>
              <a:t>Three components 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Function declaration (or) Function Prototype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Function definition 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Function call </a:t>
            </a:r>
          </a:p>
          <a:p>
            <a:pPr>
              <a:defRPr/>
            </a:pPr>
            <a:endParaRPr lang="en-IN" sz="1400" dirty="0"/>
          </a:p>
          <a:p>
            <a:pPr marL="342900" lvl="1" indent="-342900">
              <a:buClr>
                <a:schemeClr val="accent6"/>
              </a:buClr>
              <a:buSzPct val="65000"/>
              <a:defRPr/>
            </a:pPr>
            <a:r>
              <a:rPr lang="en-IN" sz="2400" dirty="0">
                <a:solidFill>
                  <a:srgbClr val="C00000"/>
                </a:solidFill>
              </a:rPr>
              <a:t>1. Function declaration (or) Function Prototype</a:t>
            </a:r>
          </a:p>
          <a:p>
            <a:pPr>
              <a:defRPr/>
            </a:pPr>
            <a:r>
              <a:rPr lang="en-IN" sz="2000" dirty="0"/>
              <a:t>Function declarations (also called prototypes) since they provide a model or blueprint for the function</a:t>
            </a:r>
          </a:p>
          <a:p>
            <a:pPr>
              <a:defRPr/>
            </a:pPr>
            <a:r>
              <a:rPr lang="en-IN" sz="2000" dirty="0"/>
              <a:t>Tells the compiler - The information the return type, the name, the number and types of any arguments - is also sometimes referred to as the function signature</a:t>
            </a:r>
          </a:p>
          <a:p>
            <a:pPr>
              <a:defRPr/>
            </a:pPr>
            <a:r>
              <a:rPr lang="en-IN" sz="2000" b="1" dirty="0"/>
              <a:t>Syntax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</a:t>
            </a:r>
            <a:r>
              <a:rPr lang="en-IN" sz="2000" dirty="0" err="1">
                <a:solidFill>
                  <a:srgbClr val="C00000"/>
                </a:solidFill>
              </a:rPr>
              <a:t>return_type</a:t>
            </a:r>
            <a:r>
              <a:rPr lang="en-IN" sz="2000" dirty="0">
                <a:solidFill>
                  <a:srgbClr val="C00000"/>
                </a:solidFill>
              </a:rPr>
              <a:t> </a:t>
            </a:r>
            <a:r>
              <a:rPr lang="en-IN" sz="2000" dirty="0" err="1">
                <a:solidFill>
                  <a:srgbClr val="C00000"/>
                </a:solidFill>
              </a:rPr>
              <a:t>function_name</a:t>
            </a:r>
            <a:r>
              <a:rPr lang="en-IN" sz="2000" dirty="0">
                <a:solidFill>
                  <a:srgbClr val="C00000"/>
                </a:solidFill>
              </a:rPr>
              <a:t> (type1 arg1, type2 arg2, …type n </a:t>
            </a:r>
            <a:r>
              <a:rPr lang="en-IN" sz="2000" dirty="0" err="1">
                <a:solidFill>
                  <a:srgbClr val="C00000"/>
                </a:solidFill>
              </a:rPr>
              <a:t>argn</a:t>
            </a:r>
            <a:r>
              <a:rPr lang="en-IN" sz="2000" dirty="0">
                <a:solidFill>
                  <a:srgbClr val="C00000"/>
                </a:solidFill>
              </a:rPr>
              <a:t>);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EA6EA43A-6B99-4E6F-A599-2B6F7AB616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024BC1-85F4-489D-A21A-771C0144A694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34AD0E13-E768-47D0-B39B-5DFF890A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User-Defined Functions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7FB7A-BC74-48D4-AC85-40DADFDA1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275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Return-type </a:t>
            </a:r>
          </a:p>
          <a:p>
            <a:pPr lvl="1">
              <a:buClr>
                <a:srgbClr val="C00000"/>
              </a:buClr>
              <a:defRPr/>
            </a:pPr>
            <a:r>
              <a:rPr lang="en-US" altLang="en-US" sz="2000" dirty="0"/>
              <a:t>Specifies the type of value that a function returns using the return statement</a:t>
            </a:r>
          </a:p>
          <a:p>
            <a:pPr lvl="1">
              <a:buClr>
                <a:srgbClr val="C00000"/>
              </a:buClr>
              <a:defRPr/>
            </a:pPr>
            <a:r>
              <a:rPr lang="en-US" altLang="en-US" sz="2000" dirty="0"/>
              <a:t>It can be any built-in or user-defined data type</a:t>
            </a:r>
          </a:p>
          <a:p>
            <a:pPr lvl="1">
              <a:buClr>
                <a:srgbClr val="C00000"/>
              </a:buClr>
              <a:defRPr/>
            </a:pPr>
            <a:r>
              <a:rPr lang="en-US" altLang="en-US" sz="2000" dirty="0"/>
              <a:t>If no data type is specified the function is assumed to return an integer result</a:t>
            </a:r>
          </a:p>
          <a:p>
            <a:pPr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Function-name</a:t>
            </a:r>
          </a:p>
          <a:p>
            <a:pPr lvl="1">
              <a:buClr>
                <a:srgbClr val="C00000"/>
              </a:buClr>
              <a:defRPr/>
            </a:pPr>
            <a:r>
              <a:rPr lang="en-US" altLang="en-US" sz="1800" dirty="0"/>
              <a:t> </a:t>
            </a:r>
            <a:r>
              <a:rPr lang="en-US" altLang="en-US" sz="2000" dirty="0"/>
              <a:t>Must follow same rules of variable names in C++</a:t>
            </a:r>
          </a:p>
          <a:p>
            <a:pPr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Argument declaration</a:t>
            </a:r>
          </a:p>
          <a:p>
            <a:pPr lvl="1">
              <a:buClr>
                <a:srgbClr val="C00000"/>
              </a:buClr>
              <a:defRPr/>
            </a:pPr>
            <a:r>
              <a:rPr lang="en-US" altLang="en-US" sz="2000" dirty="0"/>
              <a:t>It is a comma-separated list of variables that receive the values of the argument when function is called</a:t>
            </a:r>
          </a:p>
          <a:p>
            <a:pPr lvl="1">
              <a:buClr>
                <a:srgbClr val="C00000"/>
              </a:buClr>
              <a:defRPr/>
            </a:pPr>
            <a:r>
              <a:rPr lang="en-US" altLang="en-US" sz="2000" dirty="0"/>
              <a:t>If there is no argument declaration the bracket consists of keyword void</a:t>
            </a:r>
          </a:p>
          <a:p>
            <a:pPr>
              <a:defRPr/>
            </a:pPr>
            <a:endParaRPr lang="en-IN" dirty="0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F2BD3911-2EF1-4542-9CE4-8F6D0799A9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CCC851-157F-4FD9-BEA9-94A875395EB2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B00CB3EE-129C-4A6B-BB0E-845E5E58E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User-Defined Functions</a:t>
            </a:r>
            <a:endParaRPr lang="en-IN" alt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45501-B5C8-4BD0-A00A-5350D470D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400" dirty="0">
                <a:solidFill>
                  <a:srgbClr val="C00000"/>
                </a:solidFill>
              </a:rPr>
              <a:t>Examples – Function Prototype</a:t>
            </a:r>
          </a:p>
          <a:p>
            <a:pPr lvl="1">
              <a:defRPr/>
            </a:pPr>
            <a:r>
              <a:rPr lang="en-IN" sz="2000" dirty="0" err="1"/>
              <a:t>int</a:t>
            </a:r>
            <a:r>
              <a:rPr lang="en-IN" sz="2000" dirty="0"/>
              <a:t> factorial (</a:t>
            </a:r>
            <a:r>
              <a:rPr lang="en-IN" sz="2000" dirty="0" err="1"/>
              <a:t>int</a:t>
            </a:r>
            <a:r>
              <a:rPr lang="en-IN" sz="2000" dirty="0"/>
              <a:t> n);</a:t>
            </a:r>
          </a:p>
          <a:p>
            <a:pPr lvl="1">
              <a:defRPr/>
            </a:pPr>
            <a:r>
              <a:rPr lang="en-IN" sz="2000" dirty="0" err="1"/>
              <a:t>int</a:t>
            </a:r>
            <a:r>
              <a:rPr lang="en-IN" sz="2000" dirty="0"/>
              <a:t> factorial (</a:t>
            </a:r>
            <a:r>
              <a:rPr lang="en-IN" sz="2000" dirty="0" err="1"/>
              <a:t>int</a:t>
            </a:r>
            <a:r>
              <a:rPr lang="en-IN" sz="2000" dirty="0"/>
              <a:t>);   </a:t>
            </a:r>
            <a:r>
              <a:rPr lang="en-IN" sz="2000" dirty="0">
                <a:solidFill>
                  <a:srgbClr val="C00000"/>
                </a:solidFill>
              </a:rPr>
              <a:t>// mentioning the argument name is optional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factorial (</a:t>
            </a:r>
            <a:r>
              <a:rPr lang="en-IN" sz="2000" dirty="0" err="1">
                <a:solidFill>
                  <a:srgbClr val="C00000"/>
                </a:solidFill>
              </a:rPr>
              <a:t>int</a:t>
            </a:r>
            <a:r>
              <a:rPr lang="en-IN" sz="2000" dirty="0">
                <a:solidFill>
                  <a:srgbClr val="C00000"/>
                </a:solidFill>
              </a:rPr>
              <a:t>);       // default return type is </a:t>
            </a:r>
            <a:r>
              <a:rPr lang="en-IN" sz="2000" dirty="0" err="1">
                <a:solidFill>
                  <a:srgbClr val="C00000"/>
                </a:solidFill>
              </a:rPr>
              <a:t>int</a:t>
            </a:r>
            <a:endParaRPr lang="en-IN" sz="2000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IN" sz="2000" dirty="0"/>
              <a:t>void print(void);  </a:t>
            </a:r>
            <a:r>
              <a:rPr lang="en-IN" sz="2000" dirty="0">
                <a:solidFill>
                  <a:srgbClr val="C00000"/>
                </a:solidFill>
              </a:rPr>
              <a:t>// </a:t>
            </a:r>
            <a:r>
              <a:rPr lang="en-US" sz="2000" dirty="0">
                <a:solidFill>
                  <a:srgbClr val="C00000"/>
                </a:solidFill>
                <a:cs typeface="Segoe UI Semilight" pitchFamily="34" charset="0"/>
              </a:rPr>
              <a:t>1</a:t>
            </a:r>
            <a:r>
              <a:rPr lang="en-US" sz="2000" baseline="30000" dirty="0">
                <a:solidFill>
                  <a:srgbClr val="C00000"/>
                </a:solidFill>
                <a:cs typeface="Segoe UI Semilight" pitchFamily="34" charset="0"/>
              </a:rPr>
              <a:t>st</a:t>
            </a:r>
            <a:r>
              <a:rPr lang="en-US" sz="2000" dirty="0">
                <a:solidFill>
                  <a:srgbClr val="C00000"/>
                </a:solidFill>
                <a:cs typeface="Segoe UI Semilight" pitchFamily="34" charset="0"/>
              </a:rPr>
              <a:t> void means no value returned, 2</a:t>
            </a:r>
            <a:r>
              <a:rPr lang="en-US" sz="2000" baseline="30000" dirty="0">
                <a:solidFill>
                  <a:srgbClr val="C00000"/>
                </a:solidFill>
                <a:cs typeface="Segoe UI Semilight" pitchFamily="34" charset="0"/>
              </a:rPr>
              <a:t>nd</a:t>
            </a:r>
            <a:r>
              <a:rPr lang="en-US" sz="2000" dirty="0">
                <a:solidFill>
                  <a:srgbClr val="C00000"/>
                </a:solidFill>
                <a:cs typeface="Segoe UI Semilight" pitchFamily="34" charset="0"/>
              </a:rPr>
              <a:t> void 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  <a:cs typeface="Segoe UI Semilight" pitchFamily="34" charset="0"/>
              </a:rPr>
              <a:t>                                    means no input arguments</a:t>
            </a:r>
          </a:p>
          <a:p>
            <a:pPr lvl="1">
              <a:defRPr/>
            </a:pPr>
            <a:r>
              <a:rPr lang="en-IN" sz="2000" dirty="0"/>
              <a:t>void print( );</a:t>
            </a:r>
          </a:p>
          <a:p>
            <a:pPr lvl="1">
              <a:defRPr/>
            </a:pPr>
            <a:r>
              <a:rPr lang="en-IN" sz="2000" dirty="0" err="1"/>
              <a:t>int</a:t>
            </a:r>
            <a:r>
              <a:rPr lang="en-IN" sz="2000" dirty="0"/>
              <a:t> sum(</a:t>
            </a:r>
            <a:r>
              <a:rPr lang="en-IN" sz="2000" dirty="0" err="1"/>
              <a:t>int</a:t>
            </a:r>
            <a:r>
              <a:rPr lang="en-IN" sz="2000" dirty="0"/>
              <a:t> a, </a:t>
            </a:r>
            <a:r>
              <a:rPr lang="en-IN" sz="2000" dirty="0" err="1"/>
              <a:t>int</a:t>
            </a:r>
            <a:r>
              <a:rPr lang="en-IN" sz="2000" dirty="0"/>
              <a:t> b, </a:t>
            </a:r>
            <a:r>
              <a:rPr lang="en-IN" sz="2000" dirty="0" err="1"/>
              <a:t>int</a:t>
            </a:r>
            <a:r>
              <a:rPr lang="en-IN" sz="2000" dirty="0"/>
              <a:t> c);</a:t>
            </a:r>
          </a:p>
          <a:p>
            <a:pPr lvl="1">
              <a:defRPr/>
            </a:pPr>
            <a:r>
              <a:rPr lang="en-IN" sz="2000" dirty="0" err="1"/>
              <a:t>int</a:t>
            </a:r>
            <a:r>
              <a:rPr lang="en-IN" sz="2000" dirty="0"/>
              <a:t> </a:t>
            </a:r>
            <a:r>
              <a:rPr lang="en-IN" sz="2000" dirty="0" err="1"/>
              <a:t>fn</a:t>
            </a:r>
            <a:r>
              <a:rPr lang="en-IN" sz="2000" dirty="0"/>
              <a:t>(float, float);</a:t>
            </a:r>
          </a:p>
          <a:p>
            <a:pPr lvl="1">
              <a:defRPr/>
            </a:pPr>
            <a:r>
              <a:rPr lang="en-US" sz="2000" dirty="0"/>
              <a:t>void </a:t>
            </a:r>
            <a:r>
              <a:rPr lang="en-US" sz="2000" dirty="0" err="1"/>
              <a:t>draw_circle</a:t>
            </a:r>
            <a:r>
              <a:rPr lang="en-US" sz="2000" dirty="0"/>
              <a:t>(void);</a:t>
            </a:r>
            <a:endParaRPr lang="en-IN" sz="2000" dirty="0"/>
          </a:p>
          <a:p>
            <a:pPr lvl="1">
              <a:defRPr/>
            </a:pPr>
            <a:r>
              <a:rPr lang="en-US" sz="2000" dirty="0"/>
              <a:t>double </a:t>
            </a:r>
            <a:r>
              <a:rPr lang="en-US" sz="2000" dirty="0" err="1"/>
              <a:t>find_area</a:t>
            </a:r>
            <a:r>
              <a:rPr lang="en-US" sz="2000" dirty="0"/>
              <a:t>(double r);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endParaRPr lang="en-IN" sz="2000" dirty="0"/>
          </a:p>
          <a:p>
            <a:pPr>
              <a:defRPr/>
            </a:pPr>
            <a:endParaRPr lang="en-IN" sz="2400" dirty="0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EA2DE07C-3665-41A8-ABB7-4B2F5508C5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EEC14D-D8C7-4C47-BA52-408E6036B087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7B6B4C6A-FB3C-48FA-8838-2875973C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User-Defined Functions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9A930-11C6-4B44-8563-850D8756D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400" dirty="0">
                <a:solidFill>
                  <a:srgbClr val="C00000"/>
                </a:solidFill>
              </a:rPr>
              <a:t>2. Function Definition</a:t>
            </a: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IN" sz="2000" dirty="0"/>
              <a:t>A function definition requires all parts of the function</a:t>
            </a:r>
          </a:p>
          <a:p>
            <a:pPr>
              <a:defRPr/>
            </a:pPr>
            <a:r>
              <a:rPr lang="en-IN" sz="2000" b="1" dirty="0"/>
              <a:t>A header - </a:t>
            </a:r>
            <a:r>
              <a:rPr lang="en-IN" sz="2000" dirty="0"/>
              <a:t>which includes the function return type, the name of the function, and an argument list (formal parameters), and</a:t>
            </a:r>
          </a:p>
          <a:p>
            <a:pPr>
              <a:defRPr/>
            </a:pPr>
            <a:r>
              <a:rPr lang="en-IN" sz="2000" b="1" dirty="0"/>
              <a:t>A function body </a:t>
            </a:r>
            <a:r>
              <a:rPr lang="en-IN" sz="2000" dirty="0"/>
              <a:t>- The function body contains the code that carries out the function's tasks</a:t>
            </a: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IN" sz="2000" dirty="0"/>
              <a:t>A function definition is distinguished from a prototype, which does not have a body, and is distinguished from a function call, which does not have the data type of the arguments or the return value</a:t>
            </a:r>
            <a:endParaRPr lang="en-IN" sz="2000" dirty="0">
              <a:solidFill>
                <a:srgbClr val="C00000"/>
              </a:solidFill>
            </a:endParaRP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A085373F-A99C-4989-9E8D-F7FC3E74F9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D608AD-99D4-406B-8479-51B4B64036AA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1DB24028-84DF-47DD-9EF4-A40B11CF1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User-Defined Functions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9EA77-BECE-4427-8379-516076235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0025"/>
            <a:ext cx="8229600" cy="4530725"/>
          </a:xfrm>
        </p:spPr>
        <p:txBody>
          <a:bodyPr/>
          <a:lstStyle/>
          <a:p>
            <a:pPr>
              <a:defRPr/>
            </a:pPr>
            <a:endParaRPr lang="en-US" altLang="en-US" sz="2000" b="1" dirty="0"/>
          </a:p>
          <a:p>
            <a:pPr>
              <a:defRPr/>
            </a:pPr>
            <a:endParaRPr lang="en-US" altLang="en-US" sz="2000" b="1" dirty="0"/>
          </a:p>
          <a:p>
            <a:pPr>
              <a:defRPr/>
            </a:pPr>
            <a:endParaRPr lang="en-US" altLang="en-US" sz="2000" b="1" dirty="0"/>
          </a:p>
          <a:p>
            <a:pPr>
              <a:defRPr/>
            </a:pPr>
            <a:endParaRPr lang="en-US" altLang="en-US" sz="2000" b="1" dirty="0"/>
          </a:p>
          <a:p>
            <a:pPr>
              <a:defRPr/>
            </a:pPr>
            <a:endParaRPr lang="en-US" altLang="en-US" sz="2000" b="1" dirty="0"/>
          </a:p>
          <a:p>
            <a:pPr>
              <a:defRPr/>
            </a:pPr>
            <a:endParaRPr lang="en-US" altLang="en-US" sz="2000" b="1" dirty="0"/>
          </a:p>
          <a:p>
            <a:pPr>
              <a:defRPr/>
            </a:pPr>
            <a:endParaRPr lang="en-US" altLang="en-US" sz="2000" b="1" dirty="0"/>
          </a:p>
          <a:p>
            <a:pPr>
              <a:defRPr/>
            </a:pPr>
            <a:endParaRPr lang="en-US" altLang="en-US" sz="2000" b="1" dirty="0"/>
          </a:p>
          <a:p>
            <a:pPr>
              <a:defRPr/>
            </a:pPr>
            <a:endParaRPr lang="en-IN" sz="2000" dirty="0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8457A607-6E59-47DF-9167-80D2CCC932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589F27-051C-4AE1-BA3C-A8C764996724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19461" name="Picture 2">
            <a:extLst>
              <a:ext uri="{FF2B5EF4-FFF2-40B4-BE49-F238E27FC236}">
                <a16:creationId xmlns:a16="http://schemas.microsoft.com/office/drawing/2014/main" id="{5919FE40-405A-4CC8-B683-618DEB7F8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95400"/>
            <a:ext cx="5029200" cy="359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2" name="Picture 3">
            <a:extLst>
              <a:ext uri="{FF2B5EF4-FFF2-40B4-BE49-F238E27FC236}">
                <a16:creationId xmlns:a16="http://schemas.microsoft.com/office/drawing/2014/main" id="{7B82C170-F79A-47A9-AC30-C2143DC2A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724400"/>
            <a:ext cx="3362325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1A3425A-8BFC-484E-89F1-5DDCF1CD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User-Defined Functions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BE45D-8FA9-4C44-BA3A-A3882BEEE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400" dirty="0">
                <a:solidFill>
                  <a:srgbClr val="C00000"/>
                </a:solidFill>
              </a:rPr>
              <a:t>3. Function Call</a:t>
            </a:r>
          </a:p>
          <a:p>
            <a:pPr>
              <a:defRPr/>
            </a:pPr>
            <a:r>
              <a:rPr lang="en-IN" sz="2000" dirty="0"/>
              <a:t>A function call is a statement that causes a function to execute</a:t>
            </a:r>
          </a:p>
          <a:p>
            <a:pPr>
              <a:defRPr/>
            </a:pPr>
            <a:r>
              <a:rPr lang="en-IN" sz="2000" dirty="0"/>
              <a:t>When a function is called, the program branches to that function and executes the statements in its body</a:t>
            </a:r>
          </a:p>
          <a:p>
            <a:pPr>
              <a:defRPr/>
            </a:pPr>
            <a:r>
              <a:rPr lang="en-IN" sz="2000" dirty="0"/>
              <a:t>The parameters in the function call are called </a:t>
            </a:r>
            <a:r>
              <a:rPr lang="en-IN" sz="2000" b="1" dirty="0"/>
              <a:t>actual parameters</a:t>
            </a:r>
          </a:p>
          <a:p>
            <a:pPr>
              <a:defRPr/>
            </a:pPr>
            <a:r>
              <a:rPr lang="en-IN" sz="2000" dirty="0"/>
              <a:t>Function call does NOT have typing information</a:t>
            </a:r>
          </a:p>
          <a:p>
            <a:pPr>
              <a:defRPr/>
            </a:pPr>
            <a:r>
              <a:rPr lang="en-IN" sz="2000" dirty="0"/>
              <a:t>It is possible to have many functions and function calls in a program</a:t>
            </a:r>
          </a:p>
          <a:p>
            <a:pPr>
              <a:defRPr/>
            </a:pPr>
            <a:r>
              <a:rPr lang="en-IN" sz="2000" b="1" dirty="0"/>
              <a:t>Syntax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          </a:t>
            </a:r>
            <a:r>
              <a:rPr lang="en-IN" sz="2000" dirty="0" err="1">
                <a:solidFill>
                  <a:srgbClr val="C00000"/>
                </a:solidFill>
              </a:rPr>
              <a:t>function_name</a:t>
            </a:r>
            <a:r>
              <a:rPr lang="en-IN" sz="2000" dirty="0">
                <a:solidFill>
                  <a:srgbClr val="C00000"/>
                </a:solidFill>
              </a:rPr>
              <a:t>(variable1, variable2,…);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         (or)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         </a:t>
            </a:r>
            <a:r>
              <a:rPr lang="en-IN" sz="2000" dirty="0" err="1">
                <a:solidFill>
                  <a:srgbClr val="C00000"/>
                </a:solidFill>
              </a:rPr>
              <a:t>variable_name</a:t>
            </a:r>
            <a:r>
              <a:rPr lang="en-IN" sz="2000" dirty="0">
                <a:solidFill>
                  <a:srgbClr val="C00000"/>
                </a:solidFill>
              </a:rPr>
              <a:t> = </a:t>
            </a:r>
            <a:r>
              <a:rPr lang="en-IN" sz="2000" dirty="0" err="1">
                <a:solidFill>
                  <a:srgbClr val="C00000"/>
                </a:solidFill>
              </a:rPr>
              <a:t>function_name</a:t>
            </a:r>
            <a:r>
              <a:rPr lang="en-IN" sz="2000" dirty="0">
                <a:solidFill>
                  <a:srgbClr val="C00000"/>
                </a:solidFill>
              </a:rPr>
              <a:t>(variable1, variable2,…);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>
                <a:solidFill>
                  <a:srgbClr val="C00000"/>
                </a:solidFill>
              </a:rPr>
              <a:t>               </a:t>
            </a:r>
            <a:r>
              <a:rPr lang="en-IN" sz="2000" dirty="0" err="1">
                <a:solidFill>
                  <a:srgbClr val="C00000"/>
                </a:solidFill>
              </a:rPr>
              <a:t>cout</a:t>
            </a:r>
            <a:r>
              <a:rPr lang="en-IN" sz="2000" dirty="0">
                <a:solidFill>
                  <a:srgbClr val="C00000"/>
                </a:solidFill>
              </a:rPr>
              <a:t>&lt;&lt;</a:t>
            </a:r>
            <a:r>
              <a:rPr lang="en-IN" sz="2000" dirty="0" err="1">
                <a:solidFill>
                  <a:srgbClr val="C00000"/>
                </a:solidFill>
              </a:rPr>
              <a:t>function_name</a:t>
            </a:r>
            <a:r>
              <a:rPr lang="en-IN" sz="2000" dirty="0">
                <a:solidFill>
                  <a:srgbClr val="C00000"/>
                </a:solidFill>
              </a:rPr>
              <a:t>(variable1, variable2,…);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IN" sz="2000" dirty="0"/>
          </a:p>
          <a:p>
            <a:pPr>
              <a:defRPr/>
            </a:pPr>
            <a:endParaRPr lang="en-IN" sz="2000" b="1" dirty="0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39599702-75A0-4AB0-8A9E-C8D55B6F34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2C0F33-0DA8-460B-BE02-43260CA72CE1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>
            <a:extLst>
              <a:ext uri="{FF2B5EF4-FFF2-40B4-BE49-F238E27FC236}">
                <a16:creationId xmlns:a16="http://schemas.microsoft.com/office/drawing/2014/main" id="{C68AF730-9620-4019-AEBC-1523D56074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C94B799-5AC7-459C-9BC8-B01BD461400A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11CBDD5-8323-4BE0-BCC8-D22FFDB24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85800"/>
            <a:ext cx="50292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sz="1600">
                <a:latin typeface="Courier New" panose="02070309020205020404" pitchFamily="49" charset="0"/>
              </a:rPr>
              <a:t>#include &lt;iostream&gt;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sz="1600">
                <a:latin typeface="Courier New" panose="02070309020205020404" pitchFamily="49" charset="0"/>
              </a:rPr>
              <a:t>using namespace std;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sz="1600">
                <a:latin typeface="Courier New" panose="02070309020205020404" pitchFamily="49" charset="0"/>
              </a:rPr>
              <a:t>#define PI 3.14159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endParaRPr lang="en-US" altLang="en-US" sz="6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sz="1600">
                <a:latin typeface="Courier New" panose="02070309020205020404" pitchFamily="49" charset="0"/>
              </a:rPr>
              <a:t>double find_area(double r);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endParaRPr lang="en-US" altLang="en-US" sz="6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sz="1600">
                <a:latin typeface="Courier New" panose="02070309020205020404" pitchFamily="49" charset="0"/>
              </a:rPr>
              <a:t>int main(void){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sz="1600">
                <a:latin typeface="Courier New" panose="02070309020205020404" pitchFamily="49" charset="0"/>
              </a:rPr>
              <a:t>	double radius, area;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endParaRPr lang="en-US" altLang="en-US" sz="8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sz="1600">
                <a:latin typeface="Courier New" panose="02070309020205020404" pitchFamily="49" charset="0"/>
              </a:rPr>
              <a:t>	cout&lt;&lt;"Enter radius : ";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sz="1600">
                <a:latin typeface="Courier New" panose="02070309020205020404" pitchFamily="49" charset="0"/>
              </a:rPr>
              <a:t>	cin&gt;&gt;radius;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endParaRPr lang="en-US" altLang="en-US" sz="8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sz="1600">
                <a:latin typeface="Courier New" panose="02070309020205020404" pitchFamily="49" charset="0"/>
              </a:rPr>
              <a:t>	area = find_area(radius);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endParaRPr lang="en-US" altLang="en-US" sz="8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sz="1600">
                <a:latin typeface="Courier New" panose="02070309020205020404" pitchFamily="49" charset="0"/>
              </a:rPr>
              <a:t>	cout&lt;&lt;"The area is”&lt;&lt;area;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sz="160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endParaRPr lang="en-US" altLang="en-US" sz="6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sz="1600">
                <a:latin typeface="Courier New" panose="02070309020205020404" pitchFamily="49" charset="0"/>
              </a:rPr>
              <a:t>double find_area(double r){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endParaRPr lang="en-US" altLang="en-US" sz="6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sz="1600">
                <a:latin typeface="Courier New" panose="02070309020205020404" pitchFamily="49" charset="0"/>
              </a:rPr>
              <a:t>	double a;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endParaRPr lang="en-US" altLang="en-US" sz="8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sz="1600">
                <a:latin typeface="Courier New" panose="02070309020205020404" pitchFamily="49" charset="0"/>
              </a:rPr>
              <a:t>	a = PI*r*r;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sz="1600">
                <a:latin typeface="Courier New" panose="02070309020205020404" pitchFamily="49" charset="0"/>
              </a:rPr>
              <a:t>	return (a);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sz="160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endParaRPr lang="en-US" altLang="en-US" sz="1000"/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b="1"/>
              <a:t>Input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b="1"/>
              <a:t>Enter radius : 10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endParaRPr lang="en-US" altLang="en-US" sz="200" b="1"/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b="1"/>
              <a:t>Output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35742A"/>
              </a:buClr>
              <a:buSzPct val="65000"/>
            </a:pPr>
            <a:r>
              <a:rPr lang="en-US" altLang="en-US" b="1"/>
              <a:t>The area is 314.16</a:t>
            </a:r>
          </a:p>
        </p:txBody>
      </p:sp>
      <p:sp>
        <p:nvSpPr>
          <p:cNvPr id="21508" name="AutoShape 4">
            <a:extLst>
              <a:ext uri="{FF2B5EF4-FFF2-40B4-BE49-F238E27FC236}">
                <a16:creationId xmlns:a16="http://schemas.microsoft.com/office/drawing/2014/main" id="{FE487230-AB4C-416B-8A22-C6228F2E6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7638" y="1514475"/>
            <a:ext cx="762000" cy="238125"/>
          </a:xfrm>
          <a:prstGeom prst="leftArrow">
            <a:avLst>
              <a:gd name="adj1" fmla="val 50000"/>
              <a:gd name="adj2" fmla="val 8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21509" name="Text Box 5">
            <a:extLst>
              <a:ext uri="{FF2B5EF4-FFF2-40B4-BE49-F238E27FC236}">
                <a16:creationId xmlns:a16="http://schemas.microsoft.com/office/drawing/2014/main" id="{F4173173-644E-49CC-9393-1B1497BE2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417638"/>
            <a:ext cx="3886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solidFill>
                  <a:srgbClr val="C00000"/>
                </a:solidFill>
                <a:latin typeface="Times New Roman" panose="02020603050405020304" pitchFamily="18" charset="0"/>
              </a:rPr>
              <a:t>Function Declaration/Prototype</a:t>
            </a:r>
          </a:p>
        </p:txBody>
      </p:sp>
      <p:sp>
        <p:nvSpPr>
          <p:cNvPr id="21510" name="AutoShape 6">
            <a:extLst>
              <a:ext uri="{FF2B5EF4-FFF2-40B4-BE49-F238E27FC236}">
                <a16:creationId xmlns:a16="http://schemas.microsoft.com/office/drawing/2014/main" id="{58B168CE-37AC-48B9-B162-EB378006A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4838" y="3038475"/>
            <a:ext cx="762000" cy="238125"/>
          </a:xfrm>
          <a:prstGeom prst="leftArrow">
            <a:avLst>
              <a:gd name="adj1" fmla="val 50000"/>
              <a:gd name="adj2" fmla="val 8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21511" name="Text Box 7">
            <a:extLst>
              <a:ext uri="{FF2B5EF4-FFF2-40B4-BE49-F238E27FC236}">
                <a16:creationId xmlns:a16="http://schemas.microsoft.com/office/drawing/2014/main" id="{193C785D-5D18-45FD-BF37-4C5FA8261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0975" y="2927350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solidFill>
                  <a:srgbClr val="C00000"/>
                </a:solidFill>
                <a:latin typeface="Times New Roman" panose="02020603050405020304" pitchFamily="18" charset="0"/>
              </a:rPr>
              <a:t>Function call</a:t>
            </a:r>
          </a:p>
        </p:txBody>
      </p:sp>
      <p:sp>
        <p:nvSpPr>
          <p:cNvPr id="21512" name="AutoShape 9">
            <a:extLst>
              <a:ext uri="{FF2B5EF4-FFF2-40B4-BE49-F238E27FC236}">
                <a16:creationId xmlns:a16="http://schemas.microsoft.com/office/drawing/2014/main" id="{3FBBB0EE-D409-42D2-9191-17F2C5BF9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0025" y="4051300"/>
            <a:ext cx="762000" cy="238125"/>
          </a:xfrm>
          <a:prstGeom prst="leftArrow">
            <a:avLst>
              <a:gd name="adj1" fmla="val 50000"/>
              <a:gd name="adj2" fmla="val 8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21513" name="Text Box 10">
            <a:extLst>
              <a:ext uri="{FF2B5EF4-FFF2-40B4-BE49-F238E27FC236}">
                <a16:creationId xmlns:a16="http://schemas.microsoft.com/office/drawing/2014/main" id="{D5748915-9055-4CDD-BA8E-665DFC3E8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25" y="3975100"/>
            <a:ext cx="2895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solidFill>
                  <a:srgbClr val="C00000"/>
                </a:solidFill>
                <a:latin typeface="Times New Roman" panose="02020603050405020304" pitchFamily="18" charset="0"/>
              </a:rPr>
              <a:t>Function Header</a:t>
            </a:r>
          </a:p>
        </p:txBody>
      </p:sp>
      <p:sp>
        <p:nvSpPr>
          <p:cNvPr id="21514" name="AutoShape 13">
            <a:extLst>
              <a:ext uri="{FF2B5EF4-FFF2-40B4-BE49-F238E27FC236}">
                <a16:creationId xmlns:a16="http://schemas.microsoft.com/office/drawing/2014/main" id="{8FFDD43D-877F-4F60-B3B7-BE5B2CE4FD14}"/>
              </a:ext>
            </a:extLst>
          </p:cNvPr>
          <p:cNvSpPr>
            <a:spLocks/>
          </p:cNvSpPr>
          <p:nvPr/>
        </p:nvSpPr>
        <p:spPr bwMode="auto">
          <a:xfrm>
            <a:off x="7105650" y="4178300"/>
            <a:ext cx="533400" cy="1295400"/>
          </a:xfrm>
          <a:prstGeom prst="rightBrace">
            <a:avLst>
              <a:gd name="adj1" fmla="val 20238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21515" name="Text Box 14">
            <a:extLst>
              <a:ext uri="{FF2B5EF4-FFF2-40B4-BE49-F238E27FC236}">
                <a16:creationId xmlns:a16="http://schemas.microsoft.com/office/drawing/2014/main" id="{8BA79991-E18C-4C16-9828-97487F8AF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406900"/>
            <a:ext cx="1295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Function Definition</a:t>
            </a:r>
          </a:p>
        </p:txBody>
      </p:sp>
      <p:sp>
        <p:nvSpPr>
          <p:cNvPr id="21516" name="AutoShape 15">
            <a:extLst>
              <a:ext uri="{FF2B5EF4-FFF2-40B4-BE49-F238E27FC236}">
                <a16:creationId xmlns:a16="http://schemas.microsoft.com/office/drawing/2014/main" id="{991A2009-7B07-42E7-85F3-B7C79B8EFF6E}"/>
              </a:ext>
            </a:extLst>
          </p:cNvPr>
          <p:cNvSpPr>
            <a:spLocks/>
          </p:cNvSpPr>
          <p:nvPr/>
        </p:nvSpPr>
        <p:spPr bwMode="auto">
          <a:xfrm>
            <a:off x="5257800" y="4508500"/>
            <a:ext cx="381000" cy="762000"/>
          </a:xfrm>
          <a:prstGeom prst="rightBrace">
            <a:avLst>
              <a:gd name="adj1" fmla="val 1666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21517" name="Text Box 16">
            <a:extLst>
              <a:ext uri="{FF2B5EF4-FFF2-40B4-BE49-F238E27FC236}">
                <a16:creationId xmlns:a16="http://schemas.microsoft.com/office/drawing/2014/main" id="{067779D7-A354-44FA-B184-D465A81F0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521200"/>
            <a:ext cx="1295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Function Body</a:t>
            </a:r>
          </a:p>
        </p:txBody>
      </p:sp>
      <p:sp>
        <p:nvSpPr>
          <p:cNvPr id="21518" name="AutoShape 17">
            <a:extLst>
              <a:ext uri="{FF2B5EF4-FFF2-40B4-BE49-F238E27FC236}">
                <a16:creationId xmlns:a16="http://schemas.microsoft.com/office/drawing/2014/main" id="{B3BB27C6-B4EA-4F16-8A77-77889E1F5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451350"/>
            <a:ext cx="609600" cy="152400"/>
          </a:xfrm>
          <a:prstGeom prst="leftArrow">
            <a:avLst>
              <a:gd name="adj1" fmla="val 50000"/>
              <a:gd name="adj2" fmla="val 10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21519" name="Text Box 18">
            <a:extLst>
              <a:ext uri="{FF2B5EF4-FFF2-40B4-BE49-F238E27FC236}">
                <a16:creationId xmlns:a16="http://schemas.microsoft.com/office/drawing/2014/main" id="{DECE7764-AF5C-4ED3-8181-4C3677AED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8300" y="4327525"/>
            <a:ext cx="2209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Local declarations</a:t>
            </a:r>
          </a:p>
        </p:txBody>
      </p:sp>
      <p:sp>
        <p:nvSpPr>
          <p:cNvPr id="21520" name="AutoShape 21">
            <a:extLst>
              <a:ext uri="{FF2B5EF4-FFF2-40B4-BE49-F238E27FC236}">
                <a16:creationId xmlns:a16="http://schemas.microsoft.com/office/drawing/2014/main" id="{B85B95FC-D6A1-4455-AED8-CECE30D71DB0}"/>
              </a:ext>
            </a:extLst>
          </p:cNvPr>
          <p:cNvSpPr>
            <a:spLocks/>
          </p:cNvSpPr>
          <p:nvPr/>
        </p:nvSpPr>
        <p:spPr bwMode="auto">
          <a:xfrm>
            <a:off x="2514600" y="4826000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21521" name="Text Box 22">
            <a:extLst>
              <a:ext uri="{FF2B5EF4-FFF2-40B4-BE49-F238E27FC236}">
                <a16:creationId xmlns:a16="http://schemas.microsoft.com/office/drawing/2014/main" id="{2148C339-94F5-4EA2-9658-147AFB96C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800600"/>
            <a:ext cx="2895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Executable Statements</a:t>
            </a:r>
          </a:p>
        </p:txBody>
      </p:sp>
      <p:sp>
        <p:nvSpPr>
          <p:cNvPr id="21522" name="Line 25">
            <a:extLst>
              <a:ext uri="{FF2B5EF4-FFF2-40B4-BE49-F238E27FC236}">
                <a16:creationId xmlns:a16="http://schemas.microsoft.com/office/drawing/2014/main" id="{317167F5-5044-4AE7-BE37-14B8E3C45D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00138" y="728663"/>
            <a:ext cx="4729162" cy="841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3" name="Text Box 26">
            <a:extLst>
              <a:ext uri="{FF2B5EF4-FFF2-40B4-BE49-F238E27FC236}">
                <a16:creationId xmlns:a16="http://schemas.microsoft.com/office/drawing/2014/main" id="{8B6C3129-8B20-4229-9B17-1B4A3988C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8338" y="530225"/>
            <a:ext cx="1981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Return Type</a:t>
            </a:r>
          </a:p>
        </p:txBody>
      </p:sp>
      <p:sp>
        <p:nvSpPr>
          <p:cNvPr id="21524" name="Line 27">
            <a:extLst>
              <a:ext uri="{FF2B5EF4-FFF2-40B4-BE49-F238E27FC236}">
                <a16:creationId xmlns:a16="http://schemas.microsoft.com/office/drawing/2014/main" id="{FDA725D5-D3E1-44BB-9867-75FFCB4385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38500" y="1003300"/>
            <a:ext cx="2590800" cy="5667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5" name="Text Box 28">
            <a:extLst>
              <a:ext uri="{FF2B5EF4-FFF2-40B4-BE49-F238E27FC236}">
                <a16:creationId xmlns:a16="http://schemas.microsoft.com/office/drawing/2014/main" id="{A0FC035A-53B5-4CE2-85DE-B736C9DF3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2150" y="850900"/>
            <a:ext cx="287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Formal argument</a:t>
            </a:r>
          </a:p>
        </p:txBody>
      </p:sp>
      <p:sp>
        <p:nvSpPr>
          <p:cNvPr id="21526" name="Line 27">
            <a:extLst>
              <a:ext uri="{FF2B5EF4-FFF2-40B4-BE49-F238E27FC236}">
                <a16:creationId xmlns:a16="http://schemas.microsoft.com/office/drawing/2014/main" id="{194702CE-4EE2-4349-A1AF-190EC5320B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3925" y="2547938"/>
            <a:ext cx="2722563" cy="5508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7" name="Rectangle 47">
            <a:extLst>
              <a:ext uri="{FF2B5EF4-FFF2-40B4-BE49-F238E27FC236}">
                <a16:creationId xmlns:a16="http://schemas.microsoft.com/office/drawing/2014/main" id="{D64DEDB3-0DD7-4AEE-BD86-DA40175F5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2284413"/>
            <a:ext cx="2041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Actual argument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762C1B66-813C-41D6-B989-844124AAB804}"/>
              </a:ext>
            </a:extLst>
          </p:cNvPr>
          <p:cNvSpPr/>
          <p:nvPr/>
        </p:nvSpPr>
        <p:spPr>
          <a:xfrm>
            <a:off x="228600" y="1752600"/>
            <a:ext cx="274638" cy="2057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506FD41-791A-4238-8BED-2337AC4AB953}"/>
              </a:ext>
            </a:extLst>
          </p:cNvPr>
          <p:cNvCxnSpPr/>
          <p:nvPr/>
        </p:nvCxnSpPr>
        <p:spPr>
          <a:xfrm>
            <a:off x="457200" y="3098800"/>
            <a:ext cx="5562600" cy="33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30" name="Rectangle 51">
            <a:extLst>
              <a:ext uri="{FF2B5EF4-FFF2-40B4-BE49-F238E27FC236}">
                <a16:creationId xmlns:a16="http://schemas.microsoft.com/office/drawing/2014/main" id="{9841F31B-B865-482B-B215-C3BA073DC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8" y="3263900"/>
            <a:ext cx="1674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Caller function</a:t>
            </a:r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81D72214-598E-43DD-9610-5A3DA45DB61A}"/>
              </a:ext>
            </a:extLst>
          </p:cNvPr>
          <p:cNvSpPr/>
          <p:nvPr/>
        </p:nvSpPr>
        <p:spPr>
          <a:xfrm>
            <a:off x="228600" y="4038600"/>
            <a:ext cx="274638" cy="14351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3CA1D02-C0B6-4FAF-929F-A129BF0C2914}"/>
              </a:ext>
            </a:extLst>
          </p:cNvPr>
          <p:cNvCxnSpPr/>
          <p:nvPr/>
        </p:nvCxnSpPr>
        <p:spPr>
          <a:xfrm>
            <a:off x="381000" y="5308600"/>
            <a:ext cx="5562600" cy="33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33" name="Rectangle 54">
            <a:extLst>
              <a:ext uri="{FF2B5EF4-FFF2-40B4-BE49-F238E27FC236}">
                <a16:creationId xmlns:a16="http://schemas.microsoft.com/office/drawing/2014/main" id="{4CE407DE-4690-4EF8-9340-8CF73639B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451475"/>
            <a:ext cx="1704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Called function</a:t>
            </a:r>
          </a:p>
        </p:txBody>
      </p:sp>
      <p:sp>
        <p:nvSpPr>
          <p:cNvPr id="21534" name="Rectangle 1">
            <a:extLst>
              <a:ext uri="{FF2B5EF4-FFF2-40B4-BE49-F238E27FC236}">
                <a16:creationId xmlns:a16="http://schemas.microsoft.com/office/drawing/2014/main" id="{3F9F3CAF-1EEC-43E6-840F-624D880E9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152400"/>
            <a:ext cx="3965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2400" b="1">
                <a:solidFill>
                  <a:srgbClr val="C00000"/>
                </a:solidFill>
              </a:rPr>
              <a:t>Anatomy of Functions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24D08E14-7AF7-4FBF-9F28-9EFD83217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Functions</a:t>
            </a:r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AAA64670-F073-4CA8-A339-CBE34EE7A1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0732E0-5E2D-4E8A-968D-74C527AA623E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22532" name="Picture 2">
            <a:extLst>
              <a:ext uri="{FF2B5EF4-FFF2-40B4-BE49-F238E27FC236}">
                <a16:creationId xmlns:a16="http://schemas.microsoft.com/office/drawing/2014/main" id="{1BF4D77E-7598-44D9-AD28-25B2CA422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93788"/>
            <a:ext cx="6553200" cy="505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9E55F732-C342-4A79-A185-248A03A5E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Parameter Passing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02A41-B8EF-4CB9-91E6-7088E57B8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Parameter passing – In C++, data are passed to a function using one of the following techniques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pass by value or call by value 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pass by address or call by address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Pass by Reference</a:t>
            </a:r>
          </a:p>
          <a:p>
            <a:pPr>
              <a:defRPr/>
            </a:pPr>
            <a:endParaRPr lang="en-IN" dirty="0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227025F4-369D-441B-A122-C63F8C225A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BBE7F6-565A-4D3E-B293-690319834DDD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23557" name="Picture 2">
            <a:extLst>
              <a:ext uri="{FF2B5EF4-FFF2-40B4-BE49-F238E27FC236}">
                <a16:creationId xmlns:a16="http://schemas.microsoft.com/office/drawing/2014/main" id="{85AAF710-EA7B-4D1B-807C-232BCB969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505200"/>
            <a:ext cx="7142163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0A3D7729-246C-4C6D-8536-26AB587E8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1. Pass by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5E772-CDAF-4224-9F14-9A20C95C0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When arguments are passed by value, a copy of the argument’s value is made and passed to the called function</a:t>
            </a:r>
          </a:p>
          <a:p>
            <a:pPr>
              <a:defRPr/>
            </a:pPr>
            <a:r>
              <a:rPr lang="en-IN" sz="2000" dirty="0"/>
              <a:t>Changes to the copy do </a:t>
            </a:r>
            <a:r>
              <a:rPr lang="en-IN" sz="2000" i="1" dirty="0"/>
              <a:t>not </a:t>
            </a:r>
            <a:r>
              <a:rPr lang="en-IN" sz="2000" dirty="0"/>
              <a:t>affect an original variable’s value in the caller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Pass-by-value should be used whenever the called function does not need to modify the value of the caller’s original variable</a:t>
            </a:r>
          </a:p>
          <a:p>
            <a:pPr>
              <a:defRPr/>
            </a:pPr>
            <a:r>
              <a:rPr lang="en-IN" sz="2000" dirty="0"/>
              <a:t>This prevents the accidental </a:t>
            </a:r>
            <a:r>
              <a:rPr lang="en-IN" sz="2000" b="1" dirty="0"/>
              <a:t>side effects </a:t>
            </a:r>
            <a:r>
              <a:rPr lang="en-IN" sz="2000" dirty="0"/>
              <a:t>(variable modifications) that so greatly hinder the development of correct and reliable software systems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9213C3F6-1F4C-44B5-BF44-9D49A9AA16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31825A-2C01-4A13-B53F-3A48230FBA2B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FF4A9CDA-9AC6-4923-8418-0164F5B55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1. Pass by value</a:t>
            </a:r>
          </a:p>
        </p:txBody>
      </p:sp>
      <p:sp>
        <p:nvSpPr>
          <p:cNvPr id="25603" name="Slide Number Placeholder 3">
            <a:extLst>
              <a:ext uri="{FF2B5EF4-FFF2-40B4-BE49-F238E27FC236}">
                <a16:creationId xmlns:a16="http://schemas.microsoft.com/office/drawing/2014/main" id="{0E5BDD3C-1E9C-4C4E-BE75-BACA934CA0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5986C3-7B25-4D08-9A3F-A77D47CD5EB6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082AF530-D8BE-4110-B9A5-702D19BDD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914400"/>
            <a:ext cx="87630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2000"/>
              <a:t>#include&lt;iostream.h&gt;</a:t>
            </a:r>
          </a:p>
          <a:p>
            <a:pPr algn="just" eaLnBrk="1" hangingPunct="1"/>
            <a:r>
              <a:rPr lang="en-US" altLang="en-US" sz="2000">
                <a:solidFill>
                  <a:srgbClr val="C00000"/>
                </a:solidFill>
              </a:rPr>
              <a:t>void swap (int , int );</a:t>
            </a:r>
            <a:r>
              <a:rPr lang="en-US" altLang="en-US" sz="2000"/>
              <a:t>	/*function prototype */</a:t>
            </a:r>
          </a:p>
          <a:p>
            <a:pPr algn="just" eaLnBrk="1" hangingPunct="1"/>
            <a:r>
              <a:rPr lang="en-US" altLang="en-US" sz="2000"/>
              <a:t>int main ()</a:t>
            </a:r>
          </a:p>
          <a:p>
            <a:pPr algn="just" eaLnBrk="1" hangingPunct="1"/>
            <a:r>
              <a:rPr lang="en-US" altLang="en-US" sz="2000"/>
              <a:t>{</a:t>
            </a:r>
          </a:p>
          <a:p>
            <a:pPr algn="just" eaLnBrk="1" hangingPunct="1"/>
            <a:r>
              <a:rPr lang="en-US" altLang="en-US" sz="2000"/>
              <a:t>	int a, b;</a:t>
            </a:r>
          </a:p>
          <a:p>
            <a:pPr algn="just" eaLnBrk="1" hangingPunct="1"/>
            <a:r>
              <a:rPr lang="en-US" altLang="en-US" sz="2000"/>
              <a:t>	cout&lt;&lt;“\n Enter the values of a and b: “;</a:t>
            </a:r>
          </a:p>
          <a:p>
            <a:pPr algn="just" eaLnBrk="1" hangingPunct="1"/>
            <a:r>
              <a:rPr lang="en-US" altLang="en-US" sz="2000"/>
              <a:t>	cin&gt;&gt;a&gt;&gt;b;</a:t>
            </a:r>
          </a:p>
          <a:p>
            <a:pPr algn="just" eaLnBrk="1" hangingPunct="1"/>
            <a:r>
              <a:rPr lang="en-US" altLang="en-US" sz="2000"/>
              <a:t>	</a:t>
            </a:r>
            <a:r>
              <a:rPr lang="en-US" altLang="en-US" sz="2000">
                <a:solidFill>
                  <a:srgbClr val="C00000"/>
                </a:solidFill>
              </a:rPr>
              <a:t>swap (a, b);    </a:t>
            </a:r>
            <a:r>
              <a:rPr lang="en-US" altLang="en-US" sz="2000"/>
              <a:t>/*function calling*/</a:t>
            </a:r>
          </a:p>
          <a:p>
            <a:pPr algn="just" eaLnBrk="1" hangingPunct="1"/>
            <a:r>
              <a:rPr lang="en-US" altLang="en-US" sz="2000"/>
              <a:t>             cout &lt;&lt;“\nFrom main The Values of a and b”&lt;&lt; a&lt;&lt;b; </a:t>
            </a:r>
          </a:p>
          <a:p>
            <a:pPr algn="just" eaLnBrk="1" hangingPunct="1"/>
            <a:r>
              <a:rPr lang="en-US" altLang="en-US" sz="2000"/>
              <a:t>}</a:t>
            </a:r>
          </a:p>
          <a:p>
            <a:pPr algn="just" eaLnBrk="1" hangingPunct="1"/>
            <a:r>
              <a:rPr lang="en-US" altLang="en-US" sz="2000">
                <a:solidFill>
                  <a:srgbClr val="C00000"/>
                </a:solidFill>
              </a:rPr>
              <a:t>void swap (int x, int y)</a:t>
            </a:r>
            <a:r>
              <a:rPr lang="en-US" altLang="en-US" sz="2000"/>
              <a:t>	/* function definition */</a:t>
            </a:r>
          </a:p>
          <a:p>
            <a:pPr algn="just" eaLnBrk="1" hangingPunct="1"/>
            <a:r>
              <a:rPr lang="en-US" altLang="en-US" sz="2000"/>
              <a:t>{</a:t>
            </a:r>
          </a:p>
          <a:p>
            <a:pPr algn="just" eaLnBrk="1" hangingPunct="1"/>
            <a:r>
              <a:rPr lang="en-US" altLang="en-US" sz="2000"/>
              <a:t> 	int temp;</a:t>
            </a:r>
          </a:p>
          <a:p>
            <a:pPr algn="just" eaLnBrk="1" hangingPunct="1"/>
            <a:r>
              <a:rPr lang="en-US" altLang="en-US" sz="2000"/>
              <a:t>   	temp=x;</a:t>
            </a:r>
          </a:p>
          <a:p>
            <a:pPr algn="just" eaLnBrk="1" hangingPunct="1"/>
            <a:r>
              <a:rPr lang="en-US" altLang="en-US" sz="2000"/>
              <a:t>	x=y;</a:t>
            </a:r>
          </a:p>
          <a:p>
            <a:pPr algn="just" eaLnBrk="1" hangingPunct="1"/>
            <a:r>
              <a:rPr lang="en-US" altLang="en-US" sz="2000"/>
              <a:t>	y=temp;</a:t>
            </a:r>
          </a:p>
          <a:p>
            <a:pPr algn="just" eaLnBrk="1" hangingPunct="1"/>
            <a:r>
              <a:rPr lang="en-US" altLang="en-US" sz="2000"/>
              <a:t>   	cout&lt;&lt; “\n The Values of a and b after swapping&lt;&lt;a&lt;&lt;b; </a:t>
            </a:r>
          </a:p>
          <a:p>
            <a:pPr algn="just" eaLnBrk="1" hangingPunct="1"/>
            <a:r>
              <a:rPr lang="en-US" altLang="en-US" sz="2000"/>
              <a:t>}</a:t>
            </a:r>
            <a:endParaRPr lang="en-IN" altLang="en-US" sz="2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646FA8-484A-474E-85E2-80BAF4C66433}"/>
              </a:ext>
            </a:extLst>
          </p:cNvPr>
          <p:cNvSpPr/>
          <p:nvPr/>
        </p:nvSpPr>
        <p:spPr>
          <a:xfrm>
            <a:off x="6451600" y="1295400"/>
            <a:ext cx="8382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00EB03-FC65-4FC9-AC8D-C94F2DD522B8}"/>
              </a:ext>
            </a:extLst>
          </p:cNvPr>
          <p:cNvSpPr/>
          <p:nvPr/>
        </p:nvSpPr>
        <p:spPr>
          <a:xfrm>
            <a:off x="7518400" y="1295400"/>
            <a:ext cx="8382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25607" name="TextBox 7">
            <a:extLst>
              <a:ext uri="{FF2B5EF4-FFF2-40B4-BE49-F238E27FC236}">
                <a16:creationId xmlns:a16="http://schemas.microsoft.com/office/drawing/2014/main" id="{D6EFE6AE-A90D-4D56-844E-F3DEB91DC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190500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11223        22446</a:t>
            </a:r>
          </a:p>
        </p:txBody>
      </p:sp>
      <p:sp>
        <p:nvSpPr>
          <p:cNvPr id="25608" name="TextBox 8">
            <a:extLst>
              <a:ext uri="{FF2B5EF4-FFF2-40B4-BE49-F238E27FC236}">
                <a16:creationId xmlns:a16="http://schemas.microsoft.com/office/drawing/2014/main" id="{C5F46823-8DCC-46A5-8B90-D1B4B00C2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6513" y="944563"/>
            <a:ext cx="2133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     a               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6190C0-8687-4CED-A06C-6A3D5259694C}"/>
              </a:ext>
            </a:extLst>
          </p:cNvPr>
          <p:cNvSpPr/>
          <p:nvPr/>
        </p:nvSpPr>
        <p:spPr>
          <a:xfrm>
            <a:off x="6527802" y="4384096"/>
            <a:ext cx="8382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b="1" strike="sngStrike" dirty="0">
                <a:solidFill>
                  <a:schemeClr val="tx1"/>
                </a:solidFill>
              </a:rPr>
              <a:t>10</a:t>
            </a:r>
          </a:p>
          <a:p>
            <a:pPr algn="ctr">
              <a:defRPr/>
            </a:pPr>
            <a:r>
              <a:rPr lang="en-IN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402D9F-B3EE-46BC-A020-ED93D3940BE1}"/>
              </a:ext>
            </a:extLst>
          </p:cNvPr>
          <p:cNvSpPr/>
          <p:nvPr/>
        </p:nvSpPr>
        <p:spPr>
          <a:xfrm>
            <a:off x="7594602" y="4384096"/>
            <a:ext cx="8382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b="1" strike="sngStrike" dirty="0">
                <a:solidFill>
                  <a:schemeClr val="tx1"/>
                </a:solidFill>
              </a:rPr>
              <a:t>20</a:t>
            </a:r>
          </a:p>
          <a:p>
            <a:pPr algn="ctr">
              <a:defRPr/>
            </a:pPr>
            <a:r>
              <a:rPr lang="en-IN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5611" name="TextBox 11">
            <a:extLst>
              <a:ext uri="{FF2B5EF4-FFF2-40B4-BE49-F238E27FC236}">
                <a16:creationId xmlns:a16="http://schemas.microsoft.com/office/drawing/2014/main" id="{4DA61D4D-FCA2-4610-98B5-DC10C0769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7313" y="4994275"/>
            <a:ext cx="2133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 77854        67531</a:t>
            </a:r>
          </a:p>
        </p:txBody>
      </p:sp>
      <p:sp>
        <p:nvSpPr>
          <p:cNvPr id="25612" name="TextBox 12">
            <a:extLst>
              <a:ext uri="{FF2B5EF4-FFF2-40B4-BE49-F238E27FC236}">
                <a16:creationId xmlns:a16="http://schemas.microsoft.com/office/drawing/2014/main" id="{3A6ABE4F-F2AC-471F-80F4-77B45A6A2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2713" y="403225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     x               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06997D-BE6C-4763-A680-73330F6884F1}"/>
              </a:ext>
            </a:extLst>
          </p:cNvPr>
          <p:cNvSpPr/>
          <p:nvPr/>
        </p:nvSpPr>
        <p:spPr>
          <a:xfrm>
            <a:off x="5294313" y="4648200"/>
            <a:ext cx="8382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5614" name="TextBox 14">
            <a:extLst>
              <a:ext uri="{FF2B5EF4-FFF2-40B4-BE49-F238E27FC236}">
                <a16:creationId xmlns:a16="http://schemas.microsoft.com/office/drawing/2014/main" id="{10C295B0-B389-4999-92F7-656F72565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7338" y="4287838"/>
            <a:ext cx="838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temp</a:t>
            </a:r>
          </a:p>
        </p:txBody>
      </p:sp>
      <p:sp>
        <p:nvSpPr>
          <p:cNvPr id="25615" name="TextBox 15">
            <a:extLst>
              <a:ext uri="{FF2B5EF4-FFF2-40B4-BE49-F238E27FC236}">
                <a16:creationId xmlns:a16="http://schemas.microsoft.com/office/drawing/2014/main" id="{86B409D0-6CCA-4F1D-B7E6-2449A059E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800" y="5224463"/>
            <a:ext cx="838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88553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8668C503-E66C-4F23-8D1C-5F2AAF33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1. Pass by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B2936-FF32-4798-B4F2-C0E048F03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400" dirty="0">
                <a:solidFill>
                  <a:srgbClr val="C00000"/>
                </a:solidFill>
              </a:rPr>
              <a:t>Advantages</a:t>
            </a:r>
          </a:p>
          <a:p>
            <a:pPr lvl="1">
              <a:defRPr/>
            </a:pPr>
            <a:r>
              <a:rPr lang="en-IN" sz="2000" dirty="0"/>
              <a:t>A function is free to modify a parameter without impacting or inadvertently affecting the data at the calling location</a:t>
            </a:r>
          </a:p>
          <a:p>
            <a:pPr lvl="1">
              <a:defRPr/>
            </a:pPr>
            <a:r>
              <a:rPr lang="en-IN" sz="2000" dirty="0"/>
              <a:t>Flexible - the function argument may be any expression - not just a variable. It is the </a:t>
            </a:r>
            <a:r>
              <a:rPr lang="en-IN" sz="2000" i="1" dirty="0"/>
              <a:t>value</a:t>
            </a:r>
            <a:r>
              <a:rPr lang="en-IN" sz="2000" dirty="0"/>
              <a:t> of the expression that is copied to the function parameter</a:t>
            </a:r>
          </a:p>
          <a:p>
            <a:pPr>
              <a:defRPr/>
            </a:pPr>
            <a:r>
              <a:rPr lang="en-IN" sz="2400" dirty="0">
                <a:solidFill>
                  <a:srgbClr val="C00000"/>
                </a:solidFill>
              </a:rPr>
              <a:t>Disadvantages</a:t>
            </a:r>
          </a:p>
          <a:p>
            <a:pPr lvl="1">
              <a:defRPr/>
            </a:pPr>
            <a:r>
              <a:rPr lang="en-IN" sz="2000" dirty="0"/>
              <a:t>when a function changes a parameter passed by value, that change cannot be propagated back to the caller through the parameter even when we want to do so</a:t>
            </a:r>
          </a:p>
          <a:p>
            <a:pPr lvl="1">
              <a:defRPr/>
            </a:pPr>
            <a:r>
              <a:rPr lang="en-IN" sz="2000" dirty="0"/>
              <a:t>Pass by value is implemented by passing a copy of the data to the function. As a consequence, as the size of the data increases, for example, a structure with many fields, it takes increasingly longer to copy the data to the function</a:t>
            </a:r>
            <a:endParaRPr lang="en-IN" sz="2000" dirty="0">
              <a:solidFill>
                <a:srgbClr val="C00000"/>
              </a:solidFill>
            </a:endParaRP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BDE3442C-CDD7-46D1-8C4B-6B81463D44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D37C09-B35C-432C-A915-79829CB4F9F9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90939C03-552E-49AE-B968-B0FCAB6C1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2. Pass by Address(Pointer)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BB903-89F0-41CF-BE7B-EAD0EF4B2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000" dirty="0"/>
              <a:t>The address of actual argument is copied into the formal parameter </a:t>
            </a:r>
          </a:p>
          <a:p>
            <a:pPr>
              <a:defRPr/>
            </a:pPr>
            <a:r>
              <a:rPr lang="en-IN" sz="2000" dirty="0"/>
              <a:t>Changes made to the formal parameter will affect the argument used to call the function 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74F82650-42B1-4C4C-81EC-537027DD46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552E71-85F2-480D-92BF-821FC31FA957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F2900D1A-DEFB-46DF-B7BE-299206C52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2249488"/>
            <a:ext cx="3181350" cy="2246312"/>
          </a:xfrm>
          <a:prstGeom prst="rect">
            <a:avLst/>
          </a:prstGeom>
          <a:noFill/>
          <a:ln w="12700" cap="sq">
            <a:solidFill>
              <a:srgbClr val="0000CC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2000" dirty="0">
                <a:solidFill>
                  <a:srgbClr val="C00000"/>
                </a:solidFill>
                <a:latin typeface="+mn-lt"/>
              </a:rPr>
              <a:t>void swap (</a:t>
            </a:r>
            <a:r>
              <a:rPr lang="en-US" sz="2000" dirty="0" err="1">
                <a:solidFill>
                  <a:srgbClr val="C00000"/>
                </a:solidFill>
                <a:latin typeface="+mn-lt"/>
              </a:rPr>
              <a:t>int</a:t>
            </a:r>
            <a:r>
              <a:rPr lang="en-US" sz="2000" dirty="0">
                <a:solidFill>
                  <a:srgbClr val="C00000"/>
                </a:solidFill>
                <a:latin typeface="+mn-lt"/>
              </a:rPr>
              <a:t>  *</a:t>
            </a:r>
            <a:r>
              <a:rPr lang="en-US" sz="2000" dirty="0" err="1">
                <a:solidFill>
                  <a:srgbClr val="C00000"/>
                </a:solidFill>
                <a:latin typeface="+mn-lt"/>
              </a:rPr>
              <a:t>px</a:t>
            </a:r>
            <a:r>
              <a:rPr lang="en-US" sz="2000" dirty="0">
                <a:solidFill>
                  <a:srgbClr val="C00000"/>
                </a:solidFill>
                <a:latin typeface="+mn-lt"/>
              </a:rPr>
              <a:t>, </a:t>
            </a:r>
            <a:r>
              <a:rPr lang="en-US" sz="2000" dirty="0" err="1">
                <a:solidFill>
                  <a:srgbClr val="C00000"/>
                </a:solidFill>
                <a:latin typeface="+mn-lt"/>
              </a:rPr>
              <a:t>int</a:t>
            </a:r>
            <a:r>
              <a:rPr lang="en-US" sz="2000" dirty="0">
                <a:solidFill>
                  <a:srgbClr val="C00000"/>
                </a:solidFill>
                <a:latin typeface="+mn-lt"/>
              </a:rPr>
              <a:t> *</a:t>
            </a:r>
            <a:r>
              <a:rPr lang="en-US" sz="2000" dirty="0" err="1">
                <a:solidFill>
                  <a:srgbClr val="C00000"/>
                </a:solidFill>
                <a:latin typeface="+mn-lt"/>
              </a:rPr>
              <a:t>py</a:t>
            </a:r>
            <a:r>
              <a:rPr lang="en-US" sz="2000" dirty="0">
                <a:solidFill>
                  <a:srgbClr val="C00000"/>
                </a:solidFill>
                <a:latin typeface="+mn-lt"/>
              </a:rPr>
              <a:t>)</a:t>
            </a:r>
            <a:r>
              <a:rPr lang="en-US" sz="2000" dirty="0">
                <a:latin typeface="+mn-lt"/>
              </a:rPr>
              <a:t>  </a:t>
            </a:r>
          </a:p>
          <a:p>
            <a:pPr eaLnBrk="0" hangingPunct="0">
              <a:defRPr/>
            </a:pPr>
            <a:r>
              <a:rPr lang="en-US" sz="2000" dirty="0">
                <a:latin typeface="+mn-lt"/>
              </a:rPr>
              <a:t>{</a:t>
            </a:r>
          </a:p>
          <a:p>
            <a:pPr eaLnBrk="0" hangingPunct="0">
              <a:defRPr/>
            </a:pPr>
            <a:r>
              <a:rPr lang="en-US" sz="2000" dirty="0">
                <a:latin typeface="+mn-lt"/>
              </a:rPr>
              <a:t>        </a:t>
            </a:r>
            <a:r>
              <a:rPr lang="en-US" sz="2000" dirty="0" err="1">
                <a:latin typeface="+mn-lt"/>
              </a:rPr>
              <a:t>int</a:t>
            </a:r>
            <a:r>
              <a:rPr lang="en-US" sz="2000" dirty="0">
                <a:latin typeface="+mn-lt"/>
              </a:rPr>
              <a:t> temp;</a:t>
            </a:r>
          </a:p>
          <a:p>
            <a:pPr eaLnBrk="0" hangingPunct="0">
              <a:defRPr/>
            </a:pPr>
            <a:r>
              <a:rPr lang="en-US" sz="2000" dirty="0">
                <a:latin typeface="+mn-lt"/>
              </a:rPr>
              <a:t>        temp = *</a:t>
            </a:r>
            <a:r>
              <a:rPr lang="en-US" sz="2000" dirty="0" err="1">
                <a:latin typeface="+mn-lt"/>
              </a:rPr>
              <a:t>px</a:t>
            </a:r>
            <a:r>
              <a:rPr lang="en-US" sz="2000" dirty="0">
                <a:latin typeface="+mn-lt"/>
              </a:rPr>
              <a:t>;</a:t>
            </a:r>
          </a:p>
          <a:p>
            <a:pPr eaLnBrk="0" hangingPunct="0">
              <a:defRPr/>
            </a:pPr>
            <a:r>
              <a:rPr lang="en-US" sz="2000" dirty="0">
                <a:latin typeface="+mn-lt"/>
              </a:rPr>
              <a:t>        *</a:t>
            </a:r>
            <a:r>
              <a:rPr lang="en-US" sz="2000" dirty="0" err="1">
                <a:latin typeface="+mn-lt"/>
              </a:rPr>
              <a:t>px</a:t>
            </a:r>
            <a:r>
              <a:rPr lang="en-US" sz="2000" dirty="0">
                <a:latin typeface="+mn-lt"/>
              </a:rPr>
              <a:t> = *</a:t>
            </a:r>
            <a:r>
              <a:rPr lang="en-US" sz="2000" dirty="0" err="1">
                <a:latin typeface="+mn-lt"/>
              </a:rPr>
              <a:t>py</a:t>
            </a:r>
            <a:r>
              <a:rPr lang="en-US" sz="2000" dirty="0">
                <a:latin typeface="+mn-lt"/>
              </a:rPr>
              <a:t>;</a:t>
            </a:r>
          </a:p>
          <a:p>
            <a:pPr eaLnBrk="0" hangingPunct="0">
              <a:defRPr/>
            </a:pPr>
            <a:r>
              <a:rPr lang="en-US" sz="2000" dirty="0">
                <a:latin typeface="+mn-lt"/>
              </a:rPr>
              <a:t>        *</a:t>
            </a:r>
            <a:r>
              <a:rPr lang="en-US" sz="2000" dirty="0" err="1">
                <a:latin typeface="+mn-lt"/>
              </a:rPr>
              <a:t>py</a:t>
            </a:r>
            <a:r>
              <a:rPr lang="en-US" sz="2000" dirty="0">
                <a:latin typeface="+mn-lt"/>
              </a:rPr>
              <a:t> = temp;</a:t>
            </a:r>
          </a:p>
          <a:p>
            <a:pPr eaLnBrk="0" hangingPunct="0">
              <a:defRPr/>
            </a:pPr>
            <a:r>
              <a:rPr lang="en-US" sz="2000" dirty="0">
                <a:latin typeface="+mn-lt"/>
              </a:rPr>
              <a:t>}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189A6284-84C3-4A81-B4FC-2B0014108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611688"/>
            <a:ext cx="3190875" cy="2246312"/>
          </a:xfrm>
          <a:prstGeom prst="rect">
            <a:avLst/>
          </a:prstGeom>
          <a:noFill/>
          <a:ln w="12700" cap="sq">
            <a:solidFill>
              <a:srgbClr val="0000CC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2000" dirty="0" err="1">
                <a:latin typeface="+mn-lt"/>
              </a:rPr>
              <a:t>int</a:t>
            </a:r>
            <a:r>
              <a:rPr lang="en-US" sz="2000" dirty="0">
                <a:latin typeface="+mn-lt"/>
              </a:rPr>
              <a:t> main ( )  </a:t>
            </a:r>
          </a:p>
          <a:p>
            <a:pPr eaLnBrk="0" hangingPunct="0">
              <a:defRPr/>
            </a:pPr>
            <a:r>
              <a:rPr lang="en-US" sz="2000" dirty="0">
                <a:latin typeface="+mn-lt"/>
              </a:rPr>
              <a:t>{</a:t>
            </a:r>
          </a:p>
          <a:p>
            <a:pPr eaLnBrk="0" hangingPunct="0">
              <a:defRPr/>
            </a:pPr>
            <a:r>
              <a:rPr lang="en-US" sz="2000" dirty="0">
                <a:latin typeface="+mn-lt"/>
              </a:rPr>
              <a:t>      </a:t>
            </a:r>
            <a:r>
              <a:rPr lang="en-US" sz="2000" dirty="0" err="1">
                <a:latin typeface="+mn-lt"/>
              </a:rPr>
              <a:t>int</a:t>
            </a:r>
            <a:r>
              <a:rPr lang="en-US" sz="2000" dirty="0">
                <a:latin typeface="+mn-lt"/>
              </a:rPr>
              <a:t> i = 3, j = 5;</a:t>
            </a:r>
          </a:p>
          <a:p>
            <a:pPr eaLnBrk="0" hangingPunct="0">
              <a:defRPr/>
            </a:pPr>
            <a:r>
              <a:rPr lang="en-US" sz="2000" dirty="0">
                <a:latin typeface="+mn-lt"/>
              </a:rPr>
              <a:t>      </a:t>
            </a:r>
            <a:r>
              <a:rPr lang="en-US" sz="2000" dirty="0">
                <a:solidFill>
                  <a:srgbClr val="C00000"/>
                </a:solidFill>
                <a:latin typeface="+mn-lt"/>
              </a:rPr>
              <a:t>swap(&amp;i,  &amp;j) ;</a:t>
            </a:r>
          </a:p>
          <a:p>
            <a:pPr eaLnBrk="0" hangingPunct="0">
              <a:defRPr/>
            </a:pPr>
            <a:r>
              <a:rPr lang="en-US" sz="2000" dirty="0">
                <a:latin typeface="+mn-lt"/>
              </a:rPr>
              <a:t>      </a:t>
            </a:r>
            <a:r>
              <a:rPr lang="en-US" sz="2000" dirty="0" err="1">
                <a:latin typeface="+mn-lt"/>
              </a:rPr>
              <a:t>cout</a:t>
            </a:r>
            <a:r>
              <a:rPr lang="en-US" sz="2000" dirty="0">
                <a:latin typeface="+mn-lt"/>
              </a:rPr>
              <a:t>&lt;&lt; i&lt;&lt; j;</a:t>
            </a:r>
          </a:p>
          <a:p>
            <a:pPr eaLnBrk="0" hangingPunct="0">
              <a:defRPr/>
            </a:pPr>
            <a:r>
              <a:rPr lang="en-US" sz="2000" dirty="0">
                <a:latin typeface="+mn-lt"/>
              </a:rPr>
              <a:t>      return 0;</a:t>
            </a:r>
          </a:p>
          <a:p>
            <a:pPr eaLnBrk="0" hangingPunct="0">
              <a:defRPr/>
            </a:pPr>
            <a:r>
              <a:rPr lang="en-US" sz="2000" dirty="0">
                <a:latin typeface="+mn-lt"/>
              </a:rPr>
              <a:t>}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ADBB5F88-EFDF-48A9-907D-513064B69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0" y="6288088"/>
            <a:ext cx="539750" cy="40005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000" dirty="0">
                <a:latin typeface="+mn-lt"/>
              </a:rPr>
              <a:t>5,3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2B518F-D96B-4A70-B91F-98A199EFD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611688"/>
            <a:ext cx="3276600" cy="1600200"/>
          </a:xfrm>
          <a:prstGeom prst="rect">
            <a:avLst/>
          </a:prstGeom>
          <a:solidFill>
            <a:srgbClr val="FF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2000">
                <a:latin typeface="+mn-lt"/>
              </a:rPr>
              <a:t>main</a:t>
            </a:r>
          </a:p>
          <a:p>
            <a:pPr eaLnBrk="0" hangingPunct="0">
              <a:defRPr/>
            </a:pPr>
            <a:endParaRPr lang="en-US" sz="2000">
              <a:latin typeface="+mn-lt"/>
            </a:endParaRPr>
          </a:p>
          <a:p>
            <a:pPr eaLnBrk="0" hangingPunct="0">
              <a:defRPr/>
            </a:pPr>
            <a:endParaRPr lang="en-US" sz="2000">
              <a:latin typeface="+mn-lt"/>
            </a:endParaRPr>
          </a:p>
          <a:p>
            <a:pPr eaLnBrk="0" hangingPunct="0">
              <a:defRPr/>
            </a:pPr>
            <a:endParaRPr lang="en-US" sz="200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283467-F332-4665-AA5C-30E4C2E2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221287"/>
            <a:ext cx="685800" cy="457200"/>
          </a:xfrm>
          <a:prstGeom prst="rect">
            <a:avLst/>
          </a:prstGeom>
          <a:solidFill>
            <a:srgbClr val="FFCC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000" strike="sngStrike" dirty="0">
                <a:latin typeface="+mn-lt"/>
              </a:rPr>
              <a:t>3</a:t>
            </a:r>
            <a:r>
              <a:rPr lang="en-US" sz="2000" dirty="0">
                <a:latin typeface="+mn-lt"/>
              </a:rPr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C2817B-F06F-4D4B-A85C-B1CD04565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5221287"/>
            <a:ext cx="685800" cy="457200"/>
          </a:xfrm>
          <a:prstGeom prst="rect">
            <a:avLst/>
          </a:prstGeom>
          <a:solidFill>
            <a:srgbClr val="FFCC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000" strike="sngStrike" dirty="0">
                <a:latin typeface="+mn-lt"/>
              </a:rPr>
              <a:t>5</a:t>
            </a:r>
            <a:r>
              <a:rPr lang="en-US" sz="2000" dirty="0">
                <a:latin typeface="+mn-lt"/>
              </a:rPr>
              <a:t>3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BA5B7B21-5093-420F-82A7-512245CF5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887913"/>
            <a:ext cx="242888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000" dirty="0">
                <a:latin typeface="+mn-lt"/>
              </a:rPr>
              <a:t>i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2D9C42CB-74A6-48F5-A8B5-BF634DE5E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9913" y="4854575"/>
            <a:ext cx="24288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000" dirty="0">
                <a:latin typeface="+mn-lt"/>
              </a:rPr>
              <a:t>j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69824D-8B02-4A9B-8200-486EC487B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325688"/>
            <a:ext cx="4114800" cy="1600200"/>
          </a:xfrm>
          <a:prstGeom prst="rect">
            <a:avLst/>
          </a:prstGeom>
          <a:solidFill>
            <a:srgbClr val="FF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2000" dirty="0">
                <a:latin typeface="+mn-lt"/>
              </a:rPr>
              <a:t>swap</a:t>
            </a:r>
          </a:p>
          <a:p>
            <a:pPr eaLnBrk="0" hangingPunct="0">
              <a:defRPr/>
            </a:pPr>
            <a:endParaRPr lang="en-US" sz="2000" dirty="0">
              <a:latin typeface="+mn-lt"/>
            </a:endParaRPr>
          </a:p>
          <a:p>
            <a:pPr eaLnBrk="0" hangingPunct="0">
              <a:defRPr/>
            </a:pPr>
            <a:endParaRPr lang="en-US" sz="2000" dirty="0">
              <a:latin typeface="+mn-lt"/>
            </a:endParaRPr>
          </a:p>
          <a:p>
            <a:pPr eaLnBrk="0" hangingPunct="0">
              <a:defRPr/>
            </a:pPr>
            <a:endParaRPr lang="en-US" sz="2000" dirty="0"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D9087-43C8-4F2E-ACDE-5B04B7B75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935288"/>
            <a:ext cx="685800" cy="457200"/>
          </a:xfrm>
          <a:prstGeom prst="rect">
            <a:avLst/>
          </a:prstGeom>
          <a:solidFill>
            <a:srgbClr val="FFCC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000">
                <a:latin typeface="+mn-lt"/>
              </a:rPr>
              <a:t>1024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D4DAE8-255C-4524-A68B-557B416BB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935288"/>
            <a:ext cx="685800" cy="457200"/>
          </a:xfrm>
          <a:prstGeom prst="rect">
            <a:avLst/>
          </a:prstGeom>
          <a:solidFill>
            <a:srgbClr val="FFCC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000" dirty="0">
                <a:latin typeface="+mn-lt"/>
              </a:rPr>
              <a:t>9921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6DBDCF9A-5917-47A2-AB05-49550F0C6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388" y="2557463"/>
            <a:ext cx="4556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000" dirty="0" err="1">
                <a:latin typeface="+mn-lt"/>
              </a:rPr>
              <a:t>px</a:t>
            </a:r>
            <a:endParaRPr lang="en-US" sz="2000" dirty="0">
              <a:latin typeface="+mn-lt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CDC2FE24-5E17-4BA9-8741-E3596CBB3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0188" y="2568575"/>
            <a:ext cx="4556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000" dirty="0" err="1">
                <a:latin typeface="+mn-lt"/>
              </a:rPr>
              <a:t>py</a:t>
            </a:r>
            <a:endParaRPr lang="en-US" sz="2000" dirty="0">
              <a:latin typeface="+mn-lt"/>
            </a:endParaRP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AE6760F2-6020-4CA1-8DAE-C89E6D410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9400" y="3373438"/>
            <a:ext cx="7540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000" dirty="0">
                <a:latin typeface="+mn-lt"/>
              </a:rPr>
              <a:t>8894</a:t>
            </a: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D4B0F154-DF83-4A9E-8899-1B483B554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8775" y="5678488"/>
            <a:ext cx="7540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000" dirty="0">
                <a:latin typeface="+mn-lt"/>
              </a:rPr>
              <a:t>9921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835E853-2AEF-423A-924E-C30994B78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4463" y="5641975"/>
            <a:ext cx="7556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000" dirty="0">
                <a:latin typeface="+mn-lt"/>
              </a:rPr>
              <a:t>1024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AD65FC4-43D6-46E2-83C1-EF71EA647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9050" y="3351213"/>
            <a:ext cx="68738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000" dirty="0">
                <a:latin typeface="+mn-lt"/>
              </a:rPr>
              <a:t>2265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7F835A-AFE1-4DB3-BE62-32A223DCA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978150"/>
            <a:ext cx="685800" cy="457200"/>
          </a:xfrm>
          <a:prstGeom prst="rect">
            <a:avLst/>
          </a:prstGeom>
          <a:solidFill>
            <a:srgbClr val="FFCC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000" dirty="0">
                <a:latin typeface="+mn-lt"/>
              </a:rPr>
              <a:t>3</a:t>
            </a:r>
          </a:p>
        </p:txBody>
      </p:sp>
      <p:sp>
        <p:nvSpPr>
          <p:cNvPr id="23" name="Text Box 16">
            <a:extLst>
              <a:ext uri="{FF2B5EF4-FFF2-40B4-BE49-F238E27FC236}">
                <a16:creationId xmlns:a16="http://schemas.microsoft.com/office/drawing/2014/main" id="{AE0915C2-F785-4660-9A81-9CEB54E0A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2611438"/>
            <a:ext cx="8366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2000" dirty="0">
                <a:latin typeface="+mn-lt"/>
              </a:rPr>
              <a:t>temp</a:t>
            </a:r>
          </a:p>
        </p:txBody>
      </p:sp>
      <p:sp>
        <p:nvSpPr>
          <p:cNvPr id="24" name="Text Box 16">
            <a:extLst>
              <a:ext uri="{FF2B5EF4-FFF2-40B4-BE49-F238E27FC236}">
                <a16:creationId xmlns:a16="http://schemas.microsoft.com/office/drawing/2014/main" id="{F716AE0D-8A42-427D-825D-37B6E1BAC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4263" y="3373438"/>
            <a:ext cx="8366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2000" dirty="0">
                <a:latin typeface="+mn-lt"/>
              </a:rPr>
              <a:t>1137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18CDA46-45BE-4BDA-A4AD-43EE420F87FC}"/>
              </a:ext>
            </a:extLst>
          </p:cNvPr>
          <p:cNvCxnSpPr/>
          <p:nvPr/>
        </p:nvCxnSpPr>
        <p:spPr>
          <a:xfrm>
            <a:off x="5737225" y="3387725"/>
            <a:ext cx="15875" cy="184785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6120CC-5EEB-4BEF-AB57-17761DC961D7}"/>
              </a:ext>
            </a:extLst>
          </p:cNvPr>
          <p:cNvCxnSpPr/>
          <p:nvPr/>
        </p:nvCxnSpPr>
        <p:spPr>
          <a:xfrm>
            <a:off x="6851650" y="3392488"/>
            <a:ext cx="0" cy="186213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66C24ACC-E8F0-472B-8908-10E113437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2. Pass by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3E6DA-7FA8-4B76-8044-E25A99169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400" dirty="0">
                <a:solidFill>
                  <a:srgbClr val="C00000"/>
                </a:solidFill>
              </a:rPr>
              <a:t>Advantage</a:t>
            </a:r>
          </a:p>
          <a:p>
            <a:pPr lvl="1">
              <a:defRPr/>
            </a:pPr>
            <a:r>
              <a:rPr lang="en-IN" sz="2000" dirty="0"/>
              <a:t>Time needed to perform the pass the address of data is independent of the size of the data - passing a large structure by pointer takes no more time than passing a small structure</a:t>
            </a:r>
          </a:p>
          <a:p>
            <a:pPr lvl="1"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IN" sz="2400" dirty="0">
                <a:solidFill>
                  <a:srgbClr val="C00000"/>
                </a:solidFill>
              </a:rPr>
              <a:t>Disadvantages</a:t>
            </a:r>
          </a:p>
          <a:p>
            <a:pPr lvl="1">
              <a:defRPr/>
            </a:pPr>
            <a:r>
              <a:rPr lang="en-IN" sz="2000" dirty="0"/>
              <a:t>Pass by pointer only works with variables (</a:t>
            </a:r>
            <a:r>
              <a:rPr lang="en-IN" sz="2000" dirty="0" err="1"/>
              <a:t>ie</a:t>
            </a:r>
            <a:r>
              <a:rPr lang="en-IN" sz="2000" dirty="0"/>
              <a:t>., actual parameters must be variables)</a:t>
            </a:r>
          </a:p>
          <a:p>
            <a:pPr>
              <a:defRPr/>
            </a:pPr>
            <a:r>
              <a:rPr lang="en-IN" sz="2400" b="1" dirty="0"/>
              <a:t>Note: </a:t>
            </a:r>
          </a:p>
          <a:p>
            <a:pPr lvl="1">
              <a:defRPr/>
            </a:pPr>
            <a:r>
              <a:rPr lang="en-IN" sz="2000" dirty="0"/>
              <a:t>It is possible to change the value stored in an argument, even when doing so is undesirable - however, the </a:t>
            </a:r>
            <a:r>
              <a:rPr lang="en-IN" sz="2000" b="1" dirty="0" err="1"/>
              <a:t>const</a:t>
            </a:r>
            <a:r>
              <a:rPr lang="en-IN" sz="2000" dirty="0"/>
              <a:t> keyword can be used to prevent this from happening</a:t>
            </a:r>
          </a:p>
          <a:p>
            <a:pPr lvl="1">
              <a:defRPr/>
            </a:pPr>
            <a:endParaRPr lang="en-IN" sz="2000" dirty="0"/>
          </a:p>
          <a:p>
            <a:pPr lvl="1"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32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dirty="0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E579E6A1-9863-4B4D-B369-0911659291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8BC9E8-A7AB-47E3-A943-8FECD5299693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E24D13EA-2289-43A7-912F-0DC17DA40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3. 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05821-0863-4B64-81EA-5FD1B4560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400" dirty="0">
                <a:solidFill>
                  <a:srgbClr val="C00000"/>
                </a:solidFill>
              </a:rPr>
              <a:t>What is a reference?</a:t>
            </a:r>
          </a:p>
          <a:p>
            <a:pPr lvl="1">
              <a:defRPr/>
            </a:pPr>
            <a:r>
              <a:rPr lang="en-IN" sz="2000" dirty="0"/>
              <a:t>A </a:t>
            </a:r>
            <a:r>
              <a:rPr lang="en-IN" sz="2000" b="1" dirty="0"/>
              <a:t>reference </a:t>
            </a:r>
            <a:r>
              <a:rPr lang="en-IN" sz="2000" dirty="0"/>
              <a:t>defines an alternative name for an object</a:t>
            </a:r>
          </a:p>
          <a:p>
            <a:pPr lvl="1">
              <a:defRPr/>
            </a:pPr>
            <a:r>
              <a:rPr lang="en-IN" sz="2000" dirty="0"/>
              <a:t>A reference variable is an alias for another variable</a:t>
            </a:r>
            <a:endParaRPr lang="en-US" sz="2000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sz="2000" dirty="0"/>
              <a:t>The unary operator &amp; with type name identifies a reference</a:t>
            </a:r>
          </a:p>
          <a:p>
            <a:pPr lvl="1">
              <a:defRPr/>
            </a:pPr>
            <a:endParaRPr lang="en-US" sz="2000" b="1" dirty="0"/>
          </a:p>
          <a:p>
            <a:pPr lvl="1">
              <a:defRPr/>
            </a:pPr>
            <a:r>
              <a:rPr lang="en-US" sz="2000" b="1" dirty="0"/>
              <a:t>Example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         </a:t>
            </a:r>
            <a:r>
              <a:rPr lang="en-IN" sz="2000" dirty="0" err="1"/>
              <a:t>int</a:t>
            </a:r>
            <a:r>
              <a:rPr lang="en-IN" sz="2000" dirty="0"/>
              <a:t> count = 1;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	 </a:t>
            </a:r>
            <a:r>
              <a:rPr lang="en-IN" sz="2000" dirty="0" err="1"/>
              <a:t>int</a:t>
            </a:r>
            <a:r>
              <a:rPr lang="en-IN" sz="2000" dirty="0"/>
              <a:t>&amp; r = count;</a:t>
            </a:r>
            <a:endParaRPr lang="en-US" sz="2000" dirty="0"/>
          </a:p>
          <a:p>
            <a:pPr lvl="1">
              <a:defRPr/>
            </a:pPr>
            <a:r>
              <a:rPr lang="en-US" sz="2000" b="1" dirty="0"/>
              <a:t>Note:</a:t>
            </a:r>
            <a:r>
              <a:rPr lang="en-US" sz="2000" dirty="0"/>
              <a:t> A reference must </a:t>
            </a:r>
            <a:r>
              <a:rPr lang="en-US" sz="2000" dirty="0">
                <a:solidFill>
                  <a:srgbClr val="C00000"/>
                </a:solidFill>
              </a:rPr>
              <a:t>be initialized</a:t>
            </a:r>
          </a:p>
          <a:p>
            <a:pPr lvl="1">
              <a:defRPr/>
            </a:pPr>
            <a:endParaRPr lang="en-US" sz="2000" dirty="0"/>
          </a:p>
          <a:p>
            <a:pPr lvl="1"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 lvl="1">
              <a:defRPr/>
            </a:pPr>
            <a:endParaRPr lang="en-IN" sz="2000" dirty="0">
              <a:solidFill>
                <a:srgbClr val="C00000"/>
              </a:solidFill>
            </a:endParaRP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99190EA7-907F-456D-9C26-409BB569D5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342673-503B-40D5-B788-E4DAD62D85F3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29701" name="Picture 2">
            <a:extLst>
              <a:ext uri="{FF2B5EF4-FFF2-40B4-BE49-F238E27FC236}">
                <a16:creationId xmlns:a16="http://schemas.microsoft.com/office/drawing/2014/main" id="{20725492-03AF-4CDC-A414-A9BD2BD92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429000"/>
            <a:ext cx="2943225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2" name="Picture 6">
            <a:extLst>
              <a:ext uri="{FF2B5EF4-FFF2-40B4-BE49-F238E27FC236}">
                <a16:creationId xmlns:a16="http://schemas.microsoft.com/office/drawing/2014/main" id="{080E6F43-3D03-4E38-9D19-1D348D7E0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886450"/>
            <a:ext cx="7324725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3" name="Picture 7">
            <a:extLst>
              <a:ext uri="{FF2B5EF4-FFF2-40B4-BE49-F238E27FC236}">
                <a16:creationId xmlns:a16="http://schemas.microsoft.com/office/drawing/2014/main" id="{BD419660-F1F6-4492-BE49-5FA0F5AED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4953000"/>
            <a:ext cx="6829425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6EAF0534-1520-457A-B875-403F34BFF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3. 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D9AD5-FA41-4B21-9C9B-34F4A85DC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b="1" dirty="0"/>
              <a:t>Note</a:t>
            </a:r>
            <a:r>
              <a:rPr lang="en-IN" sz="2000" dirty="0"/>
              <a:t>: </a:t>
            </a:r>
          </a:p>
          <a:p>
            <a:pPr>
              <a:defRPr/>
            </a:pPr>
            <a:r>
              <a:rPr lang="en-US" sz="2000" dirty="0"/>
              <a:t>The value of a reference can not be changed after initialization</a:t>
            </a:r>
          </a:p>
          <a:p>
            <a:pPr lvl="1">
              <a:defRPr/>
            </a:pPr>
            <a:r>
              <a:rPr lang="en-US" sz="1600" dirty="0" err="1"/>
              <a:t>Ie</a:t>
            </a:r>
            <a:r>
              <a:rPr lang="en-US" sz="1600" dirty="0"/>
              <a:t>., </a:t>
            </a:r>
            <a:r>
              <a:rPr lang="en-IN" sz="1600" dirty="0"/>
              <a:t>Once a reference is created, it cannot be later made to reference another object</a:t>
            </a:r>
            <a:endParaRPr lang="en-US" sz="1600" dirty="0"/>
          </a:p>
          <a:p>
            <a:pPr>
              <a:defRPr/>
            </a:pPr>
            <a:r>
              <a:rPr lang="en-US" sz="2000" dirty="0"/>
              <a:t>It always refers to the object it was initialized</a:t>
            </a:r>
          </a:p>
          <a:p>
            <a:pPr>
              <a:defRPr/>
            </a:pPr>
            <a:r>
              <a:rPr lang="en-US" sz="2000" dirty="0"/>
              <a:t>Null References can’t be created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r>
              <a:rPr lang="en-US" sz="2000" b="1" dirty="0"/>
              <a:t>Example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 </a:t>
            </a:r>
            <a:r>
              <a:rPr lang="en-IN" sz="2000" dirty="0" err="1"/>
              <a:t>int</a:t>
            </a:r>
            <a:r>
              <a:rPr lang="en-IN" sz="2000" dirty="0"/>
              <a:t> count1 = 1, count2=10;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 </a:t>
            </a:r>
            <a:r>
              <a:rPr lang="en-IN" sz="2000" dirty="0" err="1"/>
              <a:t>int</a:t>
            </a:r>
            <a:r>
              <a:rPr lang="en-IN" sz="2000" dirty="0"/>
              <a:t> &amp;r = count1;  // correct, r refers to variable count1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 ….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r>
              <a:rPr lang="en-IN" sz="2000" dirty="0" err="1"/>
              <a:t>int</a:t>
            </a:r>
            <a:r>
              <a:rPr lang="en-IN" sz="2000" dirty="0"/>
              <a:t> &amp;r=count2;   //error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r= count2; // Is it Correct ? - incorrect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IN" sz="2000" dirty="0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3187CB63-42ED-41B2-AD3C-128FF5689D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AA28BF-43D1-4E6A-8FAB-B5BB7D159D9A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06BFA3ED-7FF8-4EE1-8498-D175B5612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3. Pass by Reference</a:t>
            </a: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707B8A71-19EB-4499-AB35-1B37D11D9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C30BB3-DB8F-4625-9C1E-FDA76D45822D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31748" name="Picture 2">
            <a:extLst>
              <a:ext uri="{FF2B5EF4-FFF2-40B4-BE49-F238E27FC236}">
                <a16:creationId xmlns:a16="http://schemas.microsoft.com/office/drawing/2014/main" id="{FCC9D52C-B379-45FF-AA6F-01ABE76A1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84288"/>
            <a:ext cx="4675188" cy="482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9" name="Picture 3">
            <a:extLst>
              <a:ext uri="{FF2B5EF4-FFF2-40B4-BE49-F238E27FC236}">
                <a16:creationId xmlns:a16="http://schemas.microsoft.com/office/drawing/2014/main" id="{BFA3C7B0-1732-4C75-BCCD-FE1A5F324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038600"/>
            <a:ext cx="1511300" cy="181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50" name="Picture 4">
            <a:extLst>
              <a:ext uri="{FF2B5EF4-FFF2-40B4-BE49-F238E27FC236}">
                <a16:creationId xmlns:a16="http://schemas.microsoft.com/office/drawing/2014/main" id="{A29AF054-E1D1-4F30-8FC3-486A992A5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663" y="1066800"/>
            <a:ext cx="2878137" cy="123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51" name="Picture 5">
            <a:extLst>
              <a:ext uri="{FF2B5EF4-FFF2-40B4-BE49-F238E27FC236}">
                <a16:creationId xmlns:a16="http://schemas.microsoft.com/office/drawing/2014/main" id="{41F22E67-DC5C-41ED-827F-F3B03498C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362200"/>
            <a:ext cx="2598738" cy="118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752" name="Rectangle 1">
            <a:extLst>
              <a:ext uri="{FF2B5EF4-FFF2-40B4-BE49-F238E27FC236}">
                <a16:creationId xmlns:a16="http://schemas.microsoft.com/office/drawing/2014/main" id="{BA043184-965B-4E95-9153-58D1C07F6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165850"/>
            <a:ext cx="8763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b="1"/>
              <a:t>After a reference has been defined, all operations on that reference are actually operations on the object to which the reference is bound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08D4ACFD-8E60-41CC-B405-78442941C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3. 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94DB8-5269-45F0-A635-05FE476B5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000" dirty="0" err="1"/>
              <a:t>int</a:t>
            </a:r>
            <a:r>
              <a:rPr lang="en-US" sz="2000" dirty="0"/>
              <a:t> i=1;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000" dirty="0"/>
              <a:t>  	</a:t>
            </a:r>
            <a:r>
              <a:rPr lang="en-US" sz="2000" dirty="0" err="1">
                <a:solidFill>
                  <a:srgbClr val="C00000"/>
                </a:solidFill>
              </a:rPr>
              <a:t>int</a:t>
            </a:r>
            <a:r>
              <a:rPr lang="en-US" sz="2000" dirty="0">
                <a:solidFill>
                  <a:srgbClr val="C00000"/>
                </a:solidFill>
              </a:rPr>
              <a:t> &amp;r=i; </a:t>
            </a:r>
            <a:r>
              <a:rPr lang="en-US" sz="2000" dirty="0"/>
              <a:t>// r and i refer to the same </a:t>
            </a:r>
            <a:r>
              <a:rPr lang="en-US" sz="2000" dirty="0" err="1"/>
              <a:t>int</a:t>
            </a:r>
            <a:endParaRPr lang="en-US" sz="2000" dirty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000" dirty="0"/>
              <a:t> 	</a:t>
            </a:r>
            <a:r>
              <a:rPr lang="en-US" sz="2000" dirty="0" err="1"/>
              <a:t>int</a:t>
            </a:r>
            <a:r>
              <a:rPr lang="en-US" sz="2000" dirty="0"/>
              <a:t> x=r;  //x=1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000" dirty="0"/>
              <a:t>   	r=2;      //i=2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sz="2000" dirty="0"/>
          </a:p>
          <a:p>
            <a:pPr>
              <a:defRPr/>
            </a:pPr>
            <a:r>
              <a:rPr lang="en-IN" sz="2000" dirty="0"/>
              <a:t>We can define multiple references in a single definition. Each identifier that is a reference must be preceded by the &amp; symbol</a:t>
            </a:r>
          </a:p>
          <a:p>
            <a:pPr>
              <a:defRPr/>
            </a:pPr>
            <a:endParaRPr lang="en-US" sz="2000" dirty="0"/>
          </a:p>
          <a:p>
            <a:pPr eaLnBrk="1" hangingPunct="1">
              <a:defRPr/>
            </a:pPr>
            <a:endParaRPr lang="en-US" sz="2000" dirty="0"/>
          </a:p>
          <a:p>
            <a:pPr>
              <a:defRPr/>
            </a:pPr>
            <a:endParaRPr lang="en-IN" sz="2000" dirty="0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B42EBD0B-BCCC-464B-ADA5-05D4B5F74B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AC4E4A-9204-4244-9408-433BA5D13BCC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32773" name="Picture 5">
            <a:extLst>
              <a:ext uri="{FF2B5EF4-FFF2-40B4-BE49-F238E27FC236}">
                <a16:creationId xmlns:a16="http://schemas.microsoft.com/office/drawing/2014/main" id="{9C7F106D-8554-41FA-81F3-6C9882258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4205288"/>
            <a:ext cx="8586787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300175BD-2A21-4B5D-9DEE-5FCEC4D6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3. 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A1662-F602-461C-88C7-4157DA6BD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Initializing a Reference</a:t>
            </a:r>
          </a:p>
          <a:p>
            <a:pPr>
              <a:defRPr/>
            </a:pPr>
            <a:r>
              <a:rPr lang="en-IN" sz="2000" dirty="0"/>
              <a:t>Reference should be initialized with explicitly giving it something to refer to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Some Exceptions -  We need not initialize a reference when</a:t>
            </a:r>
          </a:p>
          <a:p>
            <a:pPr lvl="1">
              <a:defRPr/>
            </a:pPr>
            <a:r>
              <a:rPr lang="en-IN" sz="1600" dirty="0"/>
              <a:t>  </a:t>
            </a:r>
            <a:r>
              <a:rPr lang="en-IN" sz="2000" dirty="0">
                <a:solidFill>
                  <a:srgbClr val="C00000"/>
                </a:solidFill>
              </a:rPr>
              <a:t>it is declared with extern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  it is a member of a class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  it is declared as a parameter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  in a function declaration or definition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  it is declared as a return type of a function</a:t>
            </a:r>
          </a:p>
          <a:p>
            <a:pPr lvl="1">
              <a:defRPr/>
            </a:pPr>
            <a:endParaRPr lang="en-IN" sz="2000" dirty="0">
              <a:solidFill>
                <a:srgbClr val="C00000"/>
              </a:solidFill>
            </a:endParaRPr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350230F5-8779-4BA2-A3B4-D278C60F48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E250A3-1DBF-46EB-9FBD-21C80AAC56DE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6BAC2E43-78C6-47E6-AA87-0194EEA90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3. 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870F3-DFB4-40B0-9DF7-52EC418FF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Reference to an object of different type</a:t>
            </a:r>
          </a:p>
          <a:p>
            <a:pPr eaLnBrk="1" hangingPunct="1">
              <a:defRPr/>
            </a:pPr>
            <a:r>
              <a:rPr lang="en-US" sz="2000" b="1" dirty="0"/>
              <a:t>double </a:t>
            </a:r>
            <a:r>
              <a:rPr lang="en-US" sz="2000" b="1" dirty="0" err="1"/>
              <a:t>dval</a:t>
            </a:r>
            <a:r>
              <a:rPr lang="en-US" sz="2000" b="1" dirty="0"/>
              <a:t>=3.14159;</a:t>
            </a:r>
          </a:p>
          <a:p>
            <a:pPr eaLnBrk="1" hangingPunct="1">
              <a:defRPr/>
            </a:pPr>
            <a:r>
              <a:rPr lang="en-US" sz="2000" b="1" dirty="0" err="1"/>
              <a:t>const</a:t>
            </a:r>
            <a:r>
              <a:rPr lang="en-US" sz="2000" b="1" dirty="0"/>
              <a:t> </a:t>
            </a:r>
            <a:r>
              <a:rPr lang="en-US" sz="2000" b="1" dirty="0" err="1"/>
              <a:t>int</a:t>
            </a:r>
            <a:r>
              <a:rPr lang="en-US" sz="2000" b="1" dirty="0"/>
              <a:t>  &amp;</a:t>
            </a:r>
            <a:r>
              <a:rPr lang="en-US" sz="2000" b="1" dirty="0" err="1"/>
              <a:t>Ir</a:t>
            </a:r>
            <a:r>
              <a:rPr lang="en-US" sz="2000" b="1" dirty="0"/>
              <a:t>=100;</a:t>
            </a:r>
          </a:p>
          <a:p>
            <a:pPr eaLnBrk="1" hangingPunct="1">
              <a:defRPr/>
            </a:pPr>
            <a:r>
              <a:rPr lang="en-US" sz="2000" b="1" dirty="0" err="1"/>
              <a:t>const</a:t>
            </a:r>
            <a:r>
              <a:rPr lang="en-US" sz="2000" b="1" dirty="0"/>
              <a:t> </a:t>
            </a:r>
            <a:r>
              <a:rPr lang="en-US" sz="2000" b="1" dirty="0" err="1"/>
              <a:t>int</a:t>
            </a:r>
            <a:r>
              <a:rPr lang="en-US" sz="2000" b="1" dirty="0"/>
              <a:t> &amp;</a:t>
            </a:r>
            <a:r>
              <a:rPr lang="en-US" sz="2000" b="1" dirty="0" err="1"/>
              <a:t>Ia</a:t>
            </a:r>
            <a:r>
              <a:rPr lang="en-US" sz="2000" b="1" dirty="0"/>
              <a:t>=</a:t>
            </a:r>
            <a:r>
              <a:rPr lang="en-US" sz="2000" b="1" dirty="0" err="1"/>
              <a:t>dval</a:t>
            </a:r>
            <a:endParaRPr lang="en-US" sz="2000" b="1" dirty="0"/>
          </a:p>
          <a:p>
            <a:pPr eaLnBrk="1" hangingPunct="1">
              <a:defRPr/>
            </a:pPr>
            <a:r>
              <a:rPr lang="en-US" sz="2000" b="1" dirty="0" err="1"/>
              <a:t>const</a:t>
            </a:r>
            <a:r>
              <a:rPr lang="en-US" sz="2000" b="1" dirty="0"/>
              <a:t> double &amp;</a:t>
            </a:r>
            <a:r>
              <a:rPr lang="en-US" sz="2000" b="1" dirty="0" err="1"/>
              <a:t>dr</a:t>
            </a:r>
            <a:r>
              <a:rPr lang="en-US" sz="2000" b="1" dirty="0"/>
              <a:t>=dval+1.0</a:t>
            </a:r>
          </a:p>
          <a:p>
            <a:pPr eaLnBrk="1" hangingPunct="1">
              <a:defRPr/>
            </a:pPr>
            <a:endParaRPr lang="en-US" sz="2000" dirty="0"/>
          </a:p>
          <a:p>
            <a:pPr eaLnBrk="1" hangingPunct="1">
              <a:defRPr/>
            </a:pPr>
            <a:r>
              <a:rPr lang="en-US" sz="2000" dirty="0"/>
              <a:t>A </a:t>
            </a:r>
            <a:r>
              <a:rPr lang="en-US" sz="2000" dirty="0" err="1">
                <a:solidFill>
                  <a:srgbClr val="C00000"/>
                </a:solidFill>
              </a:rPr>
              <a:t>const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/>
              <a:t>reference can be initialized to an object of a different type </a:t>
            </a:r>
            <a:r>
              <a:rPr lang="en-US" sz="2000" dirty="0">
                <a:solidFill>
                  <a:srgbClr val="C00000"/>
                </a:solidFill>
              </a:rPr>
              <a:t>(provided there is a conversion from one type to the other) </a:t>
            </a:r>
            <a:r>
              <a:rPr lang="en-US" sz="2000" dirty="0"/>
              <a:t>as well as to non-addressable values such as literal </a:t>
            </a:r>
            <a:r>
              <a:rPr lang="en-US" sz="2000" dirty="0" err="1"/>
              <a:t>const</a:t>
            </a:r>
            <a:endParaRPr lang="en-US" sz="2000" dirty="0"/>
          </a:p>
          <a:p>
            <a:pPr eaLnBrk="1" hangingPunct="1">
              <a:defRPr/>
            </a:pPr>
            <a:r>
              <a:rPr lang="en-US" sz="2000" dirty="0"/>
              <a:t>For non-</a:t>
            </a:r>
            <a:r>
              <a:rPr lang="en-US" sz="2000" dirty="0" err="1"/>
              <a:t>const</a:t>
            </a:r>
            <a:r>
              <a:rPr lang="en-US" sz="2000" dirty="0"/>
              <a:t> reference, the same initialization are not legal</a:t>
            </a: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CE570511-5948-475F-92FE-61B0A01FDE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B8B97D-A0B0-450A-9819-B4E191A0A390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34821" name="Picture 2">
            <a:extLst>
              <a:ext uri="{FF2B5EF4-FFF2-40B4-BE49-F238E27FC236}">
                <a16:creationId xmlns:a16="http://schemas.microsoft.com/office/drawing/2014/main" id="{E729FCB8-8282-4F4C-8CE2-15697A69D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181600"/>
            <a:ext cx="775335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4EA3C70D-3427-4E42-8DBE-805C6CF26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3. 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FCFF1-FFA5-45D5-A805-AB3FC459D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b="1" dirty="0"/>
              <a:t>Note:</a:t>
            </a:r>
          </a:p>
          <a:p>
            <a:pPr>
              <a:defRPr/>
            </a:pPr>
            <a:r>
              <a:rPr lang="en-US" sz="2000" dirty="0"/>
              <a:t>In the case of non-addressable values such as literal constants and objects of a different type, to accomplish this the compilers must generate a </a:t>
            </a:r>
            <a:r>
              <a:rPr lang="en-US" sz="2000" dirty="0">
                <a:solidFill>
                  <a:srgbClr val="C00000"/>
                </a:solidFill>
              </a:rPr>
              <a:t>temporary object </a:t>
            </a:r>
            <a:r>
              <a:rPr lang="en-US" sz="2000" dirty="0"/>
              <a:t>that the reference actually addresses but that the user has no access to it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b="1" dirty="0"/>
              <a:t>Pitfalls in Reference</a:t>
            </a:r>
          </a:p>
          <a:p>
            <a:pPr>
              <a:defRPr/>
            </a:pPr>
            <a:endParaRPr lang="en-US" sz="1100" dirty="0"/>
          </a:p>
          <a:p>
            <a:pPr>
              <a:defRPr/>
            </a:pPr>
            <a:endParaRPr lang="en-US" sz="1100" dirty="0"/>
          </a:p>
          <a:p>
            <a:pPr>
              <a:defRPr/>
            </a:pPr>
            <a:endParaRPr lang="en-US" sz="11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IN" sz="2000" dirty="0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099CE691-4F2E-4022-BE02-FB0017C4F0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0E1C840-2443-489B-9E3D-B5763C4ECF06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35845" name="Picture 2">
            <a:extLst>
              <a:ext uri="{FF2B5EF4-FFF2-40B4-BE49-F238E27FC236}">
                <a16:creationId xmlns:a16="http://schemas.microsoft.com/office/drawing/2014/main" id="{034086BC-22E9-462D-905F-5C150C865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" y="4419600"/>
            <a:ext cx="8853487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46F93E0A-E844-4767-BA66-066661EE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3. 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89929-669E-400E-9FEC-366403A28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>
                <a:solidFill>
                  <a:srgbClr val="C00000"/>
                </a:solidFill>
              </a:rPr>
              <a:t>References and  Pointers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sz="2000" dirty="0"/>
              <a:t>References can be viewed as pointers without usual dereferencing notation</a:t>
            </a:r>
          </a:p>
          <a:p>
            <a:pPr lvl="1" eaLnBrk="1" hangingPunct="1">
              <a:spcBef>
                <a:spcPct val="50000"/>
              </a:spcBef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int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en-US" sz="2000" b="1" dirty="0" err="1">
                <a:solidFill>
                  <a:srgbClr val="C00000"/>
                </a:solidFill>
              </a:rPr>
              <a:t>actualint</a:t>
            </a:r>
            <a:r>
              <a:rPr lang="en-US" sz="2000" b="1" dirty="0">
                <a:solidFill>
                  <a:srgbClr val="C00000"/>
                </a:solidFill>
              </a:rPr>
              <a:t>=123;</a:t>
            </a:r>
          </a:p>
          <a:p>
            <a:pPr lvl="1" eaLnBrk="1" hangingPunct="1">
              <a:spcBef>
                <a:spcPct val="50000"/>
              </a:spcBef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int</a:t>
            </a:r>
            <a:r>
              <a:rPr lang="en-US" sz="2000" b="1" dirty="0">
                <a:solidFill>
                  <a:srgbClr val="C00000"/>
                </a:solidFill>
              </a:rPr>
              <a:t> *</a:t>
            </a:r>
            <a:r>
              <a:rPr lang="en-US" sz="2000" b="1" dirty="0" err="1">
                <a:solidFill>
                  <a:srgbClr val="C00000"/>
                </a:solidFill>
              </a:rPr>
              <a:t>const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en-US" sz="2000" b="1" dirty="0" err="1">
                <a:solidFill>
                  <a:srgbClr val="C00000"/>
                </a:solidFill>
              </a:rPr>
              <a:t>intptr</a:t>
            </a:r>
            <a:r>
              <a:rPr lang="en-US" sz="2000" b="1" dirty="0">
                <a:solidFill>
                  <a:srgbClr val="C00000"/>
                </a:solidFill>
              </a:rPr>
              <a:t>=&amp;</a:t>
            </a:r>
            <a:r>
              <a:rPr lang="en-US" sz="2000" b="1" dirty="0" err="1">
                <a:solidFill>
                  <a:srgbClr val="C00000"/>
                </a:solidFill>
              </a:rPr>
              <a:t>actualint</a:t>
            </a:r>
            <a:r>
              <a:rPr lang="en-US" sz="2000" b="1" dirty="0">
                <a:solidFill>
                  <a:srgbClr val="C00000"/>
                </a:solidFill>
              </a:rPr>
              <a:t>;</a:t>
            </a:r>
          </a:p>
          <a:p>
            <a:pPr lvl="1" eaLnBrk="1" hangingPunct="1">
              <a:spcBef>
                <a:spcPct val="50000"/>
              </a:spcBef>
              <a:defRPr/>
            </a:pPr>
            <a:r>
              <a:rPr lang="en-US" sz="2000" dirty="0" err="1"/>
              <a:t>intptr</a:t>
            </a:r>
            <a:r>
              <a:rPr lang="en-US" sz="2000" dirty="0"/>
              <a:t> is a constant pointer, one cannot make it point to another integer once it has been initialized to </a:t>
            </a:r>
            <a:r>
              <a:rPr lang="en-US" sz="2000" dirty="0" err="1"/>
              <a:t>actualint</a:t>
            </a:r>
            <a:endParaRPr lang="en-US" sz="2000" dirty="0"/>
          </a:p>
          <a:p>
            <a:pPr lvl="1" eaLnBrk="1" hangingPunct="1">
              <a:spcBef>
                <a:spcPct val="50000"/>
              </a:spcBef>
              <a:defRPr/>
            </a:pPr>
            <a:r>
              <a:rPr lang="en-US" sz="2000" dirty="0"/>
              <a:t>same is true for references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A7710491-FF69-4E10-8316-234B3A740A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76EA899-40A6-4A6E-BCA3-10CB1E39678F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B5D09283-4DFB-483B-A298-F5BA0C33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3. 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6C13-890D-4898-9A25-1C2E0941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400" dirty="0">
                <a:solidFill>
                  <a:srgbClr val="C00000"/>
                </a:solidFill>
              </a:rPr>
              <a:t>References and Pointers</a:t>
            </a:r>
          </a:p>
          <a:p>
            <a:pPr lvl="1">
              <a:defRPr/>
            </a:pPr>
            <a:r>
              <a:rPr lang="en-IN" sz="2000" dirty="0"/>
              <a:t>References can’t be manipulated like pointers</a:t>
            </a:r>
          </a:p>
          <a:p>
            <a:pPr lvl="1">
              <a:defRPr/>
            </a:pPr>
            <a:r>
              <a:rPr lang="en-IN" sz="2000" dirty="0"/>
              <a:t>They don’t have pointer arithmetic</a:t>
            </a:r>
          </a:p>
          <a:p>
            <a:pPr lvl="1">
              <a:defRPr/>
            </a:pPr>
            <a:r>
              <a:rPr lang="en-IN" sz="2000" dirty="0"/>
              <a:t>They directly act on the object they refer to.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With pointers, one can use the </a:t>
            </a:r>
            <a:r>
              <a:rPr lang="en-IN" sz="2000" dirty="0" err="1">
                <a:solidFill>
                  <a:srgbClr val="C00000"/>
                </a:solidFill>
              </a:rPr>
              <a:t>const</a:t>
            </a:r>
            <a:r>
              <a:rPr lang="en-IN" sz="2000" dirty="0">
                <a:solidFill>
                  <a:srgbClr val="C00000"/>
                </a:solidFill>
              </a:rPr>
              <a:t> keyword to declare constant pointers and pointers to constant</a:t>
            </a:r>
          </a:p>
          <a:p>
            <a:pPr lvl="1">
              <a:defRPr/>
            </a:pPr>
            <a:endParaRPr lang="en-IN" sz="2000" dirty="0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0EDF4116-0EDC-4364-A006-D99A8BD226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C81B57-6E68-43DF-AAD2-0668BE5C6171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D0524B0D-B469-40B1-AB0D-C0199B16F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3. 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D6603-4421-43B1-B000-321DEE3EB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400" dirty="0">
                <a:solidFill>
                  <a:srgbClr val="C00000"/>
                </a:solidFill>
              </a:rPr>
              <a:t>References vs. Pointers</a:t>
            </a:r>
          </a:p>
          <a:p>
            <a:pPr>
              <a:defRPr/>
            </a:pPr>
            <a:endParaRPr lang="en-IN" sz="2400" dirty="0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CC9C04D9-9683-40E1-B52B-CB27E453C4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41D6A1D-0B8E-44FA-8AAD-9A769CE1711B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38917" name="Picture 3">
            <a:extLst>
              <a:ext uri="{FF2B5EF4-FFF2-40B4-BE49-F238E27FC236}">
                <a16:creationId xmlns:a16="http://schemas.microsoft.com/office/drawing/2014/main" id="{68886C2B-2328-4275-A794-A0DCBA11E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2286000"/>
            <a:ext cx="8648700" cy="277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F382D231-E70E-48EC-B7B8-1478711AB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4400"/>
              <a:t>References vs. Pointers</a:t>
            </a:r>
            <a:endParaRPr lang="en-IN" altLang="en-US"/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96D11B0B-33E2-4E14-BD72-9A439F3D9F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348892F-1302-437E-9B13-358B9D0907D7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39940" name="Picture 2">
            <a:extLst>
              <a:ext uri="{FF2B5EF4-FFF2-40B4-BE49-F238E27FC236}">
                <a16:creationId xmlns:a16="http://schemas.microsoft.com/office/drawing/2014/main" id="{2939664D-F782-4354-BE80-EC1AB5E73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30375"/>
            <a:ext cx="7773988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998E388D-5492-4D46-8584-CDC287D37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Pointer to a Constant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6C9B8-93AE-4838-A92D-B0052102D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 err="1"/>
              <a:t>int</a:t>
            </a:r>
            <a:r>
              <a:rPr lang="en-IN" sz="2000" dirty="0"/>
              <a:t> </a:t>
            </a:r>
            <a:r>
              <a:rPr lang="en-IN" sz="2000" dirty="0" err="1"/>
              <a:t>var</a:t>
            </a:r>
            <a:r>
              <a:rPr lang="en-IN" sz="2000" dirty="0"/>
              <a:t> = 50, var2=100;</a:t>
            </a:r>
          </a:p>
          <a:p>
            <a:pPr>
              <a:defRPr/>
            </a:pPr>
            <a:r>
              <a:rPr lang="en-IN" sz="2000" dirty="0" err="1"/>
              <a:t>const</a:t>
            </a:r>
            <a:r>
              <a:rPr lang="en-IN" sz="2000" dirty="0"/>
              <a:t> </a:t>
            </a:r>
            <a:r>
              <a:rPr lang="en-IN" sz="2000" dirty="0" err="1"/>
              <a:t>int</a:t>
            </a:r>
            <a:r>
              <a:rPr lang="en-IN" sz="2000" dirty="0"/>
              <a:t>  *</a:t>
            </a:r>
            <a:r>
              <a:rPr lang="en-IN" sz="2000" dirty="0" err="1"/>
              <a:t>ptr</a:t>
            </a:r>
            <a:r>
              <a:rPr lang="en-IN" sz="2000" dirty="0"/>
              <a:t>= &amp;</a:t>
            </a:r>
            <a:r>
              <a:rPr lang="en-IN" sz="2000" dirty="0" err="1"/>
              <a:t>var</a:t>
            </a:r>
            <a:r>
              <a:rPr lang="en-IN" sz="2000" dirty="0"/>
              <a:t>;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b="1" dirty="0">
                <a:solidFill>
                  <a:srgbClr val="C00000"/>
                </a:solidFill>
              </a:rPr>
              <a:t>*</a:t>
            </a:r>
            <a:r>
              <a:rPr lang="en-IN" sz="2000" b="1" dirty="0" err="1">
                <a:solidFill>
                  <a:srgbClr val="C00000"/>
                </a:solidFill>
              </a:rPr>
              <a:t>ptr</a:t>
            </a:r>
            <a:r>
              <a:rPr lang="en-IN" sz="2000" b="1" dirty="0">
                <a:solidFill>
                  <a:srgbClr val="C00000"/>
                </a:solidFill>
              </a:rPr>
              <a:t>  = 1000;   //error</a:t>
            </a:r>
          </a:p>
          <a:p>
            <a:pPr>
              <a:defRPr/>
            </a:pPr>
            <a:r>
              <a:rPr lang="en-IN" sz="2000" b="1" dirty="0" err="1">
                <a:solidFill>
                  <a:srgbClr val="C00000"/>
                </a:solidFill>
              </a:rPr>
              <a:t>ptr</a:t>
            </a:r>
            <a:r>
              <a:rPr lang="en-IN" sz="2000" b="1" dirty="0">
                <a:solidFill>
                  <a:srgbClr val="C00000"/>
                </a:solidFill>
              </a:rPr>
              <a:t> = &amp;var2;</a:t>
            </a:r>
          </a:p>
          <a:p>
            <a:pPr>
              <a:defRPr/>
            </a:pPr>
            <a:r>
              <a:rPr lang="en-IN" sz="2000" b="1" dirty="0" err="1">
                <a:solidFill>
                  <a:srgbClr val="C00000"/>
                </a:solidFill>
              </a:rPr>
              <a:t>var</a:t>
            </a:r>
            <a:r>
              <a:rPr lang="en-IN" sz="2000" b="1" dirty="0">
                <a:solidFill>
                  <a:srgbClr val="C00000"/>
                </a:solidFill>
              </a:rPr>
              <a:t>=2000 //correct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A2C3EC0A-66C6-4594-8D2F-7E03459097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C3BCE47-6921-4D4A-BEF8-3D35E2604DC7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0965" name="Picture 2">
            <a:extLst>
              <a:ext uri="{FF2B5EF4-FFF2-40B4-BE49-F238E27FC236}">
                <a16:creationId xmlns:a16="http://schemas.microsoft.com/office/drawing/2014/main" id="{3B87FA4A-9DEF-409C-8AE2-9F66B07F5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286000"/>
            <a:ext cx="558165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7DE577A-47DD-4122-B017-6A83DC66B005}"/>
              </a:ext>
            </a:extLst>
          </p:cNvPr>
          <p:cNvSpPr/>
          <p:nvPr/>
        </p:nvSpPr>
        <p:spPr>
          <a:xfrm>
            <a:off x="4800600" y="3581400"/>
            <a:ext cx="609600" cy="533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519442-3033-49B3-84B0-D199A25556F7}"/>
              </a:ext>
            </a:extLst>
          </p:cNvPr>
          <p:cNvCxnSpPr>
            <a:endCxn id="5" idx="5"/>
          </p:cNvCxnSpPr>
          <p:nvPr/>
        </p:nvCxnSpPr>
        <p:spPr>
          <a:xfrm flipH="1" flipV="1">
            <a:off x="5321300" y="4037013"/>
            <a:ext cx="1155700" cy="12969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8" name="TextBox 11">
            <a:extLst>
              <a:ext uri="{FF2B5EF4-FFF2-40B4-BE49-F238E27FC236}">
                <a16:creationId xmlns:a16="http://schemas.microsoft.com/office/drawing/2014/main" id="{6DCD6168-D158-4CF1-8BB5-3794D6CBD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334000"/>
            <a:ext cx="3733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b="1"/>
              <a:t>Read only value</a:t>
            </a:r>
          </a:p>
          <a:p>
            <a:pPr eaLnBrk="1" hangingPunct="1"/>
            <a:r>
              <a:rPr lang="en-IN" altLang="en-US" b="1"/>
              <a:t>Cannot be changed using ptr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466288A0-8F9D-4A7B-B513-EBF7B5FE8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Constant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2A467-89D3-478B-B3B4-82232CA1C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 err="1"/>
              <a:t>int</a:t>
            </a:r>
            <a:r>
              <a:rPr lang="en-IN" sz="2000" dirty="0"/>
              <a:t> </a:t>
            </a:r>
            <a:r>
              <a:rPr lang="en-IN" sz="2000" dirty="0" err="1"/>
              <a:t>var</a:t>
            </a:r>
            <a:r>
              <a:rPr lang="en-IN" sz="2000" dirty="0"/>
              <a:t> = 50, var2=100;</a:t>
            </a:r>
          </a:p>
          <a:p>
            <a:pPr>
              <a:defRPr/>
            </a:pPr>
            <a:r>
              <a:rPr lang="en-IN" sz="2000" dirty="0" err="1"/>
              <a:t>int</a:t>
            </a:r>
            <a:r>
              <a:rPr lang="en-IN" sz="2000" dirty="0"/>
              <a:t>  *</a:t>
            </a:r>
            <a:r>
              <a:rPr lang="en-IN" sz="2000" dirty="0" err="1"/>
              <a:t>const</a:t>
            </a:r>
            <a:r>
              <a:rPr lang="en-IN" sz="2000" dirty="0"/>
              <a:t> </a:t>
            </a:r>
            <a:r>
              <a:rPr lang="en-IN" sz="2000" dirty="0" err="1"/>
              <a:t>ptr</a:t>
            </a:r>
            <a:r>
              <a:rPr lang="en-IN" sz="2000" dirty="0"/>
              <a:t>= &amp;</a:t>
            </a:r>
            <a:r>
              <a:rPr lang="en-IN" sz="2000" dirty="0" err="1"/>
              <a:t>var</a:t>
            </a:r>
            <a:r>
              <a:rPr lang="en-IN" sz="2000" dirty="0"/>
              <a:t>;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IN" sz="2000" b="1" dirty="0" err="1">
                <a:solidFill>
                  <a:srgbClr val="C00000"/>
                </a:solidFill>
              </a:rPr>
              <a:t>ptr</a:t>
            </a:r>
            <a:r>
              <a:rPr lang="en-IN" sz="2000" b="1" dirty="0">
                <a:solidFill>
                  <a:srgbClr val="C00000"/>
                </a:solidFill>
              </a:rPr>
              <a:t>  = &amp;var2;   //error</a:t>
            </a:r>
          </a:p>
          <a:p>
            <a:pPr>
              <a:defRPr/>
            </a:pPr>
            <a:r>
              <a:rPr lang="en-IN" sz="2000" b="1" dirty="0">
                <a:solidFill>
                  <a:srgbClr val="C00000"/>
                </a:solidFill>
              </a:rPr>
              <a:t>*</a:t>
            </a:r>
            <a:r>
              <a:rPr lang="en-IN" sz="2000" b="1" dirty="0" err="1">
                <a:solidFill>
                  <a:srgbClr val="C00000"/>
                </a:solidFill>
              </a:rPr>
              <a:t>ptr</a:t>
            </a:r>
            <a:r>
              <a:rPr lang="en-IN" sz="2000" b="1" dirty="0">
                <a:solidFill>
                  <a:srgbClr val="C00000"/>
                </a:solidFill>
              </a:rPr>
              <a:t> = 1000;    // correct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9D8F549B-459A-4783-BBA7-C7E4E2F1B6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A6CBF5-F1E7-41C6-8F67-826E9D9432BA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1989" name="Picture 2">
            <a:extLst>
              <a:ext uri="{FF2B5EF4-FFF2-40B4-BE49-F238E27FC236}">
                <a16:creationId xmlns:a16="http://schemas.microsoft.com/office/drawing/2014/main" id="{C05EA42F-192F-4537-8A04-3BE72C559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286000"/>
            <a:ext cx="558165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7EAD6BA-6833-45FC-9C36-43A8CB159DD1}"/>
              </a:ext>
            </a:extLst>
          </p:cNvPr>
          <p:cNvSpPr/>
          <p:nvPr/>
        </p:nvSpPr>
        <p:spPr>
          <a:xfrm>
            <a:off x="6019800" y="3581400"/>
            <a:ext cx="609600" cy="533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9A3BF9F3-631E-46B8-85B3-7A60D8B6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Constant Pointer to Constant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D1F85-9CE5-4009-9604-848D9CB3A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 err="1"/>
              <a:t>int</a:t>
            </a:r>
            <a:r>
              <a:rPr lang="en-IN" sz="2000" dirty="0"/>
              <a:t> </a:t>
            </a:r>
            <a:r>
              <a:rPr lang="en-IN" sz="2000" dirty="0" err="1"/>
              <a:t>var</a:t>
            </a:r>
            <a:r>
              <a:rPr lang="en-IN" sz="2000" dirty="0"/>
              <a:t> = 50, var2=100;</a:t>
            </a:r>
          </a:p>
          <a:p>
            <a:pPr>
              <a:defRPr/>
            </a:pPr>
            <a:r>
              <a:rPr lang="en-IN" sz="2000" dirty="0" err="1"/>
              <a:t>const</a:t>
            </a:r>
            <a:r>
              <a:rPr lang="en-IN" sz="2000" dirty="0"/>
              <a:t> </a:t>
            </a:r>
            <a:r>
              <a:rPr lang="en-IN" sz="2000" dirty="0" err="1"/>
              <a:t>int</a:t>
            </a:r>
            <a:r>
              <a:rPr lang="en-IN" sz="2000" dirty="0"/>
              <a:t>  *</a:t>
            </a:r>
            <a:r>
              <a:rPr lang="en-IN" sz="2000" dirty="0" err="1"/>
              <a:t>const</a:t>
            </a:r>
            <a:r>
              <a:rPr lang="en-IN" sz="2000" dirty="0"/>
              <a:t> </a:t>
            </a:r>
            <a:r>
              <a:rPr lang="en-IN" sz="2000" dirty="0" err="1"/>
              <a:t>ptr</a:t>
            </a:r>
            <a:r>
              <a:rPr lang="en-IN" sz="2000" dirty="0"/>
              <a:t>= &amp;</a:t>
            </a:r>
            <a:r>
              <a:rPr lang="en-IN" sz="2000" dirty="0" err="1"/>
              <a:t>var</a:t>
            </a:r>
            <a:r>
              <a:rPr lang="en-IN" sz="2000" dirty="0"/>
              <a:t>;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b="1" dirty="0" err="1">
                <a:solidFill>
                  <a:srgbClr val="C00000"/>
                </a:solidFill>
              </a:rPr>
              <a:t>ptr</a:t>
            </a:r>
            <a:r>
              <a:rPr lang="en-IN" sz="2000" b="1" dirty="0">
                <a:solidFill>
                  <a:srgbClr val="C00000"/>
                </a:solidFill>
              </a:rPr>
              <a:t>  = &amp;var2;   //error</a:t>
            </a:r>
          </a:p>
          <a:p>
            <a:pPr>
              <a:defRPr/>
            </a:pPr>
            <a:r>
              <a:rPr lang="en-IN" sz="2000" b="1" dirty="0">
                <a:solidFill>
                  <a:srgbClr val="C00000"/>
                </a:solidFill>
              </a:rPr>
              <a:t>*</a:t>
            </a:r>
            <a:r>
              <a:rPr lang="en-IN" sz="2000" b="1" dirty="0" err="1">
                <a:solidFill>
                  <a:srgbClr val="C00000"/>
                </a:solidFill>
              </a:rPr>
              <a:t>ptr</a:t>
            </a:r>
            <a:r>
              <a:rPr lang="en-IN" sz="2000" b="1" dirty="0">
                <a:solidFill>
                  <a:srgbClr val="C00000"/>
                </a:solidFill>
              </a:rPr>
              <a:t> = 1000;    // error</a:t>
            </a:r>
          </a:p>
          <a:p>
            <a:pPr>
              <a:defRPr/>
            </a:pPr>
            <a:r>
              <a:rPr lang="en-IN" sz="2000" dirty="0" err="1"/>
              <a:t>var</a:t>
            </a:r>
            <a:r>
              <a:rPr lang="en-IN" sz="2000" dirty="0"/>
              <a:t> = 2000;  //correct</a:t>
            </a: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41EC7BB2-1285-43B7-A06E-987AB82636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825E34-91AB-42E3-BC62-261B3E7EE028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3013" name="Picture 2">
            <a:extLst>
              <a:ext uri="{FF2B5EF4-FFF2-40B4-BE49-F238E27FC236}">
                <a16:creationId xmlns:a16="http://schemas.microsoft.com/office/drawing/2014/main" id="{40709660-D452-440D-BB20-D5DC125EF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286000"/>
            <a:ext cx="558165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D12E739C-CC78-492A-BEC5-F667B5849858}"/>
              </a:ext>
            </a:extLst>
          </p:cNvPr>
          <p:cNvSpPr/>
          <p:nvPr/>
        </p:nvSpPr>
        <p:spPr>
          <a:xfrm>
            <a:off x="6019800" y="3581400"/>
            <a:ext cx="609600" cy="533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915D27-3D83-41B9-B5EF-7A42751877DB}"/>
              </a:ext>
            </a:extLst>
          </p:cNvPr>
          <p:cNvSpPr/>
          <p:nvPr/>
        </p:nvSpPr>
        <p:spPr>
          <a:xfrm>
            <a:off x="4826000" y="3581400"/>
            <a:ext cx="609600" cy="533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FC25EFD0-A19F-43AC-87CB-BE989F367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3. 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8D3E9-462C-4CA5-BACE-591705DD4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>
                <a:solidFill>
                  <a:srgbClr val="C00000"/>
                </a:solidFill>
              </a:rPr>
              <a:t>Reference to constant</a:t>
            </a:r>
          </a:p>
          <a:p>
            <a:pPr eaLnBrk="1" hangingPunct="1">
              <a:defRPr/>
            </a:pPr>
            <a:r>
              <a:rPr lang="en-US" sz="2000" dirty="0"/>
              <a:t>One can declare a reference to a constant</a:t>
            </a:r>
          </a:p>
          <a:p>
            <a:pPr lvl="1" eaLnBrk="1" hangingPunct="1">
              <a:defRPr/>
            </a:pPr>
            <a:r>
              <a:rPr lang="en-US" sz="2000" dirty="0" err="1">
                <a:solidFill>
                  <a:srgbClr val="C00000"/>
                </a:solidFill>
              </a:rPr>
              <a:t>int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actualint</a:t>
            </a:r>
            <a:r>
              <a:rPr lang="en-US" sz="2000" dirty="0">
                <a:solidFill>
                  <a:srgbClr val="C00000"/>
                </a:solidFill>
              </a:rPr>
              <a:t>=123;</a:t>
            </a:r>
          </a:p>
          <a:p>
            <a:pPr lvl="1" eaLnBrk="1" hangingPunct="1">
              <a:defRPr/>
            </a:pPr>
            <a:r>
              <a:rPr lang="en-US" sz="2000" dirty="0" err="1">
                <a:solidFill>
                  <a:srgbClr val="C00000"/>
                </a:solidFill>
              </a:rPr>
              <a:t>const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int</a:t>
            </a:r>
            <a:r>
              <a:rPr lang="en-US" sz="2000" dirty="0">
                <a:solidFill>
                  <a:srgbClr val="C00000"/>
                </a:solidFill>
              </a:rPr>
              <a:t>&amp; </a:t>
            </a:r>
            <a:r>
              <a:rPr lang="en-US" sz="2000" dirty="0" err="1">
                <a:solidFill>
                  <a:srgbClr val="C00000"/>
                </a:solidFill>
              </a:rPr>
              <a:t>otherint</a:t>
            </a:r>
            <a:r>
              <a:rPr lang="en-US" sz="2000" dirty="0">
                <a:solidFill>
                  <a:srgbClr val="C00000"/>
                </a:solidFill>
              </a:rPr>
              <a:t> = </a:t>
            </a:r>
            <a:r>
              <a:rPr lang="en-US" sz="2000" dirty="0" err="1">
                <a:solidFill>
                  <a:srgbClr val="C00000"/>
                </a:solidFill>
              </a:rPr>
              <a:t>actualint</a:t>
            </a:r>
            <a:r>
              <a:rPr lang="en-US" sz="2000" dirty="0">
                <a:solidFill>
                  <a:srgbClr val="C00000"/>
                </a:solidFill>
              </a:rPr>
              <a:t>;</a:t>
            </a:r>
          </a:p>
          <a:p>
            <a:pPr eaLnBrk="1" hangingPunct="1">
              <a:defRPr/>
            </a:pPr>
            <a:endParaRPr lang="en-US" sz="2400" dirty="0">
              <a:solidFill>
                <a:schemeClr val="accent2"/>
              </a:solidFill>
            </a:endParaRPr>
          </a:p>
          <a:p>
            <a:pPr eaLnBrk="1" hangingPunct="1">
              <a:defRPr/>
            </a:pPr>
            <a:r>
              <a:rPr lang="en-US" sz="2000" dirty="0"/>
              <a:t>This makes </a:t>
            </a:r>
            <a:r>
              <a:rPr lang="en-US" sz="2000" dirty="0" err="1"/>
              <a:t>otherint</a:t>
            </a:r>
            <a:r>
              <a:rPr lang="en-US" sz="2000" dirty="0"/>
              <a:t> a </a:t>
            </a:r>
            <a:r>
              <a:rPr lang="en-US" sz="2000" dirty="0" err="1"/>
              <a:t>readonly</a:t>
            </a:r>
            <a:r>
              <a:rPr lang="en-US" sz="2000" dirty="0"/>
              <a:t> alias for </a:t>
            </a:r>
            <a:r>
              <a:rPr lang="en-US" sz="2000" dirty="0" err="1"/>
              <a:t>actualint</a:t>
            </a:r>
            <a:r>
              <a:rPr lang="en-US" sz="2000" dirty="0"/>
              <a:t>. You can’t make any modification to </a:t>
            </a:r>
            <a:r>
              <a:rPr lang="en-US" sz="2000" dirty="0" err="1"/>
              <a:t>otherint</a:t>
            </a:r>
            <a:r>
              <a:rPr lang="en-US" sz="2000" dirty="0"/>
              <a:t>, only to </a:t>
            </a:r>
            <a:r>
              <a:rPr lang="en-US" sz="2000" dirty="0" err="1"/>
              <a:t>actualint</a:t>
            </a:r>
            <a:endParaRPr lang="en-US" sz="2000" dirty="0"/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r>
              <a:rPr lang="en-US" sz="2000" dirty="0"/>
              <a:t>One </a:t>
            </a:r>
            <a:r>
              <a:rPr lang="en-US" sz="2000" b="1" dirty="0"/>
              <a:t>cannot</a:t>
            </a:r>
            <a:r>
              <a:rPr lang="en-US" sz="2000" dirty="0"/>
              <a:t> declare a constant reference</a:t>
            </a:r>
          </a:p>
          <a:p>
            <a:pPr lvl="1" eaLnBrk="1" hangingPunct="1"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int</a:t>
            </a:r>
            <a:r>
              <a:rPr lang="en-US" sz="2000" b="1" dirty="0">
                <a:solidFill>
                  <a:srgbClr val="C00000"/>
                </a:solidFill>
              </a:rPr>
              <a:t> &amp;</a:t>
            </a:r>
            <a:r>
              <a:rPr lang="en-US" sz="2000" b="1" dirty="0" err="1">
                <a:solidFill>
                  <a:srgbClr val="C00000"/>
                </a:solidFill>
              </a:rPr>
              <a:t>const</a:t>
            </a:r>
            <a:r>
              <a:rPr lang="en-US" sz="2000" b="1" dirty="0">
                <a:solidFill>
                  <a:srgbClr val="C00000"/>
                </a:solidFill>
              </a:rPr>
              <a:t>  </a:t>
            </a:r>
            <a:r>
              <a:rPr lang="en-US" sz="2000" b="1" dirty="0" err="1">
                <a:solidFill>
                  <a:srgbClr val="C00000"/>
                </a:solidFill>
              </a:rPr>
              <a:t>otherint</a:t>
            </a:r>
            <a:r>
              <a:rPr lang="en-US" sz="2000" b="1" dirty="0">
                <a:solidFill>
                  <a:srgbClr val="C00000"/>
                </a:solidFill>
              </a:rPr>
              <a:t> = </a:t>
            </a:r>
            <a:r>
              <a:rPr lang="en-US" sz="2000" b="1" dirty="0" err="1">
                <a:solidFill>
                  <a:srgbClr val="C00000"/>
                </a:solidFill>
              </a:rPr>
              <a:t>actualint</a:t>
            </a:r>
            <a:r>
              <a:rPr lang="en-US" sz="2000" b="1" dirty="0">
                <a:solidFill>
                  <a:srgbClr val="C00000"/>
                </a:solidFill>
              </a:rPr>
              <a:t>;       //error </a:t>
            </a:r>
          </a:p>
          <a:p>
            <a:pPr eaLnBrk="1" hangingPunct="1">
              <a:defRPr/>
            </a:pPr>
            <a:r>
              <a:rPr lang="en-US" sz="2000" b="1" dirty="0"/>
              <a:t>meaningless all references are constant by definition</a:t>
            </a:r>
          </a:p>
          <a:p>
            <a:pPr>
              <a:defRPr/>
            </a:pPr>
            <a:endParaRPr lang="en-IN" sz="2400" dirty="0">
              <a:solidFill>
                <a:srgbClr val="C00000"/>
              </a:solidFill>
            </a:endParaRPr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C2C3A5EA-124E-443E-B870-21B4A6BFBE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37D5164-8288-4D1E-80F8-10D4882DDA7C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ACC03CB6-F240-4826-B7E5-23A53C04B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3. Pass by Reference</a:t>
            </a:r>
          </a:p>
        </p:txBody>
      </p:sp>
      <p:sp>
        <p:nvSpPr>
          <p:cNvPr id="45059" name="Slide Number Placeholder 3">
            <a:extLst>
              <a:ext uri="{FF2B5EF4-FFF2-40B4-BE49-F238E27FC236}">
                <a16:creationId xmlns:a16="http://schemas.microsoft.com/office/drawing/2014/main" id="{0AA3A336-C07B-4C3C-8702-CD5647162B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E09EE6-9112-416A-86C0-69B517A49D64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5060" name="Picture 2">
            <a:extLst>
              <a:ext uri="{FF2B5EF4-FFF2-40B4-BE49-F238E27FC236}">
                <a16:creationId xmlns:a16="http://schemas.microsoft.com/office/drawing/2014/main" id="{9185524E-16AB-4DE9-9A94-C5512F10E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62088"/>
            <a:ext cx="8763000" cy="123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1" name="Picture 3">
            <a:extLst>
              <a:ext uri="{FF2B5EF4-FFF2-40B4-BE49-F238E27FC236}">
                <a16:creationId xmlns:a16="http://schemas.microsoft.com/office/drawing/2014/main" id="{9EB20A32-00A6-4DD4-AC97-72062F7F4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4548188"/>
            <a:ext cx="8531225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2" name="Picture 4">
            <a:extLst>
              <a:ext uri="{FF2B5EF4-FFF2-40B4-BE49-F238E27FC236}">
                <a16:creationId xmlns:a16="http://schemas.microsoft.com/office/drawing/2014/main" id="{CB2EA9EA-39A4-4737-A710-8BCFFD4CE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2971800"/>
            <a:ext cx="8424862" cy="157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14C1811C-7591-4CDD-AA25-06D35CB8A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3. 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B37FC-FD81-41AF-AD97-2A0A73056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Which of the following initializations are legal? Explain Why?</a:t>
            </a:r>
          </a:p>
          <a:p>
            <a:pPr>
              <a:spcAft>
                <a:spcPts val="600"/>
              </a:spcAft>
              <a:defRPr/>
            </a:pPr>
            <a:r>
              <a:rPr lang="pt-BR" sz="2000" dirty="0">
                <a:solidFill>
                  <a:srgbClr val="C00000"/>
                </a:solidFill>
              </a:rPr>
              <a:t>(a) int i = -1, &amp;r = 0;</a:t>
            </a:r>
          </a:p>
          <a:p>
            <a:pPr>
              <a:spcAft>
                <a:spcPts val="600"/>
              </a:spcAft>
              <a:defRPr/>
            </a:pPr>
            <a:r>
              <a:rPr lang="en-IN" sz="2000" dirty="0">
                <a:solidFill>
                  <a:srgbClr val="C00000"/>
                </a:solidFill>
              </a:rPr>
              <a:t>(b) </a:t>
            </a:r>
            <a:r>
              <a:rPr lang="en-IN" sz="2000" dirty="0" err="1">
                <a:solidFill>
                  <a:srgbClr val="C00000"/>
                </a:solidFill>
              </a:rPr>
              <a:t>int</a:t>
            </a:r>
            <a:r>
              <a:rPr lang="en-IN" sz="2000" dirty="0">
                <a:solidFill>
                  <a:srgbClr val="C00000"/>
                </a:solidFill>
              </a:rPr>
              <a:t> *</a:t>
            </a:r>
            <a:r>
              <a:rPr lang="en-IN" sz="2000" dirty="0" err="1">
                <a:solidFill>
                  <a:srgbClr val="C00000"/>
                </a:solidFill>
              </a:rPr>
              <a:t>const</a:t>
            </a:r>
            <a:r>
              <a:rPr lang="en-IN" sz="2000" dirty="0">
                <a:solidFill>
                  <a:srgbClr val="C00000"/>
                </a:solidFill>
              </a:rPr>
              <a:t> p2 = &amp;i2;</a:t>
            </a:r>
          </a:p>
          <a:p>
            <a:pPr>
              <a:spcAft>
                <a:spcPts val="600"/>
              </a:spcAft>
              <a:defRPr/>
            </a:pPr>
            <a:r>
              <a:rPr lang="en-IN" sz="2000" dirty="0">
                <a:solidFill>
                  <a:srgbClr val="C00000"/>
                </a:solidFill>
              </a:rPr>
              <a:t>(c) </a:t>
            </a:r>
            <a:r>
              <a:rPr lang="en-IN" sz="2000" dirty="0" err="1">
                <a:solidFill>
                  <a:srgbClr val="C00000"/>
                </a:solidFill>
              </a:rPr>
              <a:t>const</a:t>
            </a:r>
            <a:r>
              <a:rPr lang="en-IN" sz="2000" dirty="0">
                <a:solidFill>
                  <a:srgbClr val="C00000"/>
                </a:solidFill>
              </a:rPr>
              <a:t> </a:t>
            </a:r>
            <a:r>
              <a:rPr lang="en-IN" sz="2000" dirty="0" err="1">
                <a:solidFill>
                  <a:srgbClr val="C00000"/>
                </a:solidFill>
              </a:rPr>
              <a:t>int</a:t>
            </a:r>
            <a:r>
              <a:rPr lang="en-IN" sz="2000" dirty="0">
                <a:solidFill>
                  <a:srgbClr val="C00000"/>
                </a:solidFill>
              </a:rPr>
              <a:t> i = -1, &amp;r = 0;</a:t>
            </a:r>
          </a:p>
          <a:p>
            <a:pPr>
              <a:spcAft>
                <a:spcPts val="600"/>
              </a:spcAft>
              <a:defRPr/>
            </a:pPr>
            <a:r>
              <a:rPr lang="en-IN" sz="2000" dirty="0">
                <a:solidFill>
                  <a:srgbClr val="C00000"/>
                </a:solidFill>
              </a:rPr>
              <a:t>(d) </a:t>
            </a:r>
            <a:r>
              <a:rPr lang="en-IN" sz="2000" dirty="0" err="1">
                <a:solidFill>
                  <a:srgbClr val="C00000"/>
                </a:solidFill>
              </a:rPr>
              <a:t>const</a:t>
            </a:r>
            <a:r>
              <a:rPr lang="en-IN" sz="2000" dirty="0">
                <a:solidFill>
                  <a:srgbClr val="C00000"/>
                </a:solidFill>
              </a:rPr>
              <a:t> </a:t>
            </a:r>
            <a:r>
              <a:rPr lang="en-IN" sz="2000" dirty="0" err="1">
                <a:solidFill>
                  <a:srgbClr val="C00000"/>
                </a:solidFill>
              </a:rPr>
              <a:t>int</a:t>
            </a:r>
            <a:r>
              <a:rPr lang="en-IN" sz="2000" dirty="0">
                <a:solidFill>
                  <a:srgbClr val="C00000"/>
                </a:solidFill>
              </a:rPr>
              <a:t> *</a:t>
            </a:r>
            <a:r>
              <a:rPr lang="en-IN" sz="2000" dirty="0" err="1">
                <a:solidFill>
                  <a:srgbClr val="C00000"/>
                </a:solidFill>
              </a:rPr>
              <a:t>const</a:t>
            </a:r>
            <a:r>
              <a:rPr lang="en-IN" sz="2000" dirty="0">
                <a:solidFill>
                  <a:srgbClr val="C00000"/>
                </a:solidFill>
              </a:rPr>
              <a:t> p3 = &amp;i2;</a:t>
            </a:r>
          </a:p>
          <a:p>
            <a:pPr>
              <a:spcAft>
                <a:spcPts val="600"/>
              </a:spcAft>
              <a:defRPr/>
            </a:pPr>
            <a:r>
              <a:rPr lang="en-IN" sz="2000" dirty="0">
                <a:solidFill>
                  <a:srgbClr val="C00000"/>
                </a:solidFill>
              </a:rPr>
              <a:t>(e) </a:t>
            </a:r>
            <a:r>
              <a:rPr lang="en-IN" sz="2000" dirty="0" err="1">
                <a:solidFill>
                  <a:srgbClr val="C00000"/>
                </a:solidFill>
              </a:rPr>
              <a:t>const</a:t>
            </a:r>
            <a:r>
              <a:rPr lang="en-IN" sz="2000" dirty="0">
                <a:solidFill>
                  <a:srgbClr val="C00000"/>
                </a:solidFill>
              </a:rPr>
              <a:t> </a:t>
            </a:r>
            <a:r>
              <a:rPr lang="en-IN" sz="2000" dirty="0" err="1">
                <a:solidFill>
                  <a:srgbClr val="C00000"/>
                </a:solidFill>
              </a:rPr>
              <a:t>int</a:t>
            </a:r>
            <a:r>
              <a:rPr lang="en-IN" sz="2000" dirty="0">
                <a:solidFill>
                  <a:srgbClr val="C00000"/>
                </a:solidFill>
              </a:rPr>
              <a:t> *p1 = &amp;i2;</a:t>
            </a:r>
          </a:p>
          <a:p>
            <a:pPr>
              <a:spcAft>
                <a:spcPts val="600"/>
              </a:spcAft>
              <a:defRPr/>
            </a:pPr>
            <a:r>
              <a:rPr lang="en-IN" sz="2000" dirty="0">
                <a:solidFill>
                  <a:srgbClr val="C00000"/>
                </a:solidFill>
              </a:rPr>
              <a:t>(f) </a:t>
            </a:r>
            <a:r>
              <a:rPr lang="en-IN" sz="2000" dirty="0" err="1">
                <a:solidFill>
                  <a:srgbClr val="C00000"/>
                </a:solidFill>
              </a:rPr>
              <a:t>const</a:t>
            </a:r>
            <a:r>
              <a:rPr lang="en-IN" sz="2000" dirty="0">
                <a:solidFill>
                  <a:srgbClr val="C00000"/>
                </a:solidFill>
              </a:rPr>
              <a:t> </a:t>
            </a:r>
            <a:r>
              <a:rPr lang="en-IN" sz="2000" dirty="0" err="1">
                <a:solidFill>
                  <a:srgbClr val="C00000"/>
                </a:solidFill>
              </a:rPr>
              <a:t>int</a:t>
            </a:r>
            <a:r>
              <a:rPr lang="en-IN" sz="2000" dirty="0">
                <a:solidFill>
                  <a:srgbClr val="C00000"/>
                </a:solidFill>
              </a:rPr>
              <a:t> &amp;</a:t>
            </a:r>
            <a:r>
              <a:rPr lang="en-IN" sz="2000" dirty="0" err="1">
                <a:solidFill>
                  <a:srgbClr val="C00000"/>
                </a:solidFill>
              </a:rPr>
              <a:t>const</a:t>
            </a:r>
            <a:r>
              <a:rPr lang="en-IN" sz="2000" dirty="0">
                <a:solidFill>
                  <a:srgbClr val="C00000"/>
                </a:solidFill>
              </a:rPr>
              <a:t> r2;</a:t>
            </a:r>
          </a:p>
          <a:p>
            <a:pPr>
              <a:spcAft>
                <a:spcPts val="600"/>
              </a:spcAft>
              <a:defRPr/>
            </a:pPr>
            <a:r>
              <a:rPr lang="en-IN" sz="2000" dirty="0">
                <a:solidFill>
                  <a:srgbClr val="C00000"/>
                </a:solidFill>
              </a:rPr>
              <a:t>(g) </a:t>
            </a:r>
            <a:r>
              <a:rPr lang="en-IN" sz="2000" dirty="0" err="1">
                <a:solidFill>
                  <a:srgbClr val="C00000"/>
                </a:solidFill>
              </a:rPr>
              <a:t>const</a:t>
            </a:r>
            <a:r>
              <a:rPr lang="en-IN" sz="2000" dirty="0">
                <a:solidFill>
                  <a:srgbClr val="C00000"/>
                </a:solidFill>
              </a:rPr>
              <a:t> </a:t>
            </a:r>
            <a:r>
              <a:rPr lang="en-IN" sz="2000" dirty="0" err="1">
                <a:solidFill>
                  <a:srgbClr val="C00000"/>
                </a:solidFill>
              </a:rPr>
              <a:t>int</a:t>
            </a:r>
            <a:r>
              <a:rPr lang="en-IN" sz="2000" dirty="0">
                <a:solidFill>
                  <a:srgbClr val="C00000"/>
                </a:solidFill>
              </a:rPr>
              <a:t> i2 = i, &amp;r = i;</a:t>
            </a:r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6A11D105-FD73-4C82-B496-539D9F1739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CC12894-F3C7-4407-BB29-91B9FAC0ECF6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64CD73A0-9F0E-4584-895A-6399EC43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3. Pass by Reference</a:t>
            </a:r>
          </a:p>
        </p:txBody>
      </p:sp>
      <p:sp>
        <p:nvSpPr>
          <p:cNvPr id="47107" name="Slide Number Placeholder 3">
            <a:extLst>
              <a:ext uri="{FF2B5EF4-FFF2-40B4-BE49-F238E27FC236}">
                <a16:creationId xmlns:a16="http://schemas.microsoft.com/office/drawing/2014/main" id="{AD136CFB-EB9C-41FF-8829-0A2340879C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52E37DF-CACB-4694-A098-A37E3AB55DD6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CB68EE18-9C38-41A0-9B76-620B20C91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600200"/>
            <a:ext cx="80772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solidFill>
                  <a:srgbClr val="A50021"/>
                </a:solidFill>
              </a:rPr>
              <a:t>void swap (int&amp;, int&amp;);		//prototype</a:t>
            </a:r>
          </a:p>
          <a:p>
            <a:r>
              <a:rPr lang="en-US" altLang="en-US" sz="2000"/>
              <a:t>main( )</a:t>
            </a:r>
          </a:p>
          <a:p>
            <a:r>
              <a:rPr lang="en-US" altLang="en-US" sz="2000"/>
              <a:t>{	int x=10,y=20; 	</a:t>
            </a:r>
          </a:p>
          <a:p>
            <a:r>
              <a:rPr lang="en-US" altLang="en-US" sz="2000"/>
              <a:t>	cout&lt;&lt;“x=“&lt;&lt;x&lt;&lt;“ y=“&lt;&lt;y;		output:  x=10  y=20</a:t>
            </a:r>
          </a:p>
          <a:p>
            <a:r>
              <a:rPr lang="en-US" altLang="en-US" sz="2000"/>
              <a:t>	</a:t>
            </a:r>
            <a:r>
              <a:rPr lang="en-US" altLang="en-US" sz="2000">
                <a:solidFill>
                  <a:srgbClr val="C00000"/>
                </a:solidFill>
              </a:rPr>
              <a:t>swap (x, y);  </a:t>
            </a:r>
            <a:r>
              <a:rPr lang="en-US" altLang="en-US" sz="2000"/>
              <a:t>			</a:t>
            </a:r>
          </a:p>
          <a:p>
            <a:r>
              <a:rPr lang="en-US" altLang="en-US" sz="2000"/>
              <a:t>	cout&lt;&lt;“x=“&lt;&lt;x&lt;&lt;“ y=“&lt;&lt;y;		output:  x=20  y=10</a:t>
            </a:r>
          </a:p>
          <a:p>
            <a:r>
              <a:rPr lang="en-US" altLang="en-US" sz="2000"/>
              <a:t>}</a:t>
            </a:r>
          </a:p>
        </p:txBody>
      </p:sp>
      <p:sp>
        <p:nvSpPr>
          <p:cNvPr id="47109" name="Rectangle 4">
            <a:extLst>
              <a:ext uri="{FF2B5EF4-FFF2-40B4-BE49-F238E27FC236}">
                <a16:creationId xmlns:a16="http://schemas.microsoft.com/office/drawing/2014/main" id="{1DAED8C4-D9AD-41B2-B232-87860E09F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038600"/>
            <a:ext cx="7848600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solidFill>
                  <a:srgbClr val="A50021"/>
                </a:solidFill>
              </a:rPr>
              <a:t>void swap (int &amp;a, int &amp;b)  	</a:t>
            </a:r>
            <a:r>
              <a:rPr lang="en-US" altLang="en-US" sz="2000"/>
              <a:t>		 </a:t>
            </a:r>
          </a:p>
          <a:p>
            <a:r>
              <a:rPr lang="en-US" altLang="en-US" sz="2000"/>
              <a:t>{	       	</a:t>
            </a:r>
          </a:p>
          <a:p>
            <a:r>
              <a:rPr lang="en-US" altLang="en-US" sz="2000"/>
              <a:t>	int t;</a:t>
            </a:r>
          </a:p>
          <a:p>
            <a:r>
              <a:rPr lang="en-US" altLang="en-US" sz="2000"/>
              <a:t>	t=a; </a:t>
            </a:r>
          </a:p>
          <a:p>
            <a:r>
              <a:rPr lang="en-US" altLang="en-US" sz="2000"/>
              <a:t>	a=b;	</a:t>
            </a:r>
          </a:p>
          <a:p>
            <a:r>
              <a:rPr lang="en-US" altLang="en-US" sz="2000"/>
              <a:t>             b=t;</a:t>
            </a:r>
          </a:p>
          <a:p>
            <a:r>
              <a:rPr lang="en-US" altLang="en-US" sz="2000"/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0BA0AB-BA23-4DC6-82C1-24584854603F}"/>
              </a:ext>
            </a:extLst>
          </p:cNvPr>
          <p:cNvSpPr/>
          <p:nvPr/>
        </p:nvSpPr>
        <p:spPr>
          <a:xfrm>
            <a:off x="6451600" y="4125913"/>
            <a:ext cx="8382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C8C0FF-5974-46A6-A12A-BF73ECFF57CB}"/>
              </a:ext>
            </a:extLst>
          </p:cNvPr>
          <p:cNvSpPr/>
          <p:nvPr/>
        </p:nvSpPr>
        <p:spPr>
          <a:xfrm>
            <a:off x="7518400" y="4125913"/>
            <a:ext cx="8382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47112" name="TextBox 7">
            <a:extLst>
              <a:ext uri="{FF2B5EF4-FFF2-40B4-BE49-F238E27FC236}">
                <a16:creationId xmlns:a16="http://schemas.microsoft.com/office/drawing/2014/main" id="{5A2F75D4-82E4-4AF1-8357-E8EF65C33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4735513"/>
            <a:ext cx="2133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11223        22446</a:t>
            </a:r>
          </a:p>
        </p:txBody>
      </p:sp>
      <p:sp>
        <p:nvSpPr>
          <p:cNvPr id="47113" name="TextBox 8">
            <a:extLst>
              <a:ext uri="{FF2B5EF4-FFF2-40B4-BE49-F238E27FC236}">
                <a16:creationId xmlns:a16="http://schemas.microsoft.com/office/drawing/2014/main" id="{F4D3EF22-B0DD-40E2-BE03-F5A29E5E4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6513" y="3775075"/>
            <a:ext cx="2133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     x               y</a:t>
            </a:r>
          </a:p>
        </p:txBody>
      </p:sp>
      <p:sp>
        <p:nvSpPr>
          <p:cNvPr id="47114" name="TextBox 10">
            <a:extLst>
              <a:ext uri="{FF2B5EF4-FFF2-40B4-BE49-F238E27FC236}">
                <a16:creationId xmlns:a16="http://schemas.microsoft.com/office/drawing/2014/main" id="{82628931-8484-47CC-ACA3-6B93C2BB5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9338" y="4238625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2000"/>
              <a:t>a</a:t>
            </a:r>
          </a:p>
        </p:txBody>
      </p:sp>
      <p:sp>
        <p:nvSpPr>
          <p:cNvPr id="47115" name="TextBox 11">
            <a:extLst>
              <a:ext uri="{FF2B5EF4-FFF2-40B4-BE49-F238E27FC236}">
                <a16:creationId xmlns:a16="http://schemas.microsoft.com/office/drawing/2014/main" id="{E79A4EE1-EFCF-4155-8806-04E041612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3425" y="4233863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2000"/>
              <a:t>b</a:t>
            </a:r>
          </a:p>
        </p:txBody>
      </p:sp>
      <p:sp>
        <p:nvSpPr>
          <p:cNvPr id="47116" name="Rectangle 12">
            <a:extLst>
              <a:ext uri="{FF2B5EF4-FFF2-40B4-BE49-F238E27FC236}">
                <a16:creationId xmlns:a16="http://schemas.microsoft.com/office/drawing/2014/main" id="{A061C278-F159-446A-82AD-1FCB40810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5937250"/>
            <a:ext cx="7696200" cy="97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en-US" b="1">
                <a:solidFill>
                  <a:srgbClr val="A50021"/>
                </a:solidFill>
              </a:rPr>
              <a:t>Call by Reference</a:t>
            </a:r>
            <a:r>
              <a:rPr lang="en-US" altLang="en-US">
                <a:solidFill>
                  <a:srgbClr val="0000FF"/>
                </a:solidFill>
              </a:rPr>
              <a:t>: </a:t>
            </a:r>
            <a:r>
              <a:rPr lang="en-US" altLang="en-US"/>
              <a:t>In C++ it is possible to pass arguments by reference also. When we pass arguments by reference, the ‘formal’ arguments in the function become aliases to the ‘actual’ arguments in the calling function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B303F42B-E57E-4F0A-B6D2-3CA97A36B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3. Pass by Reference</a:t>
            </a:r>
          </a:p>
        </p:txBody>
      </p:sp>
      <p:sp>
        <p:nvSpPr>
          <p:cNvPr id="48131" name="Slide Number Placeholder 3">
            <a:extLst>
              <a:ext uri="{FF2B5EF4-FFF2-40B4-BE49-F238E27FC236}">
                <a16:creationId xmlns:a16="http://schemas.microsoft.com/office/drawing/2014/main" id="{29B2BB37-10FA-419C-B13E-384FD96C18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E6DE23-5E00-4379-982A-95292FFA160D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8132" name="Picture 2">
            <a:extLst>
              <a:ext uri="{FF2B5EF4-FFF2-40B4-BE49-F238E27FC236}">
                <a16:creationId xmlns:a16="http://schemas.microsoft.com/office/drawing/2014/main" id="{3A260A9A-DD5E-4D37-B89C-29F172EC9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" y="1219200"/>
            <a:ext cx="4092575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133" name="Picture 3">
            <a:extLst>
              <a:ext uri="{FF2B5EF4-FFF2-40B4-BE49-F238E27FC236}">
                <a16:creationId xmlns:a16="http://schemas.microsoft.com/office/drawing/2014/main" id="{8D49C598-6AB1-4AD4-8170-AAEB6530E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4071938"/>
            <a:ext cx="4724400" cy="2690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134" name="Rectangle 4">
            <a:extLst>
              <a:ext uri="{FF2B5EF4-FFF2-40B4-BE49-F238E27FC236}">
                <a16:creationId xmlns:a16="http://schemas.microsoft.com/office/drawing/2014/main" id="{FAF3AB66-07AD-41D8-9D93-365A0C4AE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447800"/>
            <a:ext cx="45720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Pass by reference is efficient for large amounts of data, allows the function to change the data</a:t>
            </a:r>
          </a:p>
          <a:p>
            <a:pPr eaLnBrk="1" hangingPunct="1"/>
            <a:endParaRPr lang="en-IN" altLang="en-US"/>
          </a:p>
          <a:p>
            <a:pPr eaLnBrk="1" hangingPunct="1"/>
            <a:r>
              <a:rPr lang="en-IN" altLang="en-US"/>
              <a:t>The </a:t>
            </a:r>
            <a:r>
              <a:rPr lang="en-IN" altLang="en-US" b="1"/>
              <a:t>const</a:t>
            </a:r>
            <a:r>
              <a:rPr lang="en-IN" altLang="en-US"/>
              <a:t> keyword can also be use with pass by reference to prevent a function from changing a parameter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52716B8C-D84F-41F5-BF0E-FBCB1711A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3. 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88E16-C35F-4B99-AA37-600E4F781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Reference Parameter as </a:t>
            </a:r>
            <a:r>
              <a:rPr lang="en-IN" sz="2000" dirty="0" err="1">
                <a:solidFill>
                  <a:srgbClr val="C00000"/>
                </a:solidFill>
              </a:rPr>
              <a:t>const</a:t>
            </a: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32B13EB1-6A6F-4210-A10E-FA6417D0EC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8C3B38-1053-450D-892A-93A570A3C905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9157" name="Picture 3">
            <a:extLst>
              <a:ext uri="{FF2B5EF4-FFF2-40B4-BE49-F238E27FC236}">
                <a16:creationId xmlns:a16="http://schemas.microsoft.com/office/drawing/2014/main" id="{E401326A-FB90-45BA-9B66-0501D4E12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1981200"/>
            <a:ext cx="7772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6B086CE3-D82B-480B-AF63-442EAF4A1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Return by Reference</a:t>
            </a:r>
          </a:p>
        </p:txBody>
      </p:sp>
      <p:sp>
        <p:nvSpPr>
          <p:cNvPr id="50179" name="Slide Number Placeholder 3">
            <a:extLst>
              <a:ext uri="{FF2B5EF4-FFF2-40B4-BE49-F238E27FC236}">
                <a16:creationId xmlns:a16="http://schemas.microsoft.com/office/drawing/2014/main" id="{23A1905E-2F3D-4EE0-B15E-772D79D8DC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0D0F1D-C7B3-4759-9423-C20139707E09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50180" name="Picture 5">
            <a:extLst>
              <a:ext uri="{FF2B5EF4-FFF2-40B4-BE49-F238E27FC236}">
                <a16:creationId xmlns:a16="http://schemas.microsoft.com/office/drawing/2014/main" id="{4498AFA5-C07A-4610-A9C7-213449E80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3" y="1257300"/>
            <a:ext cx="8985250" cy="497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AAFBAEF9-5792-4FC6-BE9A-A346118F6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References as Return values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C7CFE-A71F-409A-9CD6-6DC540E18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Reference can also be used to return values from a function</a:t>
            </a:r>
          </a:p>
          <a:p>
            <a:pPr>
              <a:defRPr/>
            </a:pPr>
            <a:r>
              <a:rPr lang="en-US" sz="2000" dirty="0"/>
              <a:t>A function which return reference can also be used as </a:t>
            </a:r>
            <a:r>
              <a:rPr lang="en-US" sz="2000" dirty="0" err="1">
                <a:solidFill>
                  <a:srgbClr val="C00000"/>
                </a:solidFill>
              </a:rPr>
              <a:t>lvalue</a:t>
            </a: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</a:t>
            </a: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B10D3E02-248B-46EA-B22A-8C617F1943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EC9662-33C8-47C0-BB89-85632A878ED4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5" name="Rectangle 4">
            <a:extLst>
              <a:ext uri="{FF2B5EF4-FFF2-40B4-BE49-F238E27FC236}">
                <a16:creationId xmlns:a16="http://schemas.microsoft.com/office/drawing/2014/main" id="{B0FB1B09-C7C9-4DE3-8831-D5EA9825E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698750"/>
            <a:ext cx="4572000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en-US" sz="2000"/>
              <a:t>#include&lt;iostream.h&gt;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/>
              <a:t>int &amp;f();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/>
              <a:t>int x;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/>
              <a:t>main()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/>
              <a:t>{    </a:t>
            </a:r>
            <a:r>
              <a:rPr lang="en-US" altLang="en-US" sz="2000">
                <a:solidFill>
                  <a:srgbClr val="C00000"/>
                </a:solidFill>
              </a:rPr>
              <a:t>f()=100;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/>
              <a:t>     cout&lt;&lt;x&lt;&lt;‘\n’;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/>
              <a:t>     return 0;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/>
              <a:t>}</a:t>
            </a:r>
          </a:p>
        </p:txBody>
      </p:sp>
      <p:sp>
        <p:nvSpPr>
          <p:cNvPr id="51206" name="Rectangle 5">
            <a:extLst>
              <a:ext uri="{FF2B5EF4-FFF2-40B4-BE49-F238E27FC236}">
                <a16:creationId xmlns:a16="http://schemas.microsoft.com/office/drawing/2014/main" id="{987D9115-12F0-40A4-9E40-DC85A27BA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590800"/>
            <a:ext cx="5257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C00000"/>
                </a:solidFill>
              </a:rPr>
              <a:t>int &amp;f()</a:t>
            </a:r>
          </a:p>
          <a:p>
            <a:pPr eaLnBrk="1" hangingPunct="1"/>
            <a:r>
              <a:rPr lang="en-US" altLang="en-US" sz="2000"/>
              <a:t>{</a:t>
            </a:r>
          </a:p>
          <a:p>
            <a:pPr eaLnBrk="1" hangingPunct="1"/>
            <a:r>
              <a:rPr lang="en-US" altLang="en-US" sz="2000"/>
              <a:t>     return x; // not the value of the global   </a:t>
            </a:r>
          </a:p>
          <a:p>
            <a:pPr eaLnBrk="1" hangingPunct="1"/>
            <a:r>
              <a:rPr lang="en-US" altLang="en-US" sz="2000"/>
              <a:t>     variable x but the address of x in </a:t>
            </a:r>
          </a:p>
          <a:p>
            <a:pPr eaLnBrk="1" hangingPunct="1"/>
            <a:r>
              <a:rPr lang="en-US" altLang="en-US" sz="2000"/>
              <a:t>     reference form</a:t>
            </a:r>
          </a:p>
          <a:p>
            <a:pPr eaLnBrk="1" hangingPunct="1"/>
            <a:r>
              <a:rPr lang="en-US" altLang="en-US" sz="2000"/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137C5CFA-BB00-4D38-B0B9-386BAD8E2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References as Return values</a:t>
            </a:r>
            <a:endParaRPr lang="en-IN" altLang="en-US"/>
          </a:p>
        </p:txBody>
      </p:sp>
      <p:sp>
        <p:nvSpPr>
          <p:cNvPr id="52227" name="Slide Number Placeholder 3">
            <a:extLst>
              <a:ext uri="{FF2B5EF4-FFF2-40B4-BE49-F238E27FC236}">
                <a16:creationId xmlns:a16="http://schemas.microsoft.com/office/drawing/2014/main" id="{371C79F5-07C7-441F-A341-97C3F07E74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AB85ED-EAE5-4C39-AEFD-EC946B426290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52228" name="Picture 3">
            <a:extLst>
              <a:ext uri="{FF2B5EF4-FFF2-40B4-BE49-F238E27FC236}">
                <a16:creationId xmlns:a16="http://schemas.microsoft.com/office/drawing/2014/main" id="{6B1896C2-8573-415B-8B50-AB5769376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" y="1143000"/>
            <a:ext cx="8893175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C93BBAEF-FE39-4D9D-8D2E-74E7D510D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References as Return values</a:t>
            </a:r>
            <a:endParaRPr lang="en-IN" alt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8906A-8BE0-4E0F-8A9D-6B770805B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Important Points to Remember When Returning by Reference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Ordinary function returns value but this function doesn't. Hence, </a:t>
            </a:r>
            <a:r>
              <a:rPr lang="en-IN" sz="2000" b="1" dirty="0"/>
              <a:t>we cannot return a constant from the function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</a:t>
            </a:r>
            <a:r>
              <a:rPr lang="en-IN" sz="2000" dirty="0" err="1">
                <a:solidFill>
                  <a:srgbClr val="C00000"/>
                </a:solidFill>
              </a:rPr>
              <a:t>int</a:t>
            </a:r>
            <a:r>
              <a:rPr lang="en-IN" sz="2000" dirty="0">
                <a:solidFill>
                  <a:srgbClr val="C00000"/>
                </a:solidFill>
              </a:rPr>
              <a:t>&amp;  test()  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>
                <a:solidFill>
                  <a:srgbClr val="C00000"/>
                </a:solidFill>
              </a:rPr>
              <a:t>      return 2; }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b="1" dirty="0"/>
              <a:t>We cannot return a local variable from this function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</a:t>
            </a:r>
            <a:r>
              <a:rPr lang="en-IN" sz="2000" dirty="0" err="1"/>
              <a:t>int</a:t>
            </a:r>
            <a:r>
              <a:rPr lang="en-IN" sz="2000" dirty="0"/>
              <a:t>&amp; test() {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</a:t>
            </a:r>
            <a:r>
              <a:rPr lang="en-IN" sz="2000" dirty="0" err="1"/>
              <a:t>int</a:t>
            </a:r>
            <a:r>
              <a:rPr lang="en-IN" sz="2000" dirty="0"/>
              <a:t> n = 2;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return n; }</a:t>
            </a: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6AF3031C-1939-43A3-8BEA-E4F47C3EBE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2370F1-3FD4-43E0-86B8-5B493ED3199F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A548B50B-C7E4-4553-93CF-524515EF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Never return a local variable by Reference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E515C-B8E8-4CD2-8E83-AF28E4EC9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Since a function that uses “return by reference” returns an actual memory address, it is important that the variable in this memory location remain in existence after the function returns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When a function returns, local variables go out of existence and their values are lost</a:t>
            </a:r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5C419A16-F506-4969-A004-AA13107872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A99834-BB2B-45EF-B823-04F2B74A2A7E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54277" name="Picture 2">
            <a:extLst>
              <a:ext uri="{FF2B5EF4-FFF2-40B4-BE49-F238E27FC236}">
                <a16:creationId xmlns:a16="http://schemas.microsoft.com/office/drawing/2014/main" id="{6187461B-B537-4CDB-BE5A-5A7B6E4F2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352800"/>
            <a:ext cx="683895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B64C6098-DE2E-4200-A2E9-22D754FC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Inline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A2F62-9518-4169-874D-D0870CCC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Macros and inline functions are two very different programming constructs but their purpose and behavior are very similar</a:t>
            </a:r>
          </a:p>
          <a:p>
            <a:pPr>
              <a:defRPr/>
            </a:pPr>
            <a:r>
              <a:rPr lang="en-IN" sz="2400" dirty="0">
                <a:solidFill>
                  <a:srgbClr val="C00000"/>
                </a:solidFill>
              </a:rPr>
              <a:t>Macros</a:t>
            </a:r>
          </a:p>
          <a:p>
            <a:pPr lvl="1">
              <a:defRPr/>
            </a:pPr>
            <a:r>
              <a:rPr lang="en-IN" sz="2000" dirty="0"/>
              <a:t>(a) macros are still processed by the preprocessor and </a:t>
            </a:r>
          </a:p>
          <a:p>
            <a:pPr lvl="1">
              <a:defRPr/>
            </a:pPr>
            <a:r>
              <a:rPr lang="en-IN" sz="2000" dirty="0"/>
              <a:t>(b) macros are still nothing more than textual replacement (i.e., one sequence of characters is replaced by another sequence)</a:t>
            </a:r>
          </a:p>
          <a:p>
            <a:pPr>
              <a:defRPr/>
            </a:pPr>
            <a:r>
              <a:rPr lang="en-IN" sz="2400" dirty="0">
                <a:solidFill>
                  <a:srgbClr val="C00000"/>
                </a:solidFill>
              </a:rPr>
              <a:t>Inline functions</a:t>
            </a:r>
          </a:p>
          <a:p>
            <a:pPr lvl="1">
              <a:defRPr/>
            </a:pPr>
            <a:r>
              <a:rPr lang="en-IN" sz="2000" dirty="0"/>
              <a:t>are a more modern addition to C++ that are easier to use and are more robust</a:t>
            </a: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5F59B0A0-296C-4F7F-834E-A6D454A97E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F7622C-6FD8-49E9-8920-192DD886C008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864F6CF8-2DFF-4FFA-9D2C-E1AAD4EE3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Inline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ACF8B-EB10-433B-9788-38D2F0691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sz="2000" dirty="0"/>
              <a:t>C++ provides </a:t>
            </a:r>
            <a:r>
              <a:rPr lang="en-US" sz="2000" dirty="0">
                <a:solidFill>
                  <a:srgbClr val="C00000"/>
                </a:solidFill>
              </a:rPr>
              <a:t>inline</a:t>
            </a:r>
            <a:r>
              <a:rPr lang="en-US" sz="2000" dirty="0"/>
              <a:t> keyword</a:t>
            </a:r>
          </a:p>
          <a:p>
            <a:pPr>
              <a:spcBef>
                <a:spcPts val="0"/>
              </a:spcBef>
              <a:defRPr/>
            </a:pPr>
            <a:r>
              <a:rPr lang="en-US" sz="2000" dirty="0"/>
              <a:t>A new copy of the function to be inserted in each place it is called</a:t>
            </a:r>
          </a:p>
          <a:p>
            <a:pPr lvl="1">
              <a:defRPr/>
            </a:pPr>
            <a:r>
              <a:rPr lang="en-IN" sz="1800" dirty="0"/>
              <a:t>An inline function, is not called in the conventional sense at all. Instead, </a:t>
            </a:r>
            <a:r>
              <a:rPr lang="en-IN" sz="2000" dirty="0"/>
              <a:t>in a process known as </a:t>
            </a:r>
            <a:r>
              <a:rPr lang="en-IN" sz="2000" i="1" dirty="0">
                <a:solidFill>
                  <a:srgbClr val="C00000"/>
                </a:solidFill>
              </a:rPr>
              <a:t>inline expansion</a:t>
            </a:r>
            <a:r>
              <a:rPr lang="en-IN" sz="2000" dirty="0"/>
              <a:t>, the compiler replaces every call to the function with the actual code of the function itself</a:t>
            </a:r>
            <a:endParaRPr lang="en-US" sz="2000" dirty="0"/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2000" dirty="0"/>
          </a:p>
          <a:p>
            <a:pPr>
              <a:spcBef>
                <a:spcPts val="0"/>
              </a:spcBef>
              <a:defRPr/>
            </a:pPr>
            <a:r>
              <a:rPr lang="en-US" sz="2000" dirty="0"/>
              <a:t> </a:t>
            </a:r>
            <a:r>
              <a:rPr lang="en-US" sz="2000" dirty="0">
                <a:solidFill>
                  <a:srgbClr val="C00000"/>
                </a:solidFill>
              </a:rPr>
              <a:t>Inline reduces the overhead of a function calls</a:t>
            </a:r>
          </a:p>
          <a:p>
            <a:pPr>
              <a:spcBef>
                <a:spcPts val="0"/>
              </a:spcBef>
              <a:defRPr/>
            </a:pPr>
            <a:r>
              <a:rPr lang="en-US" sz="2000" dirty="0"/>
              <a:t> Program becomes larger</a:t>
            </a:r>
          </a:p>
          <a:p>
            <a:pPr lvl="1">
              <a:defRPr/>
            </a:pPr>
            <a:r>
              <a:rPr lang="en-IN" sz="2000" dirty="0"/>
              <a:t>if the function is called from multiple places in the program, the entire body of its code will be inserted multiple times, increasing the size of the program</a:t>
            </a:r>
            <a:endParaRPr lang="en-US" sz="4400" dirty="0"/>
          </a:p>
          <a:p>
            <a:pPr>
              <a:spcBef>
                <a:spcPts val="0"/>
              </a:spcBef>
              <a:defRPr/>
            </a:pPr>
            <a:endParaRPr lang="en-US" sz="2000" dirty="0"/>
          </a:p>
          <a:p>
            <a:pPr>
              <a:spcBef>
                <a:spcPts val="0"/>
              </a:spcBef>
              <a:defRPr/>
            </a:pPr>
            <a:r>
              <a:rPr lang="en-US" sz="2000" dirty="0"/>
              <a:t>  Unlike macros they have type checking rules and scope</a:t>
            </a:r>
          </a:p>
          <a:p>
            <a:pPr>
              <a:spcBef>
                <a:spcPts val="0"/>
              </a:spcBef>
              <a:defRPr/>
            </a:pPr>
            <a:endParaRPr lang="en-IN" sz="2000" dirty="0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B48777E8-AC74-45A4-B56F-579EF90D19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FB3141-B36E-4A3F-8B9F-4A318E19AEB2}" type="slidenum">
              <a:rPr lang="en-US" altLang="en-US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F4A18956-9AD9-4037-A758-DB9518689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Inline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FB3F9-6CD6-4387-BFCC-D60FA1FEE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Only one copy of the function's instructions exist in the program and those instructions are executed each time the function is called</a:t>
            </a:r>
            <a:endParaRPr lang="en-IN" dirty="0"/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85C7AA28-819F-4691-802D-12A3F4893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94E4F3-17CA-4855-8348-27D0D85EF427}" type="slidenum">
              <a:rPr lang="en-US" altLang="en-US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57349" name="Picture 2">
            <a:extLst>
              <a:ext uri="{FF2B5EF4-FFF2-40B4-BE49-F238E27FC236}">
                <a16:creationId xmlns:a16="http://schemas.microsoft.com/office/drawing/2014/main" id="{A5279E0D-FAC4-4F32-BE75-345627523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447800"/>
            <a:ext cx="5716588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743B314D-1EB7-4E7C-A787-2DB69ABF0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Inline Functions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6C6D2-3481-487D-AE14-8D3C9A588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41475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400" dirty="0"/>
              <a:t>Normal functions have </a:t>
            </a:r>
            <a:r>
              <a:rPr lang="en-IN" sz="2400" dirty="0">
                <a:solidFill>
                  <a:srgbClr val="C00000"/>
                </a:solidFill>
              </a:rPr>
              <a:t>two important characteristics</a:t>
            </a:r>
            <a:r>
              <a:rPr lang="en-IN" sz="2400" dirty="0"/>
              <a:t> that set them apart from macros and inline functions</a:t>
            </a:r>
          </a:p>
          <a:p>
            <a:pPr lvl="1">
              <a:defRPr/>
            </a:pPr>
            <a:r>
              <a:rPr lang="en-IN" sz="2000" dirty="0"/>
              <a:t>The program contains just one copy of the function's machine instructions</a:t>
            </a:r>
          </a:p>
          <a:p>
            <a:pPr lvl="1">
              <a:defRPr/>
            </a:pPr>
            <a:r>
              <a:rPr lang="en-IN" sz="2000" dirty="0"/>
              <a:t>Program control shifts to the function's machine instructions whenever the function is called and returns to the statement following the call when the function ends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6140521F-7AD9-47E7-9AD5-9DA30C8962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8A222C-3F3B-426E-A59E-BD8B96826176}" type="slidenum">
              <a:rPr lang="en-US" altLang="en-US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D23F1F7C-CFCD-4F5A-8E25-F4A920985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Inline Functions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56966-A1AF-43BF-8CD6-14863A0EA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7000"/>
            <a:ext cx="8229600" cy="4530725"/>
          </a:xfrm>
        </p:spPr>
        <p:txBody>
          <a:bodyPr/>
          <a:lstStyle/>
          <a:p>
            <a:pPr lvl="1">
              <a:defRPr/>
            </a:pPr>
            <a:r>
              <a:rPr lang="en-IN" sz="2000" dirty="0"/>
              <a:t>A </a:t>
            </a:r>
            <a:r>
              <a:rPr lang="en-IN" sz="2000" dirty="0">
                <a:solidFill>
                  <a:srgbClr val="C00000"/>
                </a:solidFill>
              </a:rPr>
              <a:t>stack frame</a:t>
            </a:r>
            <a:r>
              <a:rPr lang="en-IN" sz="2000" dirty="0"/>
              <a:t> is pushed onto the runtime stack; the frame is large enough to hold the </a:t>
            </a:r>
            <a:r>
              <a:rPr lang="en-IN" sz="2000" b="1" dirty="0"/>
              <a:t>return address </a:t>
            </a:r>
            <a:r>
              <a:rPr lang="en-IN" sz="2000" dirty="0"/>
              <a:t>and </a:t>
            </a:r>
            <a:r>
              <a:rPr lang="en-IN" sz="2000" b="1" dirty="0"/>
              <a:t>all of the function parameters </a:t>
            </a:r>
          </a:p>
          <a:p>
            <a:pPr lvl="1">
              <a:defRPr/>
            </a:pPr>
            <a:r>
              <a:rPr lang="en-IN" sz="2000" dirty="0"/>
              <a:t>The return address (the address of the instruction following the function call) is saved in the stack frame</a:t>
            </a:r>
          </a:p>
          <a:p>
            <a:pPr lvl="1">
              <a:defRPr/>
            </a:pPr>
            <a:r>
              <a:rPr lang="en-IN" sz="2000" dirty="0"/>
              <a:t>The function arguments are evaluated and passed to the function parameters by copying them to the stack frame</a:t>
            </a:r>
          </a:p>
          <a:p>
            <a:pPr lvl="1">
              <a:defRPr/>
            </a:pPr>
            <a:r>
              <a:rPr lang="en-IN" sz="2000" dirty="0"/>
              <a:t>Control jumps to the function instructions (i.e., the program counter is set to first machine instruction generated from the function's body)</a:t>
            </a:r>
          </a:p>
          <a:p>
            <a:pPr lvl="1">
              <a:defRPr/>
            </a:pPr>
            <a:r>
              <a:rPr lang="en-IN" sz="2000" dirty="0"/>
              <a:t>The computer executes all of the function's machine instructions</a:t>
            </a:r>
          </a:p>
          <a:p>
            <a:pPr lvl="1">
              <a:defRPr/>
            </a:pPr>
            <a:r>
              <a:rPr lang="en-IN" sz="2000" dirty="0"/>
              <a:t>Control jumps back to the saved address when the function ends</a:t>
            </a:r>
          </a:p>
          <a:p>
            <a:pPr lvl="1">
              <a:defRPr/>
            </a:pPr>
            <a:r>
              <a:rPr lang="en-IN" sz="2000" dirty="0"/>
              <a:t>If there is a return value, it is used or stored</a:t>
            </a:r>
          </a:p>
          <a:p>
            <a:pPr lvl="1">
              <a:defRPr/>
            </a:pPr>
            <a:r>
              <a:rPr lang="en-IN" sz="2000" dirty="0"/>
              <a:t>The stack frame is deallocated</a:t>
            </a:r>
          </a:p>
          <a:p>
            <a:pPr lvl="1">
              <a:defRPr/>
            </a:pPr>
            <a:r>
              <a:rPr lang="en-IN" sz="2000" dirty="0"/>
              <a:t>Execution continues with the instructions following the call</a:t>
            </a:r>
          </a:p>
          <a:p>
            <a:pPr>
              <a:defRPr/>
            </a:pPr>
            <a:endParaRPr lang="en-IN" dirty="0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30DC011C-6F34-4D16-8CB8-A2264822AF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9ED2ED-ED30-4A9A-89CD-9D9323639042}" type="slidenum">
              <a:rPr lang="en-US" altLang="en-US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C1219D1C-34B3-4ACB-AF40-4D961A645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Macro Vs Inline Functions</a:t>
            </a:r>
          </a:p>
        </p:txBody>
      </p:sp>
      <p:sp>
        <p:nvSpPr>
          <p:cNvPr id="60419" name="Slide Number Placeholder 3">
            <a:extLst>
              <a:ext uri="{FF2B5EF4-FFF2-40B4-BE49-F238E27FC236}">
                <a16:creationId xmlns:a16="http://schemas.microsoft.com/office/drawing/2014/main" id="{86B673EB-20EC-4E2B-89C0-7E9D9BD4AC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3E8083-10AA-43A9-B785-6C9C52A5C4E4}" type="slidenum">
              <a:rPr lang="en-US" altLang="en-US">
                <a:latin typeface="Times New Roman" panose="02020603050405020304" pitchFamily="18" charset="0"/>
              </a:rPr>
              <a:pPr/>
              <a:t>48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60420" name="Picture 2">
            <a:extLst>
              <a:ext uri="{FF2B5EF4-FFF2-40B4-BE49-F238E27FC236}">
                <a16:creationId xmlns:a16="http://schemas.microsoft.com/office/drawing/2014/main" id="{96F49C2C-6EC5-40B8-94FC-65AA4A583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1531938"/>
            <a:ext cx="8485187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421" name="Rectangle 5">
            <a:extLst>
              <a:ext uri="{FF2B5EF4-FFF2-40B4-BE49-F238E27FC236}">
                <a16:creationId xmlns:a16="http://schemas.microsoft.com/office/drawing/2014/main" id="{0658C4E4-DF5E-4AE3-88BA-63FDC3DED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715000"/>
            <a:ext cx="5775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b="1"/>
              <a:t>(a) Macro                                         (b) inline function</a:t>
            </a:r>
            <a:endParaRPr lang="en-I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BD157E0B-DFE2-475B-BF62-9C21AEBD6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Macro Vs Inline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1305C-5F9C-4728-AB23-8DC55CB6A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b="1" dirty="0"/>
              <a:t>The preprocessor </a:t>
            </a:r>
            <a:r>
              <a:rPr lang="en-IN" sz="2000" b="1" i="1" dirty="0"/>
              <a:t>expands</a:t>
            </a:r>
            <a:r>
              <a:rPr lang="en-IN" sz="2000" b="1" dirty="0"/>
              <a:t> macros by replacing the macro </a:t>
            </a:r>
            <a:r>
              <a:rPr lang="en-IN" sz="2000" dirty="0"/>
              <a:t>(e.g., "f(</a:t>
            </a:r>
            <a:r>
              <a:rPr lang="en-IN" sz="2000" dirty="0" err="1"/>
              <a:t>x,y</a:t>
            </a:r>
            <a:r>
              <a:rPr lang="en-IN" sz="2000" dirty="0"/>
              <a:t>)") with the statements in the macro body. The character or characters represented by a and b (including operators) replace x and y in the expansion. There is a copy of the macro statements for every occurrence of the macro in the source code</a:t>
            </a:r>
          </a:p>
          <a:p>
            <a:pPr>
              <a:defRPr/>
            </a:pPr>
            <a:r>
              <a:rPr lang="en-IN" sz="2000" dirty="0"/>
              <a:t>Inline functions are also expanded and replace the function call, but </a:t>
            </a:r>
            <a:r>
              <a:rPr lang="en-IN" sz="2000" b="1" dirty="0"/>
              <a:t>it is the compiler and not the preprocessor that performs the expansion</a:t>
            </a:r>
            <a:r>
              <a:rPr lang="en-IN" sz="2000" dirty="0"/>
              <a:t>. Like a macro, </a:t>
            </a:r>
            <a:r>
              <a:rPr lang="en-IN" sz="2000" dirty="0">
                <a:solidFill>
                  <a:srgbClr val="C00000"/>
                </a:solidFill>
              </a:rPr>
              <a:t>there is one copy of the function body for every function call in the source code. However, like a "normal" function and unlike a macro, the arguments are evaluated and the resulting </a:t>
            </a:r>
            <a:r>
              <a:rPr lang="en-IN" sz="2000" i="1" dirty="0">
                <a:solidFill>
                  <a:srgbClr val="C00000"/>
                </a:solidFill>
              </a:rPr>
              <a:t>value</a:t>
            </a:r>
            <a:r>
              <a:rPr lang="en-IN" sz="2000" dirty="0">
                <a:solidFill>
                  <a:srgbClr val="C00000"/>
                </a:solidFill>
              </a:rPr>
              <a:t> is passed to the function parameters before the expansion takes place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6A41F7F1-EF83-4E1B-9653-CC8C9998B0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B1BD31-7E10-4B8F-8C5D-58571BA6FD0D}" type="slidenum">
              <a:rPr lang="en-US" altLang="en-US">
                <a:latin typeface="Times New Roman" panose="02020603050405020304" pitchFamily="18" charset="0"/>
              </a:rPr>
              <a:pPr/>
              <a:t>49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10581C34-C594-48B6-B049-215914BB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Macro Vs Inline Functions</a:t>
            </a:r>
          </a:p>
        </p:txBody>
      </p:sp>
      <p:sp>
        <p:nvSpPr>
          <p:cNvPr id="62467" name="Slide Number Placeholder 3">
            <a:extLst>
              <a:ext uri="{FF2B5EF4-FFF2-40B4-BE49-F238E27FC236}">
                <a16:creationId xmlns:a16="http://schemas.microsoft.com/office/drawing/2014/main" id="{23DCD6A8-4A18-4837-84AC-9356638A4A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899108-5C1B-4615-B4AA-85DDED9614F3}" type="slidenum">
              <a:rPr lang="en-US" altLang="en-US">
                <a:latin typeface="Times New Roman" panose="02020603050405020304" pitchFamily="18" charset="0"/>
              </a:rPr>
              <a:pPr/>
              <a:t>50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E63DEEF5-4771-4B50-8EF5-CD0500206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619250"/>
            <a:ext cx="4572000" cy="458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2000"/>
              <a:t>#include &lt;iostream&gt;</a:t>
            </a:r>
          </a:p>
          <a:p>
            <a:pPr eaLnBrk="1" hangingPunct="1"/>
            <a:r>
              <a:rPr lang="en-IN" altLang="en-US" sz="2000"/>
              <a:t>using namespace std;</a:t>
            </a:r>
          </a:p>
          <a:p>
            <a:pPr eaLnBrk="1" hangingPunct="1"/>
            <a:endParaRPr lang="en-IN" altLang="en-US" sz="1600"/>
          </a:p>
          <a:p>
            <a:pPr eaLnBrk="1" hangingPunct="1"/>
            <a:r>
              <a:rPr lang="en-IN" altLang="en-US" sz="2000">
                <a:solidFill>
                  <a:srgbClr val="C00000"/>
                </a:solidFill>
              </a:rPr>
              <a:t>#define SQR(x)  (x) * (x)</a:t>
            </a:r>
          </a:p>
          <a:p>
            <a:pPr eaLnBrk="1" hangingPunct="1"/>
            <a:endParaRPr lang="en-IN" altLang="en-US" sz="1600">
              <a:solidFill>
                <a:srgbClr val="C00000"/>
              </a:solidFill>
            </a:endParaRPr>
          </a:p>
          <a:p>
            <a:pPr eaLnBrk="1" hangingPunct="1"/>
            <a:r>
              <a:rPr lang="en-IN" altLang="en-US" sz="2000">
                <a:solidFill>
                  <a:srgbClr val="C00000"/>
                </a:solidFill>
              </a:rPr>
              <a:t>int sqr(int n)</a:t>
            </a:r>
          </a:p>
          <a:p>
            <a:pPr eaLnBrk="1" hangingPunct="1"/>
            <a:r>
              <a:rPr lang="en-IN" altLang="en-US" sz="2000">
                <a:solidFill>
                  <a:srgbClr val="C00000"/>
                </a:solidFill>
              </a:rPr>
              <a:t>{   return n*n;  }</a:t>
            </a:r>
          </a:p>
          <a:p>
            <a:pPr eaLnBrk="1" hangingPunct="1"/>
            <a:endParaRPr lang="en-IN" altLang="en-US" sz="2000">
              <a:solidFill>
                <a:srgbClr val="C00000"/>
              </a:solidFill>
            </a:endParaRPr>
          </a:p>
          <a:p>
            <a:pPr eaLnBrk="1" hangingPunct="1"/>
            <a:r>
              <a:rPr lang="en-IN" altLang="en-US" sz="2000"/>
              <a:t>main()</a:t>
            </a:r>
          </a:p>
          <a:p>
            <a:pPr eaLnBrk="1" hangingPunct="1"/>
            <a:r>
              <a:rPr lang="en-IN" altLang="en-US" sz="2000"/>
              <a:t>{</a:t>
            </a:r>
          </a:p>
          <a:p>
            <a:pPr eaLnBrk="1" hangingPunct="1"/>
            <a:r>
              <a:rPr lang="en-IN" altLang="en-US" sz="2000"/>
              <a:t>    int a=3, b=3, r, s;</a:t>
            </a:r>
          </a:p>
          <a:p>
            <a:pPr eaLnBrk="1" hangingPunct="1"/>
            <a:r>
              <a:rPr lang="en-IN" altLang="en-US" sz="2000"/>
              <a:t>    </a:t>
            </a:r>
            <a:r>
              <a:rPr lang="en-IN" altLang="en-US" sz="2000">
                <a:solidFill>
                  <a:srgbClr val="C00000"/>
                </a:solidFill>
              </a:rPr>
              <a:t>r=SQR(++a);     // (++a) * (++a)</a:t>
            </a:r>
          </a:p>
          <a:p>
            <a:pPr eaLnBrk="1" hangingPunct="1"/>
            <a:r>
              <a:rPr lang="en-IN" altLang="en-US" sz="2000">
                <a:solidFill>
                  <a:srgbClr val="C00000"/>
                </a:solidFill>
              </a:rPr>
              <a:t>    s=sqr(++b);      </a:t>
            </a:r>
          </a:p>
          <a:p>
            <a:pPr eaLnBrk="1" hangingPunct="1"/>
            <a:r>
              <a:rPr lang="en-IN" altLang="en-US" sz="2000"/>
              <a:t>    </a:t>
            </a:r>
            <a:r>
              <a:rPr lang="pt-BR" altLang="en-US" sz="2000"/>
              <a:t>cout &lt;&lt;"r="&lt;&lt;r&lt;&lt;"\t"&lt;&lt;"s="&lt;&lt;s;</a:t>
            </a:r>
            <a:endParaRPr lang="en-IN" altLang="en-US" sz="2000"/>
          </a:p>
          <a:p>
            <a:pPr eaLnBrk="1" hangingPunct="1"/>
            <a:r>
              <a:rPr lang="en-IN" altLang="en-US" sz="2000"/>
              <a:t>}</a:t>
            </a:r>
          </a:p>
        </p:txBody>
      </p:sp>
      <p:sp>
        <p:nvSpPr>
          <p:cNvPr id="62469" name="TextBox 5">
            <a:extLst>
              <a:ext uri="{FF2B5EF4-FFF2-40B4-BE49-F238E27FC236}">
                <a16:creationId xmlns:a16="http://schemas.microsoft.com/office/drawing/2014/main" id="{307A6EA5-26DC-44B3-98F6-F718DBFE3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373688"/>
            <a:ext cx="3048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2000" b="1"/>
              <a:t>Outptut</a:t>
            </a:r>
          </a:p>
          <a:p>
            <a:pPr eaLnBrk="1" hangingPunct="1"/>
            <a:r>
              <a:rPr lang="en-IN" altLang="en-US" sz="2000">
                <a:solidFill>
                  <a:srgbClr val="C00000"/>
                </a:solidFill>
              </a:rPr>
              <a:t>r=25   s=16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AAF74A2D-2E47-4ECB-916F-B8441B86B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Inline Vs Macros</a:t>
            </a:r>
            <a:endParaRPr lang="en-IN" altLang="en-US"/>
          </a:p>
        </p:txBody>
      </p:sp>
      <p:sp>
        <p:nvSpPr>
          <p:cNvPr id="63491" name="Slide Number Placeholder 3">
            <a:extLst>
              <a:ext uri="{FF2B5EF4-FFF2-40B4-BE49-F238E27FC236}">
                <a16:creationId xmlns:a16="http://schemas.microsoft.com/office/drawing/2014/main" id="{BDF0CA8E-FC6B-4AF0-8F8F-F25E39CB83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9516B0-2A17-418E-9B9A-A055D7DA8DA7}" type="slidenum">
              <a:rPr lang="en-US" altLang="en-US">
                <a:latin typeface="Times New Roman" panose="02020603050405020304" pitchFamily="18" charset="0"/>
              </a:rPr>
              <a:pPr/>
              <a:t>51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5" name="Group 39">
            <a:extLst>
              <a:ext uri="{FF2B5EF4-FFF2-40B4-BE49-F238E27FC236}">
                <a16:creationId xmlns:a16="http://schemas.microsoft.com/office/drawing/2014/main" id="{6AEDDD12-0B9A-4445-BE7A-4516971DB1FE}"/>
              </a:ext>
            </a:extLst>
          </p:cNvPr>
          <p:cNvGraphicFramePr>
            <a:graphicFrameLocks/>
          </p:cNvGraphicFramePr>
          <p:nvPr/>
        </p:nvGraphicFramePr>
        <p:xfrm>
          <a:off x="1143000" y="1792288"/>
          <a:ext cx="6705600" cy="2909887"/>
        </p:xfrm>
        <a:graphic>
          <a:graphicData uri="http://schemas.openxmlformats.org/drawingml/2006/table">
            <a:tbl>
              <a:tblPr/>
              <a:tblGrid>
                <a:gridCol w="3354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1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1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</a:rPr>
                        <a:t>Inline 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</a:rPr>
                        <a:t>Macros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Part of language easy to debug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Difficult to debug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Not always expanded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Always Expanded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16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Has type checking rules and scope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Does not have these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Compile time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Preprocessing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512" name="Rectangle 1">
            <a:extLst>
              <a:ext uri="{FF2B5EF4-FFF2-40B4-BE49-F238E27FC236}">
                <a16:creationId xmlns:a16="http://schemas.microsoft.com/office/drawing/2014/main" id="{2CFF3300-D63B-4EAB-AD60-CD3E7290F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724400"/>
            <a:ext cx="7315200" cy="153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2000" b="1"/>
              <a:t>Syntax</a:t>
            </a:r>
          </a:p>
          <a:p>
            <a:pPr eaLnBrk="1" hangingPunct="1"/>
            <a:r>
              <a:rPr lang="en-IN" altLang="en-US" sz="2000"/>
              <a:t>     </a:t>
            </a:r>
            <a:r>
              <a:rPr lang="en-IN" altLang="en-US" b="1">
                <a:solidFill>
                  <a:srgbClr val="C00000"/>
                </a:solidFill>
              </a:rPr>
              <a:t>inline</a:t>
            </a:r>
            <a:r>
              <a:rPr lang="en-IN" altLang="en-US" b="1"/>
              <a:t> return-type function-name(parameters) </a:t>
            </a:r>
          </a:p>
          <a:p>
            <a:pPr eaLnBrk="1" hangingPunct="1"/>
            <a:r>
              <a:rPr lang="en-IN" altLang="en-US" b="1"/>
              <a:t>     { </a:t>
            </a:r>
          </a:p>
          <a:p>
            <a:pPr eaLnBrk="1" hangingPunct="1"/>
            <a:r>
              <a:rPr lang="en-IN" altLang="en-US" b="1"/>
              <a:t>           // function code </a:t>
            </a:r>
          </a:p>
          <a:p>
            <a:pPr eaLnBrk="1" hangingPunct="1"/>
            <a:r>
              <a:rPr lang="en-IN" altLang="en-US" b="1"/>
              <a:t>     }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B41BFE74-953F-439A-A30A-4C9ECD69C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Inline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3D280-9C3A-4307-939A-2B4601221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IN" sz="2000" dirty="0"/>
              <a:t>An inline function is defined using almost the same syntax as an ordinary function. </a:t>
            </a:r>
          </a:p>
          <a:p>
            <a:pPr>
              <a:defRPr/>
            </a:pPr>
            <a:r>
              <a:rPr lang="en-IN" sz="2000" dirty="0"/>
              <a:t>Instead of placing the function’s machine-language code in a separate location, the compiler simply inserts it into the location of the function call</a:t>
            </a:r>
            <a:endParaRPr lang="en-IN" sz="2000" dirty="0">
              <a:solidFill>
                <a:srgbClr val="C00000"/>
              </a:solidFill>
            </a:endParaRPr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FC6E1CEF-0937-43CF-B142-BAA2A63220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ED7726-DD1B-439F-9456-62DE50F3B933}" type="slidenum">
              <a:rPr lang="en-US" altLang="en-US">
                <a:latin typeface="Times New Roman" panose="02020603050405020304" pitchFamily="18" charset="0"/>
              </a:rPr>
              <a:pPr/>
              <a:t>52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64517" name="Picture 5">
            <a:extLst>
              <a:ext uri="{FF2B5EF4-FFF2-40B4-BE49-F238E27FC236}">
                <a16:creationId xmlns:a16="http://schemas.microsoft.com/office/drawing/2014/main" id="{1584EED0-1DFE-4FB9-8987-4ED0ECBF6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62063"/>
            <a:ext cx="66294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4518" name="Picture 6">
            <a:extLst>
              <a:ext uri="{FF2B5EF4-FFF2-40B4-BE49-F238E27FC236}">
                <a16:creationId xmlns:a16="http://schemas.microsoft.com/office/drawing/2014/main" id="{0468B750-962B-49D0-819F-0E67F5AAD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648200"/>
            <a:ext cx="583882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FCDC1FE5-0188-4FE1-9765-E38F4D3E5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Inline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E1F1D-CDC9-4200-A584-EA986552C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b="1" dirty="0"/>
              <a:t>Note</a:t>
            </a:r>
            <a:r>
              <a:rPr lang="en-IN" sz="2000" dirty="0"/>
              <a:t> : </a:t>
            </a:r>
          </a:p>
          <a:p>
            <a:pPr lvl="1">
              <a:defRPr/>
            </a:pPr>
            <a:r>
              <a:rPr lang="en-IN" sz="2000" dirty="0"/>
              <a:t>inline is a suggestion that the compiler may choose to ignore</a:t>
            </a:r>
          </a:p>
          <a:p>
            <a:pPr lvl="1">
              <a:defRPr/>
            </a:pPr>
            <a:r>
              <a:rPr lang="en-IN" sz="2000" dirty="0"/>
              <a:t>As the body of the function is copied every time the functions is called, </a:t>
            </a:r>
            <a:r>
              <a:rPr lang="en-IN" sz="2000" dirty="0" err="1"/>
              <a:t>inlining</a:t>
            </a:r>
            <a:r>
              <a:rPr lang="en-IN" sz="2000" dirty="0"/>
              <a:t> is only appropriate for very small functions (1-4 statements and some compilers disallow loops)</a:t>
            </a:r>
          </a:p>
          <a:p>
            <a:pPr lvl="1">
              <a:defRPr/>
            </a:pPr>
            <a:endParaRPr lang="en-IN" sz="2000" dirty="0"/>
          </a:p>
          <a:p>
            <a:pPr lvl="1">
              <a:defRPr/>
            </a:pPr>
            <a:endParaRPr lang="en-IN" sz="2000" dirty="0"/>
          </a:p>
          <a:p>
            <a:pPr lvl="1">
              <a:defRPr/>
            </a:pPr>
            <a:endParaRPr lang="en-IN" sz="2000" dirty="0"/>
          </a:p>
          <a:p>
            <a:pPr lvl="1">
              <a:defRPr/>
            </a:pPr>
            <a:endParaRPr lang="en-IN" sz="2000" dirty="0"/>
          </a:p>
          <a:p>
            <a:pPr lvl="1">
              <a:defRPr/>
            </a:pPr>
            <a:endParaRPr lang="en-IN" sz="2000" dirty="0"/>
          </a:p>
          <a:p>
            <a:pPr lvl="1">
              <a:defRPr/>
            </a:pPr>
            <a:endParaRPr lang="en-IN" sz="2000" dirty="0"/>
          </a:p>
          <a:p>
            <a:pPr lvl="1">
              <a:defRPr/>
            </a:pPr>
            <a:endParaRPr lang="en-IN" sz="1600" dirty="0"/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782DD83A-51E0-431C-BDDA-B172D49E6A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19A392-88B4-4C20-B16F-DEB5B52096A3}" type="slidenum">
              <a:rPr lang="en-US" altLang="en-US">
                <a:latin typeface="Times New Roman" panose="02020603050405020304" pitchFamily="18" charset="0"/>
              </a:rPr>
              <a:pPr/>
              <a:t>53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0AF8E0D6-ABCC-4D3B-805D-0BF813D6A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81A02-425F-4953-B221-26419E4DE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C++ enables several </a:t>
            </a:r>
            <a:r>
              <a:rPr lang="en-IN" sz="2000" dirty="0">
                <a:solidFill>
                  <a:srgbClr val="C00000"/>
                </a:solidFill>
              </a:rPr>
              <a:t>functions of the same name to be defined</a:t>
            </a:r>
            <a:r>
              <a:rPr lang="en-IN" sz="2000" dirty="0"/>
              <a:t>, as long as these functions have different sets of parameters (</a:t>
            </a:r>
            <a:r>
              <a:rPr lang="en-IN" sz="2000" b="1" dirty="0"/>
              <a:t>at least as far as the parameter types or the number of parameters or the order of the parameter types are concerned</a:t>
            </a:r>
            <a:r>
              <a:rPr lang="en-IN" sz="2000" dirty="0"/>
              <a:t>) - This capability is called </a:t>
            </a:r>
            <a:r>
              <a:rPr lang="en-IN" sz="2000" dirty="0">
                <a:solidFill>
                  <a:srgbClr val="C00000"/>
                </a:solidFill>
              </a:rPr>
              <a:t>function overloading</a:t>
            </a: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IN" sz="2000" dirty="0"/>
              <a:t>When an overloaded function is called, the </a:t>
            </a:r>
            <a:r>
              <a:rPr lang="en-IN" sz="2000" dirty="0">
                <a:solidFill>
                  <a:srgbClr val="C00000"/>
                </a:solidFill>
              </a:rPr>
              <a:t>C++ compiler selects the proper function by examining the</a:t>
            </a:r>
            <a:r>
              <a:rPr lang="en-IN" sz="2000" dirty="0"/>
              <a:t> </a:t>
            </a:r>
            <a:r>
              <a:rPr lang="en-IN" sz="2000" dirty="0">
                <a:solidFill>
                  <a:srgbClr val="C00000"/>
                </a:solidFill>
              </a:rPr>
              <a:t>number, types and order of the arguments in the call</a:t>
            </a:r>
          </a:p>
          <a:p>
            <a:pPr>
              <a:defRPr/>
            </a:pPr>
            <a:r>
              <a:rPr lang="en-IN" sz="2000" dirty="0"/>
              <a:t>Function overloading is commonly used to create several functions of the same name that perform similar tasks, but on data of different types</a:t>
            </a:r>
          </a:p>
          <a:p>
            <a:pPr lvl="1">
              <a:defRPr/>
            </a:pPr>
            <a:r>
              <a:rPr lang="en-IN" sz="1800" b="1" dirty="0"/>
              <a:t>For example</a:t>
            </a:r>
            <a:r>
              <a:rPr lang="en-IN" sz="1800" dirty="0"/>
              <a:t>, many functions in the math library are overloaded for different numeric data types</a:t>
            </a:r>
            <a:endParaRPr lang="en-IN" sz="1800" dirty="0">
              <a:solidFill>
                <a:srgbClr val="C00000"/>
              </a:solidFill>
            </a:endParaRPr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700D0932-495E-493B-A63D-262C4B1FAC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D5CA44-F377-4514-893D-C2C6DAFB7C51}" type="slidenum">
              <a:rPr lang="en-US" altLang="en-US">
                <a:latin typeface="Times New Roman" panose="02020603050405020304" pitchFamily="18" charset="0"/>
              </a:rPr>
              <a:pPr/>
              <a:t>54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66565" name="Picture 2">
            <a:extLst>
              <a:ext uri="{FF2B5EF4-FFF2-40B4-BE49-F238E27FC236}">
                <a16:creationId xmlns:a16="http://schemas.microsoft.com/office/drawing/2014/main" id="{D7C7B303-2149-49CF-8BA5-E8B074C1F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181725"/>
            <a:ext cx="7939088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65D6CBF3-B99F-45B4-ADBF-59304E4E1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Function Overloading - Example</a:t>
            </a:r>
          </a:p>
        </p:txBody>
      </p:sp>
      <p:sp>
        <p:nvSpPr>
          <p:cNvPr id="67587" name="Slide Number Placeholder 3">
            <a:extLst>
              <a:ext uri="{FF2B5EF4-FFF2-40B4-BE49-F238E27FC236}">
                <a16:creationId xmlns:a16="http://schemas.microsoft.com/office/drawing/2014/main" id="{BE9ACF16-0D5B-4147-817A-21FE7366B2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DEBAD7-C268-4624-81FB-38BE565A47A6}" type="slidenum">
              <a:rPr lang="en-US" altLang="en-US">
                <a:latin typeface="Times New Roman" panose="02020603050405020304" pitchFamily="18" charset="0"/>
              </a:rPr>
              <a:pPr/>
              <a:t>55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67588" name="Picture 2">
            <a:extLst>
              <a:ext uri="{FF2B5EF4-FFF2-40B4-BE49-F238E27FC236}">
                <a16:creationId xmlns:a16="http://schemas.microsoft.com/office/drawing/2014/main" id="{EC274E9D-7207-45FB-9268-D165357E9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5341938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589" name="Picture 3">
            <a:extLst>
              <a:ext uri="{FF2B5EF4-FFF2-40B4-BE49-F238E27FC236}">
                <a16:creationId xmlns:a16="http://schemas.microsoft.com/office/drawing/2014/main" id="{828FBE8F-C20B-4886-A1F8-000EEBD8E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4941888"/>
            <a:ext cx="5688013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590" name="Picture 4">
            <a:extLst>
              <a:ext uri="{FF2B5EF4-FFF2-40B4-BE49-F238E27FC236}">
                <a16:creationId xmlns:a16="http://schemas.microsoft.com/office/drawing/2014/main" id="{32E8703A-40EF-4A0C-8DEC-3C410D59C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227513"/>
            <a:ext cx="3133725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7591" name="TextBox 4">
            <a:extLst>
              <a:ext uri="{FF2B5EF4-FFF2-40B4-BE49-F238E27FC236}">
                <a16:creationId xmlns:a16="http://schemas.microsoft.com/office/drawing/2014/main" id="{BC830E81-14DF-46FF-A0B8-98FBB8710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13" y="3857625"/>
            <a:ext cx="21129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b="1"/>
              <a:t>Output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CEA717E2-AA4C-47A6-BA5E-196F20FF1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Function Overloading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B30C9-00CF-4CFE-A5B9-646D6E113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Defining multiple functions having the same name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Binding happens at compile time</a:t>
            </a: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/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37EEFAC7-272F-44F8-A6B5-9F57312028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1988E0-7FCB-45E1-A2C8-F5F554EF880A}" type="slidenum">
              <a:rPr lang="en-US" altLang="en-US">
                <a:latin typeface="Times New Roman" panose="02020603050405020304" pitchFamily="18" charset="0"/>
              </a:rPr>
              <a:pPr/>
              <a:t>56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68613" name="Picture 2">
            <a:extLst>
              <a:ext uri="{FF2B5EF4-FFF2-40B4-BE49-F238E27FC236}">
                <a16:creationId xmlns:a16="http://schemas.microsoft.com/office/drawing/2014/main" id="{AA7C789C-3B00-4CA7-B4E4-419A85867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2438400"/>
            <a:ext cx="8999537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CBEFEA-85F9-4E37-8DC2-6231B1E90414}"/>
              </a:ext>
            </a:extLst>
          </p:cNvPr>
          <p:cNvSpPr/>
          <p:nvPr/>
        </p:nvSpPr>
        <p:spPr>
          <a:xfrm>
            <a:off x="228600" y="3152775"/>
            <a:ext cx="4114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47204F-AE70-4DEB-B4A3-CEF7A15EF6A5}"/>
              </a:ext>
            </a:extLst>
          </p:cNvPr>
          <p:cNvSpPr/>
          <p:nvPr/>
        </p:nvSpPr>
        <p:spPr>
          <a:xfrm>
            <a:off x="4586288" y="3138488"/>
            <a:ext cx="4114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9FFE5BE6-F7D2-4354-9CD3-FAB2A55E7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How the Compiler Differentiates Overloaded Functions?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F8B66-FB2E-4C26-AA1D-2F4AAC048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Overloaded functions are distinguished by their </a:t>
            </a:r>
            <a:r>
              <a:rPr lang="en-IN" sz="2000" b="1" dirty="0">
                <a:solidFill>
                  <a:srgbClr val="C00000"/>
                </a:solidFill>
              </a:rPr>
              <a:t>signatures - </a:t>
            </a:r>
            <a:r>
              <a:rPr lang="en-IN" sz="2000" dirty="0"/>
              <a:t>a </a:t>
            </a:r>
            <a:r>
              <a:rPr lang="en-IN" sz="2000" dirty="0">
                <a:solidFill>
                  <a:srgbClr val="C00000"/>
                </a:solidFill>
              </a:rPr>
              <a:t>combination of a function’s name and its parameter types (in order)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>
                <a:solidFill>
                  <a:srgbClr val="C00000"/>
                </a:solidFill>
              </a:rPr>
              <a:t>      </a:t>
            </a:r>
            <a:r>
              <a:rPr lang="en-IN" sz="2000" dirty="0" err="1">
                <a:solidFill>
                  <a:srgbClr val="C00000"/>
                </a:solidFill>
              </a:rPr>
              <a:t>int</a:t>
            </a:r>
            <a:r>
              <a:rPr lang="en-IN" sz="2000" dirty="0">
                <a:solidFill>
                  <a:srgbClr val="C00000"/>
                </a:solidFill>
              </a:rPr>
              <a:t> area(float 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>
                <a:solidFill>
                  <a:srgbClr val="C00000"/>
                </a:solidFill>
              </a:rPr>
              <a:t>      </a:t>
            </a:r>
            <a:r>
              <a:rPr lang="en-IN" sz="2000" dirty="0" err="1">
                <a:solidFill>
                  <a:srgbClr val="C00000"/>
                </a:solidFill>
              </a:rPr>
              <a:t>int</a:t>
            </a:r>
            <a:r>
              <a:rPr lang="en-IN" sz="2000" dirty="0">
                <a:solidFill>
                  <a:srgbClr val="C00000"/>
                </a:solidFill>
              </a:rPr>
              <a:t> area (</a:t>
            </a:r>
            <a:r>
              <a:rPr lang="en-IN" sz="2000" dirty="0" err="1">
                <a:solidFill>
                  <a:srgbClr val="C00000"/>
                </a:solidFill>
              </a:rPr>
              <a:t>int</a:t>
            </a:r>
            <a:r>
              <a:rPr lang="en-IN" sz="2000" dirty="0">
                <a:solidFill>
                  <a:srgbClr val="C00000"/>
                </a:solidFill>
              </a:rPr>
              <a:t>) ;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The compiler encodes each </a:t>
            </a:r>
            <a:r>
              <a:rPr lang="en-IN" sz="2000" b="1" dirty="0"/>
              <a:t>function identifier with the number and types of its parameters</a:t>
            </a:r>
            <a:r>
              <a:rPr lang="en-IN" sz="2000" dirty="0"/>
              <a:t> (sometimes referred to as </a:t>
            </a:r>
            <a:r>
              <a:rPr lang="en-IN" sz="2000" b="1" dirty="0">
                <a:solidFill>
                  <a:srgbClr val="C00000"/>
                </a:solidFill>
              </a:rPr>
              <a:t>name mangling </a:t>
            </a:r>
            <a:r>
              <a:rPr lang="en-IN" sz="2000" dirty="0">
                <a:solidFill>
                  <a:srgbClr val="C00000"/>
                </a:solidFill>
              </a:rPr>
              <a:t>or </a:t>
            </a:r>
            <a:r>
              <a:rPr lang="en-IN" sz="2000" b="1" dirty="0">
                <a:solidFill>
                  <a:srgbClr val="C00000"/>
                </a:solidFill>
              </a:rPr>
              <a:t>name decoration</a:t>
            </a:r>
            <a:r>
              <a:rPr lang="en-IN" sz="2000" dirty="0"/>
              <a:t>) to enable type-safe linkage</a:t>
            </a:r>
          </a:p>
          <a:p>
            <a:pPr lvl="1">
              <a:defRPr/>
            </a:pPr>
            <a:r>
              <a:rPr lang="en-IN" sz="1800" dirty="0"/>
              <a:t>This ensures that the proper overloaded function is called and that the argument types conform to the parameter types</a:t>
            </a:r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8F93F876-FD0A-4450-BA11-F03465C085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8D37B5-D012-488E-8A43-2862C89D6905}" type="slidenum">
              <a:rPr lang="en-US" altLang="en-US">
                <a:latin typeface="Times New Roman" panose="02020603050405020304" pitchFamily="18" charset="0"/>
              </a:rPr>
              <a:pPr/>
              <a:t>57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47C90D34-C47A-4E5D-B3A8-EB511C648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Name Mangling - Example </a:t>
            </a:r>
          </a:p>
        </p:txBody>
      </p:sp>
      <p:sp>
        <p:nvSpPr>
          <p:cNvPr id="70659" name="Slide Number Placeholder 3">
            <a:extLst>
              <a:ext uri="{FF2B5EF4-FFF2-40B4-BE49-F238E27FC236}">
                <a16:creationId xmlns:a16="http://schemas.microsoft.com/office/drawing/2014/main" id="{6411D6A6-9321-458B-B482-67930199DA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FB9EA4-3B73-4E4F-AB1D-2259B159F739}" type="slidenum">
              <a:rPr lang="en-US" altLang="en-US">
                <a:latin typeface="Times New Roman" panose="02020603050405020304" pitchFamily="18" charset="0"/>
              </a:rPr>
              <a:pPr/>
              <a:t>58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70660" name="Picture 2">
            <a:extLst>
              <a:ext uri="{FF2B5EF4-FFF2-40B4-BE49-F238E27FC236}">
                <a16:creationId xmlns:a16="http://schemas.microsoft.com/office/drawing/2014/main" id="{374CD494-1A1F-43DC-927B-52E289489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66800"/>
            <a:ext cx="5334000" cy="561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661" name="Picture 3">
            <a:extLst>
              <a:ext uri="{FF2B5EF4-FFF2-40B4-BE49-F238E27FC236}">
                <a16:creationId xmlns:a16="http://schemas.microsoft.com/office/drawing/2014/main" id="{A5B6B598-1536-4FA4-AAB0-D73A471EA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295400"/>
            <a:ext cx="463232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662" name="Picture 4">
            <a:extLst>
              <a:ext uri="{FF2B5EF4-FFF2-40B4-BE49-F238E27FC236}">
                <a16:creationId xmlns:a16="http://schemas.microsoft.com/office/drawing/2014/main" id="{C2F5CE2A-AC61-4BB2-800B-7A8AE5E46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362200"/>
            <a:ext cx="2813050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0663" name="Rectangle 4">
            <a:extLst>
              <a:ext uri="{FF2B5EF4-FFF2-40B4-BE49-F238E27FC236}">
                <a16:creationId xmlns:a16="http://schemas.microsoft.com/office/drawing/2014/main" id="{3933DF22-CFB7-466A-A9F0-713441B18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6150" y="4078288"/>
            <a:ext cx="31019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b="1"/>
              <a:t>Name mangling to enable </a:t>
            </a:r>
          </a:p>
          <a:p>
            <a:pPr eaLnBrk="1" hangingPunct="1"/>
            <a:r>
              <a:rPr lang="en-IN" altLang="en-US" b="1"/>
              <a:t>type-safe linkage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1CDA7255-AB60-4399-AED8-C5E17531F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Name Mangling -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985DC-0655-42CA-A1CF-977B0CC89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r>
              <a:rPr lang="en-IN" sz="2000" dirty="0"/>
              <a:t>Each mangled name (other than main) begins with two underscores (__) followed by the letter Z, a number and the function name</a:t>
            </a:r>
          </a:p>
          <a:p>
            <a:pPr>
              <a:defRPr/>
            </a:pPr>
            <a:r>
              <a:rPr lang="en-IN" sz="2000" dirty="0"/>
              <a:t>The number that follows Z specifies </a:t>
            </a:r>
            <a:r>
              <a:rPr lang="en-IN" sz="2000" b="1" dirty="0"/>
              <a:t>how many characters are in the function’s name</a:t>
            </a:r>
          </a:p>
          <a:p>
            <a:pPr lvl="1">
              <a:defRPr/>
            </a:pPr>
            <a:r>
              <a:rPr lang="en-IN" sz="1800" b="1" dirty="0"/>
              <a:t>For example : </a:t>
            </a:r>
            <a:r>
              <a:rPr lang="en-IN" sz="1800" dirty="0"/>
              <a:t>Function square has 6 characters in its name, so its mangled name is prefixed with __Z6</a:t>
            </a:r>
          </a:p>
          <a:p>
            <a:pPr>
              <a:defRPr/>
            </a:pPr>
            <a:r>
              <a:rPr lang="en-IN" sz="2000" dirty="0"/>
              <a:t>The function name is then followed by an encoding of its parameter list</a:t>
            </a:r>
          </a:p>
          <a:p>
            <a:pPr lvl="1">
              <a:defRPr/>
            </a:pPr>
            <a:r>
              <a:rPr lang="en-IN" sz="1800" dirty="0"/>
              <a:t>In the parameter list for function nothing2, c represents a char, I represents an </a:t>
            </a:r>
            <a:r>
              <a:rPr lang="en-IN" sz="1800" dirty="0" err="1"/>
              <a:t>int</a:t>
            </a:r>
            <a:r>
              <a:rPr lang="en-IN" sz="1800" dirty="0"/>
              <a:t>, </a:t>
            </a:r>
            <a:r>
              <a:rPr lang="en-IN" sz="1800" dirty="0" err="1"/>
              <a:t>Rf</a:t>
            </a:r>
            <a:r>
              <a:rPr lang="en-IN" sz="1800" dirty="0"/>
              <a:t> represents a float &amp; (i.e., a reference to a float) and Rd represents a double &amp; (i.e., a reference to a double)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The return types of the functions are not specified in the mangled names</a:t>
            </a:r>
            <a:endParaRPr lang="en-IN" sz="4400" b="1" dirty="0">
              <a:solidFill>
                <a:srgbClr val="C00000"/>
              </a:solidFill>
            </a:endParaRPr>
          </a:p>
          <a:p>
            <a:pPr>
              <a:defRPr/>
            </a:pPr>
            <a:endParaRPr lang="en-IN" dirty="0"/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F9E5C826-ACE4-470F-99A0-C2EEEEF499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08BDEE-9ADF-42DC-92FB-65B9364B0B04}" type="slidenum">
              <a:rPr lang="en-US" altLang="en-US">
                <a:latin typeface="Times New Roman" panose="02020603050405020304" pitchFamily="18" charset="0"/>
              </a:rPr>
              <a:pPr/>
              <a:t>59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71685" name="Picture 4">
            <a:extLst>
              <a:ext uri="{FF2B5EF4-FFF2-40B4-BE49-F238E27FC236}">
                <a16:creationId xmlns:a16="http://schemas.microsoft.com/office/drawing/2014/main" id="{DB9FF7DA-CEB6-454B-BD0A-F97819106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066800"/>
            <a:ext cx="2813050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B2E856B4-0952-4BF2-8AD3-3EA2C713B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B93C2-7819-451B-89AF-0B131149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b="1" dirty="0"/>
              <a:t>Note: </a:t>
            </a:r>
          </a:p>
          <a:p>
            <a:pPr>
              <a:defRPr/>
            </a:pPr>
            <a:r>
              <a:rPr lang="en-IN" sz="2000" dirty="0"/>
              <a:t>Function-name mangling is compiler specific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Function main is not mangled, because it cannot be overloaded</a:t>
            </a:r>
          </a:p>
          <a:p>
            <a:pPr>
              <a:defRPr/>
            </a:pPr>
            <a:endParaRPr lang="en-IN" sz="2000" b="1" dirty="0"/>
          </a:p>
          <a:p>
            <a:pPr>
              <a:defRPr/>
            </a:pPr>
            <a:endParaRPr lang="en-IN" sz="2000" b="1" dirty="0"/>
          </a:p>
          <a:p>
            <a:pPr>
              <a:defRPr/>
            </a:pPr>
            <a:endParaRPr lang="en-IN" sz="2000" b="1" dirty="0"/>
          </a:p>
          <a:p>
            <a:pPr>
              <a:defRPr/>
            </a:pPr>
            <a:endParaRPr lang="en-IN" sz="2000" b="1" dirty="0"/>
          </a:p>
          <a:p>
            <a:pPr>
              <a:defRPr/>
            </a:pPr>
            <a:r>
              <a:rPr lang="en-IN" sz="2000" b="1" dirty="0"/>
              <a:t>Example</a:t>
            </a:r>
          </a:p>
          <a:p>
            <a:pPr lvl="1">
              <a:defRPr/>
            </a:pPr>
            <a:r>
              <a:rPr lang="en-US" sz="2000" dirty="0">
                <a:solidFill>
                  <a:srgbClr val="C00000"/>
                </a:solidFill>
              </a:rPr>
              <a:t>double abs(double);</a:t>
            </a:r>
          </a:p>
          <a:p>
            <a:pPr lvl="1">
              <a:defRPr/>
            </a:pPr>
            <a:r>
              <a:rPr lang="en-US" sz="2000" dirty="0" err="1">
                <a:solidFill>
                  <a:srgbClr val="C00000"/>
                </a:solidFill>
              </a:rPr>
              <a:t>int</a:t>
            </a:r>
            <a:r>
              <a:rPr lang="en-US" sz="2000" dirty="0">
                <a:solidFill>
                  <a:srgbClr val="C00000"/>
                </a:solidFill>
              </a:rPr>
              <a:t> abs(double);</a:t>
            </a:r>
          </a:p>
          <a:p>
            <a:pPr lvl="1">
              <a:defRPr/>
            </a:pPr>
            <a:r>
              <a:rPr lang="en-US" sz="2000" dirty="0"/>
              <a:t>Function different only in return types cannot be overloaded 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070438BC-07B0-4191-8574-A572118AA5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D1AA821-0E27-4978-8A9C-3EF8FE1BF3F0}" type="slidenum">
              <a:rPr lang="en-US" altLang="en-US">
                <a:latin typeface="Times New Roman" panose="02020603050405020304" pitchFamily="18" charset="0"/>
              </a:rPr>
              <a:pPr/>
              <a:t>60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72709" name="Picture 2">
            <a:extLst>
              <a:ext uri="{FF2B5EF4-FFF2-40B4-BE49-F238E27FC236}">
                <a16:creationId xmlns:a16="http://schemas.microsoft.com/office/drawing/2014/main" id="{6BE5238B-65B6-4877-9812-BD3F36514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048000"/>
            <a:ext cx="8001000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6B1E0B81-33E2-4120-B174-36745CC84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3112E-25C7-43BD-B88C-0979A0DEC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    </a:t>
            </a:r>
            <a:r>
              <a:rPr lang="en-US" sz="2000" dirty="0" err="1">
                <a:solidFill>
                  <a:srgbClr val="C00000"/>
                </a:solidFill>
              </a:rPr>
              <a:t>int</a:t>
            </a:r>
            <a:r>
              <a:rPr lang="en-US" sz="2000" dirty="0">
                <a:solidFill>
                  <a:srgbClr val="C00000"/>
                </a:solidFill>
              </a:rPr>
              <a:t> f(</a:t>
            </a:r>
            <a:r>
              <a:rPr lang="en-US" sz="2000" dirty="0" err="1">
                <a:solidFill>
                  <a:srgbClr val="C00000"/>
                </a:solidFill>
              </a:rPr>
              <a:t>int</a:t>
            </a:r>
            <a:r>
              <a:rPr lang="en-US" sz="2000" dirty="0">
                <a:solidFill>
                  <a:srgbClr val="C00000"/>
                </a:solidFill>
              </a:rPr>
              <a:t> i)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/>
              <a:t>  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/>
              <a:t>	//..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/>
              <a:t>   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   </a:t>
            </a:r>
            <a:r>
              <a:rPr lang="en-US" sz="2000" dirty="0" err="1">
                <a:solidFill>
                  <a:srgbClr val="C00000"/>
                </a:solidFill>
              </a:rPr>
              <a:t>int</a:t>
            </a:r>
            <a:r>
              <a:rPr lang="en-US" sz="2000" dirty="0">
                <a:solidFill>
                  <a:srgbClr val="C00000"/>
                </a:solidFill>
              </a:rPr>
              <a:t> f(</a:t>
            </a:r>
            <a:r>
              <a:rPr lang="en-US" sz="2000" dirty="0" err="1">
                <a:solidFill>
                  <a:srgbClr val="C00000"/>
                </a:solidFill>
              </a:rPr>
              <a:t>int</a:t>
            </a:r>
            <a:r>
              <a:rPr lang="en-US" sz="2000" dirty="0">
                <a:solidFill>
                  <a:srgbClr val="C00000"/>
                </a:solidFill>
              </a:rPr>
              <a:t> &amp;r) </a:t>
            </a:r>
            <a:r>
              <a:rPr lang="en-US" sz="2000" dirty="0"/>
              <a:t>	// error; function types not sufficiently different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/>
              <a:t>  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/>
              <a:t>	//..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/>
              <a:t>    }</a:t>
            </a:r>
          </a:p>
          <a:p>
            <a:pPr>
              <a:defRPr/>
            </a:pPr>
            <a:r>
              <a:rPr lang="en-US" sz="2000" dirty="0"/>
              <a:t>Any type T, </a:t>
            </a:r>
            <a:r>
              <a:rPr lang="en-US" sz="2000" dirty="0">
                <a:solidFill>
                  <a:srgbClr val="C00000"/>
                </a:solidFill>
              </a:rPr>
              <a:t>a T and a T&amp; accept the same set of initializer values</a:t>
            </a:r>
            <a:r>
              <a:rPr lang="en-US" sz="2000" dirty="0"/>
              <a:t>, function with arguments types differing only in this respect may not have the same name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F1A21EB0-D9F0-4B4C-890B-E7A1C84AA3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5F886F-DB09-483E-8ADA-ABEFA03FA922}" type="slidenum">
              <a:rPr lang="en-US" altLang="en-US">
                <a:latin typeface="Times New Roman" panose="02020603050405020304" pitchFamily="18" charset="0"/>
              </a:rPr>
              <a:pPr/>
              <a:t>61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1103C031-4E31-4715-A3FF-C4B0A767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EAE65-3B11-4728-8161-6C691AC5D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Passing constant values directly </a:t>
            </a:r>
            <a:r>
              <a:rPr lang="en-US" sz="2000" dirty="0"/>
              <a:t>can also lead to ambiguity as internal type conversions may take place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b="1" dirty="0"/>
              <a:t>Example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b="1" dirty="0"/>
              <a:t>      </a:t>
            </a:r>
            <a:r>
              <a:rPr lang="en-US" sz="2000" dirty="0">
                <a:solidFill>
                  <a:srgbClr val="C00000"/>
                </a:solidFill>
              </a:rPr>
              <a:t>sum(</a:t>
            </a:r>
            <a:r>
              <a:rPr lang="en-US" sz="2000" dirty="0" err="1">
                <a:solidFill>
                  <a:srgbClr val="C00000"/>
                </a:solidFill>
              </a:rPr>
              <a:t>int</a:t>
            </a:r>
            <a:r>
              <a:rPr lang="en-US" sz="2000" dirty="0">
                <a:solidFill>
                  <a:srgbClr val="C00000"/>
                </a:solidFill>
              </a:rPr>
              <a:t>, </a:t>
            </a:r>
            <a:r>
              <a:rPr lang="en-US" sz="2000" dirty="0" err="1">
                <a:solidFill>
                  <a:srgbClr val="C00000"/>
                </a:solidFill>
              </a:rPr>
              <a:t>int</a:t>
            </a:r>
            <a:r>
              <a:rPr lang="en-US" sz="2000" dirty="0">
                <a:solidFill>
                  <a:srgbClr val="C00000"/>
                </a:solidFill>
              </a:rPr>
              <a:t>)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      sum(float, float)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dirty="0"/>
              <a:t>The compiler will not be able to distinguish between the two calls made below</a:t>
            </a:r>
            <a:r>
              <a:rPr lang="en-US" sz="1700" dirty="0"/>
              <a:t>    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sz="1700" dirty="0"/>
              <a:t>      </a:t>
            </a:r>
            <a:r>
              <a:rPr lang="en-US" sz="2000" dirty="0">
                <a:solidFill>
                  <a:srgbClr val="C00000"/>
                </a:solidFill>
              </a:rPr>
              <a:t>sum(2,3);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     sum(1.1, 2.2);</a:t>
            </a:r>
          </a:p>
          <a:p>
            <a:pPr eaLnBrk="1" hangingPunct="1">
              <a:defRPr/>
            </a:pPr>
            <a:endParaRPr lang="en-US" sz="1800" dirty="0">
              <a:solidFill>
                <a:srgbClr val="C0000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700" dirty="0"/>
              <a:t>		</a:t>
            </a:r>
            <a:endParaRPr lang="en-US" sz="1700" dirty="0">
              <a:solidFill>
                <a:srgbClr val="990099"/>
              </a:solidFill>
            </a:endParaRPr>
          </a:p>
          <a:p>
            <a:pPr>
              <a:defRPr/>
            </a:pPr>
            <a:endParaRPr lang="en-IN" sz="2000" dirty="0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19DCBE42-C2B0-4EC5-A966-2FC4040222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F5CFEB-12B7-4BB8-9663-E9975C105D8E}" type="slidenum">
              <a:rPr lang="en-US" altLang="en-US">
                <a:latin typeface="Times New Roman" panose="02020603050405020304" pitchFamily="18" charset="0"/>
              </a:rPr>
              <a:pPr/>
              <a:t>62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5BAD971E-D6F3-4F26-B896-AB815722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Function Overloading – Summary of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76955-92A1-4EF7-8554-C00D96823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defRPr/>
            </a:pPr>
            <a:endParaRPr lang="en-IN" sz="2000" dirty="0"/>
          </a:p>
          <a:p>
            <a:pPr>
              <a:lnSpc>
                <a:spcPct val="110000"/>
              </a:lnSpc>
              <a:defRPr/>
            </a:pPr>
            <a:r>
              <a:rPr lang="en-IN" sz="2000" dirty="0"/>
              <a:t>The same function name may be used in several definitions </a:t>
            </a:r>
          </a:p>
          <a:p>
            <a:pPr>
              <a:lnSpc>
                <a:spcPct val="110000"/>
              </a:lnSpc>
              <a:defRPr/>
            </a:pPr>
            <a:r>
              <a:rPr lang="en-IN" sz="2000" dirty="0"/>
              <a:t>Functions with the same name must have different number of formal parameters and/or different type of formal parameters</a:t>
            </a:r>
          </a:p>
          <a:p>
            <a:pPr>
              <a:lnSpc>
                <a:spcPct val="110000"/>
              </a:lnSpc>
              <a:defRPr/>
            </a:pPr>
            <a:r>
              <a:rPr lang="en-IN" sz="2000" dirty="0"/>
              <a:t>Function selection is based on the number and types of the actual arguments at the places of invocation</a:t>
            </a:r>
          </a:p>
          <a:p>
            <a:pPr>
              <a:lnSpc>
                <a:spcPct val="110000"/>
              </a:lnSpc>
              <a:defRPr/>
            </a:pPr>
            <a:r>
              <a:rPr lang="en-IN" sz="2000" dirty="0"/>
              <a:t>Function selection (overload resolution) is performed by the compiler</a:t>
            </a:r>
          </a:p>
          <a:p>
            <a:pPr>
              <a:lnSpc>
                <a:spcPct val="110000"/>
              </a:lnSpc>
              <a:defRPr/>
            </a:pPr>
            <a:r>
              <a:rPr lang="en-IN" sz="2000" dirty="0"/>
              <a:t>Two functions having the same signature but different return types will result in a compilation error due to attempt to re-declare</a:t>
            </a:r>
          </a:p>
          <a:p>
            <a:pPr>
              <a:lnSpc>
                <a:spcPct val="110000"/>
              </a:lnSpc>
              <a:defRPr/>
            </a:pPr>
            <a:r>
              <a:rPr lang="en-IN" sz="2000" dirty="0"/>
              <a:t>Overloading allows </a:t>
            </a:r>
            <a:r>
              <a:rPr lang="en-IN" sz="2000" dirty="0">
                <a:solidFill>
                  <a:srgbClr val="C00000"/>
                </a:solidFill>
              </a:rPr>
              <a:t>static polymorphism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5187F99A-E9CC-49AD-B32B-FCEC461ACE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F8FDA72-971C-403F-B01C-7A4DCA85C328}" type="slidenum">
              <a:rPr lang="en-US" altLang="en-US">
                <a:latin typeface="Times New Roman" panose="02020603050405020304" pitchFamily="18" charset="0"/>
              </a:rPr>
              <a:pPr/>
              <a:t>63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B37F851A-074B-4A7E-A632-F327B149D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Resolving Function Overloads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83803-1120-446F-AABC-9EC7834AA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How does the compiler know which version of f() to call?  </a:t>
            </a:r>
          </a:p>
          <a:p>
            <a:pPr>
              <a:defRPr/>
            </a:pPr>
            <a:r>
              <a:rPr lang="en-IN" sz="2000" dirty="0"/>
              <a:t>Gather all the functions in the current scope that have the same name as the function called</a:t>
            </a:r>
          </a:p>
          <a:p>
            <a:pPr>
              <a:defRPr/>
            </a:pPr>
            <a:r>
              <a:rPr lang="en-IN" sz="2000" dirty="0"/>
              <a:t>Exclude those that don't have the right number of parameters to match the arguments in the call. (It has to be careful about parameters with default values; void f(</a:t>
            </a:r>
            <a:r>
              <a:rPr lang="en-IN" sz="2000" dirty="0" err="1"/>
              <a:t>int</a:t>
            </a:r>
            <a:r>
              <a:rPr lang="en-IN" sz="2000" dirty="0"/>
              <a:t> x, </a:t>
            </a:r>
            <a:r>
              <a:rPr lang="en-IN" sz="2000" dirty="0" err="1"/>
              <a:t>int</a:t>
            </a:r>
            <a:r>
              <a:rPr lang="en-IN" sz="2000" dirty="0"/>
              <a:t> y = 0) is a candidate for the call f(25);)</a:t>
            </a:r>
          </a:p>
          <a:p>
            <a:pPr>
              <a:defRPr/>
            </a:pPr>
            <a:r>
              <a:rPr lang="en-IN" sz="2000" dirty="0"/>
              <a:t>If no function matches, the compiler reports an error</a:t>
            </a:r>
          </a:p>
          <a:p>
            <a:pPr>
              <a:defRPr/>
            </a:pPr>
            <a:r>
              <a:rPr lang="en-IN" sz="2000" dirty="0"/>
              <a:t>If there is more than one match, select the 'best match'</a:t>
            </a:r>
          </a:p>
          <a:p>
            <a:pPr>
              <a:defRPr/>
            </a:pPr>
            <a:r>
              <a:rPr lang="en-IN" sz="2000" dirty="0"/>
              <a:t>If there is no clear winner of the best matches, the compiler reports an error - ambiguous function call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899E5229-5A78-4702-BE39-59F33378D4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3C56C5-F8F9-4FDF-B8C4-2010D0D07853}" type="slidenum">
              <a:rPr lang="en-US" altLang="en-US">
                <a:latin typeface="Times New Roman" panose="02020603050405020304" pitchFamily="18" charset="0"/>
              </a:rPr>
              <a:pPr/>
              <a:t>64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C10AD504-8528-4807-B40D-3255A1EDB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973138"/>
            <a:ext cx="4572000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>
                <a:solidFill>
                  <a:srgbClr val="C00000"/>
                </a:solidFill>
              </a:rPr>
              <a:t>void f(double d1, int i1)</a:t>
            </a:r>
          </a:p>
          <a:p>
            <a:pPr eaLnBrk="1" hangingPunct="1"/>
            <a:r>
              <a:rPr lang="fr-FR" altLang="en-US">
                <a:solidFill>
                  <a:srgbClr val="C00000"/>
                </a:solidFill>
              </a:rPr>
              <a:t>{... }</a:t>
            </a:r>
          </a:p>
          <a:p>
            <a:pPr eaLnBrk="1" hangingPunct="1"/>
            <a:r>
              <a:rPr lang="fr-FR" altLang="en-US">
                <a:solidFill>
                  <a:srgbClr val="C00000"/>
                </a:solidFill>
              </a:rPr>
              <a:t>void f(double d1, double d2)</a:t>
            </a:r>
          </a:p>
          <a:p>
            <a:pPr eaLnBrk="1" hangingPunct="1"/>
            <a:r>
              <a:rPr lang="fr-FR" altLang="en-US">
                <a:solidFill>
                  <a:srgbClr val="C00000"/>
                </a:solidFill>
              </a:rPr>
              <a:t>{... }</a:t>
            </a:r>
          </a:p>
          <a:p>
            <a:pPr eaLnBrk="1" hangingPunct="1"/>
            <a:r>
              <a:rPr lang="fr-FR" altLang="en-US">
                <a:solidFill>
                  <a:srgbClr val="C00000"/>
                </a:solidFill>
              </a:rPr>
              <a:t>...</a:t>
            </a:r>
          </a:p>
          <a:p>
            <a:pPr eaLnBrk="1" hangingPunct="1"/>
            <a:r>
              <a:rPr lang="fr-FR" altLang="en-US">
                <a:solidFill>
                  <a:srgbClr val="C00000"/>
                </a:solidFill>
              </a:rPr>
              <a:t>int main( )</a:t>
            </a:r>
          </a:p>
          <a:p>
            <a:pPr eaLnBrk="1" hangingPunct="1"/>
            <a:r>
              <a:rPr lang="fr-FR" altLang="en-US">
                <a:solidFill>
                  <a:srgbClr val="C00000"/>
                </a:solidFill>
              </a:rPr>
              <a:t>{  cout &lt;&lt; f(1.0, 2); }</a:t>
            </a:r>
            <a:endParaRPr lang="en-I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7BCA2B23-6502-41DA-97D0-AD6974414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Overload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8EBA2-A00F-4E98-886A-0951BB55F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400" dirty="0">
                <a:solidFill>
                  <a:srgbClr val="C00000"/>
                </a:solidFill>
              </a:rPr>
              <a:t>To resolve overloaded functions</a:t>
            </a:r>
          </a:p>
          <a:p>
            <a:pPr>
              <a:defRPr/>
            </a:pPr>
            <a:endParaRPr lang="en-IN" sz="2000" b="1" dirty="0"/>
          </a:p>
          <a:p>
            <a:pPr lvl="1">
              <a:defRPr/>
            </a:pPr>
            <a:r>
              <a:rPr lang="en-IN" sz="2000" dirty="0"/>
              <a:t>Identify the set of candidate functions</a:t>
            </a:r>
          </a:p>
          <a:p>
            <a:pPr lvl="1">
              <a:defRPr/>
            </a:pPr>
            <a:r>
              <a:rPr lang="en-IN" sz="2000" dirty="0"/>
              <a:t>From the set of candidate functions identify the set of viable functions </a:t>
            </a:r>
          </a:p>
          <a:p>
            <a:pPr lvl="1">
              <a:defRPr/>
            </a:pPr>
            <a:r>
              <a:rPr lang="en-IN" sz="2000" dirty="0"/>
              <a:t>Select the best viable function through (order is important)</a:t>
            </a:r>
          </a:p>
          <a:p>
            <a:pPr lvl="2">
              <a:defRPr/>
            </a:pPr>
            <a:r>
              <a:rPr lang="en-IN" sz="2000" dirty="0">
                <a:solidFill>
                  <a:srgbClr val="C00000"/>
                </a:solidFill>
              </a:rPr>
              <a:t>Exact Match</a:t>
            </a:r>
          </a:p>
          <a:p>
            <a:pPr lvl="2">
              <a:defRPr/>
            </a:pPr>
            <a:r>
              <a:rPr lang="en-IN" sz="2000" dirty="0">
                <a:solidFill>
                  <a:srgbClr val="C00000"/>
                </a:solidFill>
              </a:rPr>
              <a:t>Promotion</a:t>
            </a:r>
          </a:p>
          <a:p>
            <a:pPr lvl="2">
              <a:defRPr/>
            </a:pPr>
            <a:r>
              <a:rPr lang="en-IN" sz="2000" dirty="0">
                <a:solidFill>
                  <a:srgbClr val="C00000"/>
                </a:solidFill>
              </a:rPr>
              <a:t>Standard type conversion</a:t>
            </a:r>
          </a:p>
          <a:p>
            <a:pPr lvl="2">
              <a:defRPr/>
            </a:pPr>
            <a:r>
              <a:rPr lang="en-IN" sz="2000" dirty="0">
                <a:solidFill>
                  <a:srgbClr val="C00000"/>
                </a:solidFill>
              </a:rPr>
              <a:t>User defined type conversion</a:t>
            </a:r>
          </a:p>
          <a:p>
            <a:pPr lvl="1">
              <a:defRPr/>
            </a:pPr>
            <a:endParaRPr lang="en-IN" sz="1600" dirty="0"/>
          </a:p>
          <a:p>
            <a:pPr lvl="1">
              <a:defRPr/>
            </a:pPr>
            <a:endParaRPr lang="en-IN" sz="1600" dirty="0"/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76DD4854-758D-4D32-A09D-6648233870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F69B2C-5809-4268-910D-A20551F7C33B}" type="slidenum">
              <a:rPr lang="en-US" altLang="en-US">
                <a:latin typeface="Times New Roman" panose="02020603050405020304" pitchFamily="18" charset="0"/>
              </a:rPr>
              <a:pPr/>
              <a:t>65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B3647D3A-07CA-419B-BFD4-A1635643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Overload Resolution - Promotion &amp; Conversion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78851" name="Slide Number Placeholder 3">
            <a:extLst>
              <a:ext uri="{FF2B5EF4-FFF2-40B4-BE49-F238E27FC236}">
                <a16:creationId xmlns:a16="http://schemas.microsoft.com/office/drawing/2014/main" id="{DDC119B5-BBA3-4E0A-80A9-55B7370A7E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29E379-0B9C-4186-AA67-5C564A603F5C}" type="slidenum">
              <a:rPr lang="en-US" altLang="en-US">
                <a:latin typeface="Times New Roman" panose="02020603050405020304" pitchFamily="18" charset="0"/>
              </a:rPr>
              <a:pPr/>
              <a:t>66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78852" name="Picture 2">
            <a:extLst>
              <a:ext uri="{FF2B5EF4-FFF2-40B4-BE49-F238E27FC236}">
                <a16:creationId xmlns:a16="http://schemas.microsoft.com/office/drawing/2014/main" id="{B6CC983B-401C-4280-A008-5D335314D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133600"/>
            <a:ext cx="6477000" cy="325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04B12506-B7FB-4C04-8F20-30FC1943F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Example : Overload Resolution with One Parameter</a:t>
            </a:r>
          </a:p>
        </p:txBody>
      </p:sp>
      <p:sp>
        <p:nvSpPr>
          <p:cNvPr id="79875" name="Slide Number Placeholder 3">
            <a:extLst>
              <a:ext uri="{FF2B5EF4-FFF2-40B4-BE49-F238E27FC236}">
                <a16:creationId xmlns:a16="http://schemas.microsoft.com/office/drawing/2014/main" id="{4DF25057-8390-4A51-9BBB-21F984850B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8FFE74-78FA-4BEF-AD11-ADD513BB31FB}" type="slidenum">
              <a:rPr lang="en-US" altLang="en-US">
                <a:latin typeface="Times New Roman" panose="02020603050405020304" pitchFamily="18" charset="0"/>
              </a:rPr>
              <a:pPr/>
              <a:t>67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79876" name="Picture 2">
            <a:extLst>
              <a:ext uri="{FF2B5EF4-FFF2-40B4-BE49-F238E27FC236}">
                <a16:creationId xmlns:a16="http://schemas.microsoft.com/office/drawing/2014/main" id="{1D58A0BC-3073-4E06-AC4D-98A488AAD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52600"/>
            <a:ext cx="831056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>
            <a:extLst>
              <a:ext uri="{FF2B5EF4-FFF2-40B4-BE49-F238E27FC236}">
                <a16:creationId xmlns:a16="http://schemas.microsoft.com/office/drawing/2014/main" id="{6D01CBFC-2126-4C3C-B130-AF914C80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Example : Overload Resolution Fails</a:t>
            </a:r>
          </a:p>
        </p:txBody>
      </p:sp>
      <p:sp>
        <p:nvSpPr>
          <p:cNvPr id="80899" name="Slide Number Placeholder 3">
            <a:extLst>
              <a:ext uri="{FF2B5EF4-FFF2-40B4-BE49-F238E27FC236}">
                <a16:creationId xmlns:a16="http://schemas.microsoft.com/office/drawing/2014/main" id="{5C1E1556-0801-407F-9BDF-87E3C74472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54C679-D8E3-451C-BEA7-0FEE0DC60398}" type="slidenum">
              <a:rPr lang="en-US" altLang="en-US">
                <a:latin typeface="Times New Roman" panose="02020603050405020304" pitchFamily="18" charset="0"/>
              </a:rPr>
              <a:pPr/>
              <a:t>68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80900" name="Picture 2">
            <a:extLst>
              <a:ext uri="{FF2B5EF4-FFF2-40B4-BE49-F238E27FC236}">
                <a16:creationId xmlns:a16="http://schemas.microsoft.com/office/drawing/2014/main" id="{3BAF718A-03DF-4E3C-A7A1-9251CA713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309688"/>
            <a:ext cx="74676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74591C63-5D3C-46FF-8572-F3F48E823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30D62-38EE-4D09-8946-2AFEBDC10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382000" cy="4530725"/>
          </a:xfrm>
        </p:spPr>
        <p:txBody>
          <a:bodyPr/>
          <a:lstStyle/>
          <a:p>
            <a:pPr>
              <a:defRPr/>
            </a:pPr>
            <a:r>
              <a:rPr lang="en-IN" sz="2000" dirty="0"/>
              <a:t>Which of the following overloaded functions are NOT allowed in C++?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Function declarations that differ only in the return type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fr-FR" sz="2000" dirty="0"/>
              <a:t>      </a:t>
            </a:r>
            <a:r>
              <a:rPr lang="fr-FR" sz="2000" dirty="0" err="1"/>
              <a:t>int</a:t>
            </a:r>
            <a:r>
              <a:rPr lang="fr-FR" sz="2000" dirty="0"/>
              <a:t> fun(</a:t>
            </a:r>
            <a:r>
              <a:rPr lang="fr-FR" sz="2000" dirty="0" err="1"/>
              <a:t>int</a:t>
            </a:r>
            <a:r>
              <a:rPr lang="fr-FR" sz="2000" dirty="0"/>
              <a:t> x, </a:t>
            </a:r>
            <a:r>
              <a:rPr lang="fr-FR" sz="2000" dirty="0" err="1"/>
              <a:t>int</a:t>
            </a:r>
            <a:r>
              <a:rPr lang="fr-FR" sz="2000" dirty="0"/>
              <a:t> y);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fr-FR" sz="2000" dirty="0"/>
              <a:t>      </a:t>
            </a:r>
            <a:r>
              <a:rPr lang="fr-FR" sz="2000" dirty="0" err="1"/>
              <a:t>void</a:t>
            </a:r>
            <a:r>
              <a:rPr lang="fr-FR" sz="2000" dirty="0"/>
              <a:t> fun(</a:t>
            </a:r>
            <a:r>
              <a:rPr lang="fr-FR" sz="2000" dirty="0" err="1"/>
              <a:t>int</a:t>
            </a:r>
            <a:r>
              <a:rPr lang="fr-FR" sz="2000" dirty="0"/>
              <a:t> x, </a:t>
            </a:r>
            <a:r>
              <a:rPr lang="fr-FR" sz="2000" dirty="0" err="1"/>
              <a:t>int</a:t>
            </a:r>
            <a:r>
              <a:rPr lang="fr-FR" sz="2000" dirty="0"/>
              <a:t> y); </a:t>
            </a:r>
            <a:endParaRPr lang="en-IN" sz="2000" dirty="0"/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Functions that differ only by static keyword in return type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fr-FR" sz="2000" dirty="0"/>
              <a:t>      </a:t>
            </a:r>
            <a:r>
              <a:rPr lang="fr-FR" sz="2000" dirty="0" err="1"/>
              <a:t>int</a:t>
            </a:r>
            <a:r>
              <a:rPr lang="fr-FR" sz="2000" dirty="0"/>
              <a:t> fun(</a:t>
            </a:r>
            <a:r>
              <a:rPr lang="fr-FR" sz="2000" dirty="0" err="1"/>
              <a:t>int</a:t>
            </a:r>
            <a:r>
              <a:rPr lang="fr-FR" sz="2000" dirty="0"/>
              <a:t> x, </a:t>
            </a:r>
            <a:r>
              <a:rPr lang="fr-FR" sz="2000" dirty="0" err="1"/>
              <a:t>int</a:t>
            </a:r>
            <a:r>
              <a:rPr lang="fr-FR" sz="2000" dirty="0"/>
              <a:t> y);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fr-FR" sz="2000" dirty="0"/>
              <a:t>      </a:t>
            </a:r>
            <a:r>
              <a:rPr lang="fr-FR" sz="2000" dirty="0" err="1"/>
              <a:t>static</a:t>
            </a:r>
            <a:r>
              <a:rPr lang="fr-FR" sz="2000" dirty="0"/>
              <a:t> </a:t>
            </a:r>
            <a:r>
              <a:rPr lang="fr-FR" sz="2000" dirty="0" err="1"/>
              <a:t>int</a:t>
            </a:r>
            <a:r>
              <a:rPr lang="fr-FR" sz="2000" dirty="0"/>
              <a:t> fun(</a:t>
            </a:r>
            <a:r>
              <a:rPr lang="fr-FR" sz="2000" dirty="0" err="1"/>
              <a:t>int</a:t>
            </a:r>
            <a:r>
              <a:rPr lang="fr-FR" sz="2000" dirty="0"/>
              <a:t> x, </a:t>
            </a:r>
            <a:r>
              <a:rPr lang="fr-FR" sz="2000" dirty="0" err="1"/>
              <a:t>int</a:t>
            </a:r>
            <a:r>
              <a:rPr lang="fr-FR" sz="2000" dirty="0"/>
              <a:t> y);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Parameter declarations that differ only in a pointer * versus an array[ ]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</a:t>
            </a:r>
            <a:r>
              <a:rPr lang="en-IN" sz="2000" dirty="0" err="1"/>
              <a:t>int</a:t>
            </a:r>
            <a:r>
              <a:rPr lang="en-IN" sz="2000" dirty="0"/>
              <a:t> fun(</a:t>
            </a:r>
            <a:r>
              <a:rPr lang="en-IN" sz="2000" dirty="0" err="1"/>
              <a:t>int</a:t>
            </a:r>
            <a:r>
              <a:rPr lang="en-IN" sz="2000" dirty="0"/>
              <a:t> *</a:t>
            </a:r>
            <a:r>
              <a:rPr lang="en-IN" sz="2000" dirty="0" err="1"/>
              <a:t>ptr</a:t>
            </a:r>
            <a:r>
              <a:rPr lang="en-IN" sz="2000" dirty="0"/>
              <a:t>, </a:t>
            </a:r>
            <a:r>
              <a:rPr lang="en-IN" sz="2000" dirty="0" err="1"/>
              <a:t>int</a:t>
            </a:r>
            <a:r>
              <a:rPr lang="en-IN" sz="2000" dirty="0"/>
              <a:t> n);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</a:t>
            </a:r>
            <a:r>
              <a:rPr lang="en-IN" sz="2000" dirty="0" err="1"/>
              <a:t>int</a:t>
            </a:r>
            <a:r>
              <a:rPr lang="en-IN" sz="2000" dirty="0"/>
              <a:t> fun(</a:t>
            </a:r>
            <a:r>
              <a:rPr lang="en-IN" sz="2000" dirty="0" err="1"/>
              <a:t>int</a:t>
            </a:r>
            <a:r>
              <a:rPr lang="en-IN" sz="2000" dirty="0"/>
              <a:t> </a:t>
            </a:r>
            <a:r>
              <a:rPr lang="en-IN" sz="2000" dirty="0" err="1"/>
              <a:t>ptr</a:t>
            </a:r>
            <a:r>
              <a:rPr lang="en-IN" sz="2000" dirty="0"/>
              <a:t>[ ], </a:t>
            </a:r>
            <a:r>
              <a:rPr lang="en-IN" sz="2000" dirty="0" err="1"/>
              <a:t>int</a:t>
            </a:r>
            <a:r>
              <a:rPr lang="en-IN" sz="2000" dirty="0"/>
              <a:t> n); </a:t>
            </a: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Two parameter declarations that differ only in their default arguments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</a:t>
            </a:r>
            <a:r>
              <a:rPr lang="en-IN" sz="2000" dirty="0" err="1"/>
              <a:t>int</a:t>
            </a:r>
            <a:r>
              <a:rPr lang="en-IN" sz="2000" dirty="0"/>
              <a:t> fun( </a:t>
            </a:r>
            <a:r>
              <a:rPr lang="en-IN" sz="2000" dirty="0" err="1"/>
              <a:t>int</a:t>
            </a:r>
            <a:r>
              <a:rPr lang="en-IN" sz="2000" dirty="0"/>
              <a:t> x, </a:t>
            </a:r>
            <a:r>
              <a:rPr lang="en-IN" sz="2000" dirty="0" err="1"/>
              <a:t>int</a:t>
            </a:r>
            <a:r>
              <a:rPr lang="en-IN" sz="2000" dirty="0"/>
              <a:t> y);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</a:t>
            </a:r>
            <a:r>
              <a:rPr lang="en-IN" sz="2000" dirty="0" err="1"/>
              <a:t>int</a:t>
            </a:r>
            <a:r>
              <a:rPr lang="en-IN" sz="2000" dirty="0"/>
              <a:t> fun( </a:t>
            </a:r>
            <a:r>
              <a:rPr lang="en-IN" sz="2000" dirty="0" err="1"/>
              <a:t>int</a:t>
            </a:r>
            <a:r>
              <a:rPr lang="en-IN" sz="2000" dirty="0"/>
              <a:t> x, </a:t>
            </a:r>
            <a:r>
              <a:rPr lang="en-IN" sz="2000" dirty="0" err="1"/>
              <a:t>int</a:t>
            </a:r>
            <a:r>
              <a:rPr lang="en-IN" sz="2000" dirty="0"/>
              <a:t> y = 10);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>
                <a:solidFill>
                  <a:srgbClr val="C00000"/>
                </a:solidFill>
              </a:rPr>
              <a:t>      </a:t>
            </a:r>
            <a:r>
              <a:rPr lang="en-IN" sz="2000" dirty="0" err="1">
                <a:solidFill>
                  <a:srgbClr val="C00000"/>
                </a:solidFill>
              </a:rPr>
              <a:t>Ans</a:t>
            </a:r>
            <a:r>
              <a:rPr lang="en-IN" sz="2000" dirty="0">
                <a:solidFill>
                  <a:srgbClr val="C00000"/>
                </a:solidFill>
              </a:rPr>
              <a:t> : None of the above overloaded functions are allowed</a:t>
            </a:r>
          </a:p>
        </p:txBody>
      </p:sp>
      <p:sp>
        <p:nvSpPr>
          <p:cNvPr id="81924" name="Slide Number Placeholder 3">
            <a:extLst>
              <a:ext uri="{FF2B5EF4-FFF2-40B4-BE49-F238E27FC236}">
                <a16:creationId xmlns:a16="http://schemas.microsoft.com/office/drawing/2014/main" id="{FE2A01E3-FB20-4F49-ACAE-A0D34F753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FD187F-39DB-45BA-A9AD-7F2F68C5BEE1}" type="slidenum">
              <a:rPr lang="en-US" altLang="en-US">
                <a:latin typeface="Times New Roman" panose="02020603050405020304" pitchFamily="18" charset="0"/>
              </a:rPr>
              <a:pPr/>
              <a:t>69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>
            <a:extLst>
              <a:ext uri="{FF2B5EF4-FFF2-40B4-BE49-F238E27FC236}">
                <a16:creationId xmlns:a16="http://schemas.microsoft.com/office/drawing/2014/main" id="{409495BE-0C1C-4659-8262-0C22A7C2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Default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463C5-8563-430C-B5C7-A8B9C21FD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2063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000" dirty="0"/>
              <a:t>It’s not uncommon for a program to invoke a function repeatedly with the same argument value for a particular parameter. In such cases, you can specify that such a parameter has a </a:t>
            </a:r>
            <a:r>
              <a:rPr lang="en-IN" sz="2000" b="1" dirty="0"/>
              <a:t>default argument</a:t>
            </a:r>
            <a:r>
              <a:rPr lang="en-IN" sz="2000" dirty="0"/>
              <a:t>, i.e., a default value to be passed to that parameter</a:t>
            </a:r>
          </a:p>
          <a:p>
            <a:pPr>
              <a:defRPr/>
            </a:pPr>
            <a:r>
              <a:rPr lang="en-IN" sz="2000" dirty="0"/>
              <a:t>When an argument for a parameter with a default argument in a function call is omitted, the compiler rewrites the function call and inserts the default value of that argument to be passed as an argument in the function call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Default arguments must be the </a:t>
            </a:r>
            <a:r>
              <a:rPr lang="en-IN" sz="2000" dirty="0">
                <a:solidFill>
                  <a:srgbClr val="C00000"/>
                </a:solidFill>
              </a:rPr>
              <a:t>rightmost (trailing) </a:t>
            </a:r>
            <a:r>
              <a:rPr lang="en-IN" sz="2000" dirty="0"/>
              <a:t>arguments in a function’s parameter list</a:t>
            </a:r>
          </a:p>
          <a:p>
            <a:pPr>
              <a:defRPr/>
            </a:pPr>
            <a:r>
              <a:rPr lang="en-IN" sz="2000" dirty="0"/>
              <a:t>Default arguments should be specified with the first occurrence of the function name— </a:t>
            </a:r>
            <a:r>
              <a:rPr lang="en-IN" sz="2000" dirty="0">
                <a:solidFill>
                  <a:srgbClr val="C00000"/>
                </a:solidFill>
              </a:rPr>
              <a:t>function prototype</a:t>
            </a:r>
          </a:p>
          <a:p>
            <a:pPr>
              <a:defRPr/>
            </a:pPr>
            <a:r>
              <a:rPr lang="en-IN" sz="2000" dirty="0"/>
              <a:t>If the </a:t>
            </a:r>
            <a:r>
              <a:rPr lang="en-IN" sz="2000" b="1" dirty="0"/>
              <a:t>function prototype is omitted </a:t>
            </a:r>
            <a:r>
              <a:rPr lang="en-IN" sz="2000" dirty="0"/>
              <a:t>, then the default arguments should be specified in the function header</a:t>
            </a:r>
            <a:endParaRPr lang="en-IN" sz="2000" dirty="0">
              <a:solidFill>
                <a:srgbClr val="C00000"/>
              </a:solidFill>
            </a:endParaRPr>
          </a:p>
        </p:txBody>
      </p:sp>
      <p:sp>
        <p:nvSpPr>
          <p:cNvPr id="82948" name="Slide Number Placeholder 3">
            <a:extLst>
              <a:ext uri="{FF2B5EF4-FFF2-40B4-BE49-F238E27FC236}">
                <a16:creationId xmlns:a16="http://schemas.microsoft.com/office/drawing/2014/main" id="{EA8FD6B8-3636-4B79-B967-D0C24D0CC9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3DB33C-8CD0-4926-8231-3D609A5DDDE5}" type="slidenum">
              <a:rPr lang="en-US" altLang="en-US">
                <a:latin typeface="Times New Roman" panose="02020603050405020304" pitchFamily="18" charset="0"/>
              </a:rPr>
              <a:pPr/>
              <a:t>70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>
            <a:extLst>
              <a:ext uri="{FF2B5EF4-FFF2-40B4-BE49-F238E27FC236}">
                <a16:creationId xmlns:a16="http://schemas.microsoft.com/office/drawing/2014/main" id="{E05D946E-4423-4A84-BFF6-DE8B41A0E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Default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FD74D-74E0-4463-B0C7-2305F030B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Default values can be any expression, including constants, global variables or function calls</a:t>
            </a:r>
          </a:p>
          <a:p>
            <a:pPr>
              <a:defRPr/>
            </a:pPr>
            <a:r>
              <a:rPr lang="en-IN" sz="2000" dirty="0"/>
              <a:t>Default arguments also can be used with </a:t>
            </a:r>
            <a:r>
              <a:rPr lang="en-IN" sz="2000" b="1" dirty="0"/>
              <a:t>inline functions</a:t>
            </a:r>
          </a:p>
          <a:p>
            <a:pPr>
              <a:defRPr/>
            </a:pPr>
            <a:endParaRPr lang="en-IN" sz="2000" b="1" dirty="0"/>
          </a:p>
        </p:txBody>
      </p:sp>
      <p:sp>
        <p:nvSpPr>
          <p:cNvPr id="83972" name="Slide Number Placeholder 3">
            <a:extLst>
              <a:ext uri="{FF2B5EF4-FFF2-40B4-BE49-F238E27FC236}">
                <a16:creationId xmlns:a16="http://schemas.microsoft.com/office/drawing/2014/main" id="{D8F4A3B1-E5D8-4E7F-9EF2-8D2DE0F791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56DE167-E1AB-4F07-BFAA-CE79DABFA651}" type="slidenum">
              <a:rPr lang="en-US" altLang="en-US">
                <a:latin typeface="Times New Roman" panose="02020603050405020304" pitchFamily="18" charset="0"/>
              </a:rPr>
              <a:pPr/>
              <a:t>71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83973" name="Picture 2">
            <a:extLst>
              <a:ext uri="{FF2B5EF4-FFF2-40B4-BE49-F238E27FC236}">
                <a16:creationId xmlns:a16="http://schemas.microsoft.com/office/drawing/2014/main" id="{7DE12531-A3C1-4140-959B-164984623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876925"/>
            <a:ext cx="7848600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3974" name="Rectangle 4">
            <a:extLst>
              <a:ext uri="{FF2B5EF4-FFF2-40B4-BE49-F238E27FC236}">
                <a16:creationId xmlns:a16="http://schemas.microsoft.com/office/drawing/2014/main" id="{4522CA3E-0623-4C46-A00B-E344BDD84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667000"/>
            <a:ext cx="83058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2000"/>
              <a:t>#include &lt;iostream&gt;</a:t>
            </a:r>
          </a:p>
          <a:p>
            <a:pPr eaLnBrk="1" hangingPunct="1"/>
            <a:r>
              <a:rPr lang="en-IN" altLang="en-US" sz="2000"/>
              <a:t>using namespace std;</a:t>
            </a:r>
          </a:p>
          <a:p>
            <a:pPr eaLnBrk="1" hangingPunct="1"/>
            <a:r>
              <a:rPr lang="en-IN" altLang="en-US" sz="2000">
                <a:solidFill>
                  <a:srgbClr val="C00000"/>
                </a:solidFill>
              </a:rPr>
              <a:t>int boxVolume( int length = 1, int width = 1, int height = 1 );</a:t>
            </a:r>
          </a:p>
          <a:p>
            <a:pPr eaLnBrk="1" hangingPunct="1"/>
            <a:r>
              <a:rPr lang="en-IN" altLang="en-US" sz="2000"/>
              <a:t>int main()</a:t>
            </a:r>
          </a:p>
          <a:p>
            <a:pPr eaLnBrk="1" hangingPunct="1"/>
            <a:r>
              <a:rPr lang="en-IN" altLang="en-US" sz="2000"/>
              <a:t>{</a:t>
            </a:r>
          </a:p>
          <a:p>
            <a:pPr eaLnBrk="1" hangingPunct="1"/>
            <a:r>
              <a:rPr lang="en-IN" altLang="en-US" sz="2000"/>
              <a:t>    cout &lt;&lt; boxVolume();</a:t>
            </a:r>
          </a:p>
          <a:p>
            <a:pPr eaLnBrk="1" hangingPunct="1"/>
            <a:r>
              <a:rPr lang="en-IN" altLang="en-US" sz="2000"/>
              <a:t>    cout &lt;&lt; boxVolume(10);</a:t>
            </a:r>
          </a:p>
          <a:p>
            <a:pPr eaLnBrk="1" hangingPunct="1"/>
            <a:r>
              <a:rPr lang="en-IN" altLang="en-US" sz="2000"/>
              <a:t>    cout &lt;&lt; boxVolume(10, 5);</a:t>
            </a:r>
          </a:p>
          <a:p>
            <a:pPr eaLnBrk="1" hangingPunct="1"/>
            <a:r>
              <a:rPr lang="en-IN" altLang="en-US" sz="2000"/>
              <a:t>    cout &lt;&lt; boxVolume(10, 5, 2);</a:t>
            </a:r>
          </a:p>
          <a:p>
            <a:pPr eaLnBrk="1" hangingPunct="1"/>
            <a:r>
              <a:rPr lang="en-IN" altLang="en-US" sz="2000"/>
              <a:t>}</a:t>
            </a:r>
          </a:p>
        </p:txBody>
      </p:sp>
      <p:sp>
        <p:nvSpPr>
          <p:cNvPr id="83975" name="Rectangle 5">
            <a:extLst>
              <a:ext uri="{FF2B5EF4-FFF2-40B4-BE49-F238E27FC236}">
                <a16:creationId xmlns:a16="http://schemas.microsoft.com/office/drawing/2014/main" id="{6CCFB852-6170-463A-9839-C239EB5E0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657600"/>
            <a:ext cx="59436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 sz="2000">
              <a:solidFill>
                <a:srgbClr val="C00000"/>
              </a:solidFill>
            </a:endParaRPr>
          </a:p>
          <a:p>
            <a:pPr eaLnBrk="1" hangingPunct="1"/>
            <a:r>
              <a:rPr lang="en-IN" altLang="en-US" sz="2000">
                <a:solidFill>
                  <a:srgbClr val="C00000"/>
                </a:solidFill>
              </a:rPr>
              <a:t>int boxVolume( int length, int width, int height )</a:t>
            </a:r>
          </a:p>
          <a:p>
            <a:pPr eaLnBrk="1" hangingPunct="1"/>
            <a:r>
              <a:rPr lang="en-IN" altLang="en-US" sz="2000"/>
              <a:t>{</a:t>
            </a:r>
          </a:p>
          <a:p>
            <a:pPr eaLnBrk="1" hangingPunct="1"/>
            <a:r>
              <a:rPr lang="en-IN" altLang="en-US" sz="2000"/>
              <a:t>	return length * width * height;</a:t>
            </a:r>
          </a:p>
          <a:p>
            <a:pPr eaLnBrk="1" hangingPunct="1"/>
            <a:r>
              <a:rPr lang="en-IN" altLang="en-US" sz="2000"/>
              <a:t>}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3202D3F-03D6-4FAC-BD94-8885F64F1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Default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ED672-7B8E-4C5E-927D-ABD764061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Four rules that must be followed when using default arguments</a:t>
            </a:r>
          </a:p>
          <a:p>
            <a:pPr lvl="1">
              <a:defRPr/>
            </a:pPr>
            <a:r>
              <a:rPr lang="en-IN" sz="2000" dirty="0"/>
              <a:t>Rule 1 : No argument without a default may be defined to the right of an argument with a default</a:t>
            </a:r>
          </a:p>
          <a:p>
            <a:pPr lvl="1">
              <a:defRPr/>
            </a:pPr>
            <a:r>
              <a:rPr lang="en-IN" sz="2000" dirty="0"/>
              <a:t>Rule 2: When calling a function with default arguments, an argument may not be specified to the right of an argument whose default is accepted</a:t>
            </a:r>
          </a:p>
          <a:p>
            <a:pPr lvl="1">
              <a:defRPr/>
            </a:pPr>
            <a:r>
              <a:rPr lang="en-IN" sz="2000" dirty="0"/>
              <a:t>Rule 3: If the function definition and the function declaration are not the same, then the default values appear in function prototypes </a:t>
            </a:r>
          </a:p>
          <a:p>
            <a:pPr lvl="1">
              <a:defRPr/>
            </a:pPr>
            <a:r>
              <a:rPr lang="en-IN" sz="2000" dirty="0"/>
              <a:t>Rule 4 : If a function with default arguments is also overloaded, all possible ways that the function can be called with and without default values must be distinct from any and all overloaded versions</a:t>
            </a: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1B46E0D6-3BB6-4624-B0F1-52A208B907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F27288-B46D-4769-8BC7-4C1CF02E7CF6}" type="slidenum">
              <a:rPr lang="en-US" altLang="en-US">
                <a:latin typeface="Times New Roman" panose="02020603050405020304" pitchFamily="18" charset="0"/>
              </a:rPr>
              <a:pPr/>
              <a:t>72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>
            <a:extLst>
              <a:ext uri="{FF2B5EF4-FFF2-40B4-BE49-F238E27FC236}">
                <a16:creationId xmlns:a16="http://schemas.microsoft.com/office/drawing/2014/main" id="{23B9CAC9-0A73-4DD9-BD99-B1AAF4E0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Default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D11CE-6DCA-475E-8749-F2EFDFBE3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41475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000" b="1" dirty="0"/>
              <a:t>Rule 1</a:t>
            </a:r>
          </a:p>
          <a:p>
            <a:pPr lvl="1">
              <a:defRPr/>
            </a:pPr>
            <a:r>
              <a:rPr lang="en-IN" sz="2000" dirty="0"/>
              <a:t>void function(</a:t>
            </a:r>
            <a:r>
              <a:rPr lang="en-IN" sz="2000" dirty="0" err="1"/>
              <a:t>int</a:t>
            </a:r>
            <a:r>
              <a:rPr lang="en-IN" sz="2000" dirty="0"/>
              <a:t> a, </a:t>
            </a:r>
            <a:r>
              <a:rPr lang="en-IN" sz="2000" dirty="0" err="1"/>
              <a:t>int</a:t>
            </a:r>
            <a:r>
              <a:rPr lang="en-IN" sz="2000" dirty="0"/>
              <a:t> b = 1, </a:t>
            </a:r>
            <a:r>
              <a:rPr lang="en-IN" sz="2000" dirty="0" err="1"/>
              <a:t>int</a:t>
            </a:r>
            <a:r>
              <a:rPr lang="en-IN" sz="2000" dirty="0"/>
              <a:t> c = 2); // okay </a:t>
            </a:r>
          </a:p>
          <a:p>
            <a:pPr lvl="1">
              <a:defRPr/>
            </a:pPr>
            <a:r>
              <a:rPr lang="en-IN" sz="2000" dirty="0"/>
              <a:t>void function(</a:t>
            </a:r>
            <a:r>
              <a:rPr lang="en-IN" sz="2000" dirty="0" err="1"/>
              <a:t>int</a:t>
            </a:r>
            <a:r>
              <a:rPr lang="en-IN" sz="2000" dirty="0"/>
              <a:t> a, </a:t>
            </a:r>
            <a:r>
              <a:rPr lang="en-IN" sz="2000" dirty="0" err="1"/>
              <a:t>int</a:t>
            </a:r>
            <a:r>
              <a:rPr lang="en-IN" sz="2000" dirty="0"/>
              <a:t> b = 1, </a:t>
            </a:r>
            <a:r>
              <a:rPr lang="en-IN" sz="2000" dirty="0" err="1"/>
              <a:t>int</a:t>
            </a:r>
            <a:r>
              <a:rPr lang="en-IN" sz="2000" dirty="0"/>
              <a:t> c);       // error</a:t>
            </a:r>
          </a:p>
          <a:p>
            <a:pPr lvl="1">
              <a:defRPr/>
            </a:pPr>
            <a:endParaRPr lang="en-IN" sz="2000" dirty="0"/>
          </a:p>
          <a:p>
            <a:pPr>
              <a:defRPr/>
            </a:pPr>
            <a:r>
              <a:rPr lang="en-IN" sz="2000" b="1" dirty="0"/>
              <a:t>Rule 2</a:t>
            </a:r>
          </a:p>
          <a:p>
            <a:pPr lvl="1">
              <a:defRPr/>
            </a:pPr>
            <a:r>
              <a:rPr lang="en-IN" sz="2000" dirty="0"/>
              <a:t>function(50);               // okay </a:t>
            </a:r>
          </a:p>
          <a:p>
            <a:pPr lvl="1">
              <a:defRPr/>
            </a:pPr>
            <a:r>
              <a:rPr lang="en-IN" sz="2000" dirty="0"/>
              <a:t>function(60, 70);        // okay </a:t>
            </a:r>
          </a:p>
          <a:p>
            <a:pPr lvl="1">
              <a:defRPr/>
            </a:pPr>
            <a:r>
              <a:rPr lang="en-IN" sz="2000" dirty="0"/>
              <a:t>function(60, 70, 80);  // okay </a:t>
            </a:r>
          </a:p>
          <a:p>
            <a:pPr lvl="1">
              <a:defRPr/>
            </a:pPr>
            <a:r>
              <a:rPr lang="en-IN" sz="2000" dirty="0"/>
              <a:t>function(60, , 80);      // error</a:t>
            </a:r>
          </a:p>
          <a:p>
            <a:pPr lvl="1">
              <a:defRPr/>
            </a:pPr>
            <a:endParaRPr lang="en-IN" sz="2000" dirty="0"/>
          </a:p>
          <a:p>
            <a:pPr>
              <a:defRPr/>
            </a:pPr>
            <a:r>
              <a:rPr lang="en-IN" sz="2000" b="1" dirty="0"/>
              <a:t>Rule 3</a:t>
            </a:r>
          </a:p>
          <a:p>
            <a:pPr lvl="1">
              <a:defRPr/>
            </a:pPr>
            <a:r>
              <a:rPr lang="en-IN" sz="2000" dirty="0"/>
              <a:t>void function(</a:t>
            </a:r>
            <a:r>
              <a:rPr lang="en-IN" sz="2000" dirty="0" err="1"/>
              <a:t>int</a:t>
            </a:r>
            <a:r>
              <a:rPr lang="en-IN" sz="2000" dirty="0"/>
              <a:t> a, </a:t>
            </a:r>
            <a:r>
              <a:rPr lang="en-IN" sz="2000" dirty="0" err="1"/>
              <a:t>int</a:t>
            </a:r>
            <a:r>
              <a:rPr lang="en-IN" sz="2000" dirty="0"/>
              <a:t> b = 1, </a:t>
            </a:r>
            <a:r>
              <a:rPr lang="en-IN" sz="2000" dirty="0" err="1"/>
              <a:t>int</a:t>
            </a:r>
            <a:r>
              <a:rPr lang="en-IN" sz="2000" dirty="0"/>
              <a:t> c = 2);</a:t>
            </a:r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FBECD5E4-373B-4DF9-94C7-190458BF09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96320B-EF92-4894-A871-F3440ED82D64}" type="slidenum">
              <a:rPr lang="en-US" altLang="en-US">
                <a:latin typeface="Times New Roman" panose="02020603050405020304" pitchFamily="18" charset="0"/>
              </a:rPr>
              <a:pPr/>
              <a:t>73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>
            <a:extLst>
              <a:ext uri="{FF2B5EF4-FFF2-40B4-BE49-F238E27FC236}">
                <a16:creationId xmlns:a16="http://schemas.microsoft.com/office/drawing/2014/main" id="{BA7C1F35-2F16-441C-B440-32322058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Default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FFBDB-8E68-4C7A-8B99-B7C08E82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90663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000" b="1" dirty="0"/>
              <a:t>Rule 4</a:t>
            </a:r>
          </a:p>
          <a:p>
            <a:pPr lvl="1">
              <a:defRPr/>
            </a:pPr>
            <a:r>
              <a:rPr lang="en-IN" sz="2000" dirty="0"/>
              <a:t>void function(); // version 1 </a:t>
            </a:r>
          </a:p>
          <a:p>
            <a:pPr lvl="1">
              <a:defRPr/>
            </a:pPr>
            <a:r>
              <a:rPr lang="en-IN" sz="2000" dirty="0"/>
              <a:t>void function(</a:t>
            </a:r>
            <a:r>
              <a:rPr lang="en-IN" sz="2000" dirty="0" err="1"/>
              <a:t>int</a:t>
            </a:r>
            <a:r>
              <a:rPr lang="en-IN" sz="2000" dirty="0"/>
              <a:t> a, </a:t>
            </a:r>
            <a:r>
              <a:rPr lang="en-IN" sz="2000" dirty="0" err="1"/>
              <a:t>int</a:t>
            </a:r>
            <a:r>
              <a:rPr lang="en-IN" sz="2000" dirty="0"/>
              <a:t> b = 1, </a:t>
            </a:r>
            <a:r>
              <a:rPr lang="en-IN" sz="2000" dirty="0" err="1"/>
              <a:t>int</a:t>
            </a:r>
            <a:r>
              <a:rPr lang="en-IN" sz="2000" dirty="0"/>
              <a:t> c = 2); // version 2</a:t>
            </a:r>
          </a:p>
          <a:p>
            <a:pPr lvl="1">
              <a:defRPr/>
            </a:pPr>
            <a:endParaRPr lang="en-IN" sz="2000" b="1" dirty="0"/>
          </a:p>
          <a:p>
            <a:pPr lvl="1">
              <a:defRPr/>
            </a:pPr>
            <a:endParaRPr lang="en-IN" sz="2000" b="1" dirty="0"/>
          </a:p>
          <a:p>
            <a:pPr lvl="1">
              <a:defRPr/>
            </a:pPr>
            <a:endParaRPr lang="en-IN" sz="2000" b="1" dirty="0"/>
          </a:p>
          <a:p>
            <a:pPr lvl="1">
              <a:defRPr/>
            </a:pPr>
            <a:endParaRPr lang="en-IN" sz="2000" b="1" dirty="0"/>
          </a:p>
          <a:p>
            <a:pPr lvl="1">
              <a:defRPr/>
            </a:pPr>
            <a:r>
              <a:rPr lang="en-IN" sz="2000" dirty="0"/>
              <a:t>The two functions described by the following prototypes violate rule 4: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void function(</a:t>
            </a:r>
            <a:r>
              <a:rPr lang="en-IN" sz="2000" dirty="0" err="1">
                <a:solidFill>
                  <a:srgbClr val="C00000"/>
                </a:solidFill>
              </a:rPr>
              <a:t>int</a:t>
            </a:r>
            <a:r>
              <a:rPr lang="en-IN" sz="2000" dirty="0">
                <a:solidFill>
                  <a:srgbClr val="C00000"/>
                </a:solidFill>
              </a:rPr>
              <a:t> a); // version 1 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void function(</a:t>
            </a:r>
            <a:r>
              <a:rPr lang="en-IN" sz="2000" dirty="0" err="1">
                <a:solidFill>
                  <a:srgbClr val="C00000"/>
                </a:solidFill>
              </a:rPr>
              <a:t>int</a:t>
            </a:r>
            <a:r>
              <a:rPr lang="en-IN" sz="2000" dirty="0">
                <a:solidFill>
                  <a:srgbClr val="C00000"/>
                </a:solidFill>
              </a:rPr>
              <a:t> a, </a:t>
            </a:r>
            <a:r>
              <a:rPr lang="en-IN" sz="2000" dirty="0" err="1">
                <a:solidFill>
                  <a:srgbClr val="C00000"/>
                </a:solidFill>
              </a:rPr>
              <a:t>int</a:t>
            </a:r>
            <a:r>
              <a:rPr lang="en-IN" sz="2000" dirty="0">
                <a:solidFill>
                  <a:srgbClr val="C00000"/>
                </a:solidFill>
              </a:rPr>
              <a:t> b = 1, </a:t>
            </a:r>
            <a:r>
              <a:rPr lang="en-IN" sz="2000" dirty="0" err="1">
                <a:solidFill>
                  <a:srgbClr val="C00000"/>
                </a:solidFill>
              </a:rPr>
              <a:t>int</a:t>
            </a:r>
            <a:r>
              <a:rPr lang="en-IN" sz="2000" dirty="0">
                <a:solidFill>
                  <a:srgbClr val="C00000"/>
                </a:solidFill>
              </a:rPr>
              <a:t> c = 2); // version 2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The problem is demonstrated by the following function call: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     </a:t>
            </a:r>
            <a:r>
              <a:rPr lang="en-IN" sz="2000" dirty="0">
                <a:solidFill>
                  <a:srgbClr val="C00000"/>
                </a:solidFill>
              </a:rPr>
              <a:t>function(10); // version 1 or 2?</a:t>
            </a:r>
            <a:endParaRPr lang="en-IN" sz="1200" b="1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1800" dirty="0"/>
          </a:p>
        </p:txBody>
      </p:sp>
      <p:sp>
        <p:nvSpPr>
          <p:cNvPr id="87044" name="Slide Number Placeholder 3">
            <a:extLst>
              <a:ext uri="{FF2B5EF4-FFF2-40B4-BE49-F238E27FC236}">
                <a16:creationId xmlns:a16="http://schemas.microsoft.com/office/drawing/2014/main" id="{13BEFABA-AA29-4608-BB67-6150B40420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7D32D1-7DDE-4C38-8738-AFABAC773FAC}" type="slidenum">
              <a:rPr lang="en-US" altLang="en-US">
                <a:latin typeface="Times New Roman" panose="02020603050405020304" pitchFamily="18" charset="0"/>
              </a:rPr>
              <a:pPr/>
              <a:t>74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5" name="Rectangle 4">
            <a:extLst>
              <a:ext uri="{FF2B5EF4-FFF2-40B4-BE49-F238E27FC236}">
                <a16:creationId xmlns:a16="http://schemas.microsoft.com/office/drawing/2014/main" id="{F6897DEA-0177-40D7-A40A-48710CFDF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667000"/>
            <a:ext cx="4572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2000"/>
              <a:t>function();		// version 1</a:t>
            </a:r>
          </a:p>
          <a:p>
            <a:pPr eaLnBrk="1" hangingPunct="1"/>
            <a:r>
              <a:rPr lang="en-IN" altLang="en-US" sz="2000"/>
              <a:t>function(10);		// version 2</a:t>
            </a:r>
          </a:p>
          <a:p>
            <a:pPr eaLnBrk="1" hangingPunct="1"/>
            <a:r>
              <a:rPr lang="en-IN" altLang="en-US" sz="2000"/>
              <a:t>function(10, 20);	// version 2</a:t>
            </a:r>
          </a:p>
          <a:p>
            <a:pPr eaLnBrk="1" hangingPunct="1"/>
            <a:r>
              <a:rPr lang="en-IN" altLang="en-US" sz="2000"/>
              <a:t>function(10, 20, 30);	// version 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>
            <a:extLst>
              <a:ext uri="{FF2B5EF4-FFF2-40B4-BE49-F238E27FC236}">
                <a16:creationId xmlns:a16="http://schemas.microsoft.com/office/drawing/2014/main" id="{0B00797D-C2AC-441D-B8A9-248BC364E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Default Function Arguments</a:t>
            </a:r>
            <a:endParaRPr lang="en-IN" altLang="en-US"/>
          </a:p>
        </p:txBody>
      </p:sp>
      <p:sp>
        <p:nvSpPr>
          <p:cNvPr id="88067" name="Slide Number Placeholder 3">
            <a:extLst>
              <a:ext uri="{FF2B5EF4-FFF2-40B4-BE49-F238E27FC236}">
                <a16:creationId xmlns:a16="http://schemas.microsoft.com/office/drawing/2014/main" id="{54777FF7-2413-4308-8328-8853FCB645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BB17B9-8216-4446-976D-D5A77BF1AAD0}" type="slidenum">
              <a:rPr lang="en-US" altLang="en-US">
                <a:latin typeface="Times New Roman" panose="02020603050405020304" pitchFamily="18" charset="0"/>
              </a:rPr>
              <a:pPr/>
              <a:t>75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DC67CDA-A2AA-47B9-9DAF-1F7154297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1431925"/>
            <a:ext cx="8382000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9pPr>
          </a:lstStyle>
          <a:p>
            <a:pPr marL="342900" indent="-342900" eaLnBrk="1" hangingPunct="1">
              <a:buFont typeface="Wingdings" pitchFamily="2" charset="2"/>
              <a:buChar char="q"/>
              <a:defRPr/>
            </a:pPr>
            <a:r>
              <a:rPr lang="en-US" sz="2000" dirty="0">
                <a:solidFill>
                  <a:schemeClr val="tx1"/>
                </a:solidFill>
              </a:rPr>
              <a:t>A C++ function can have default values for some of the parameters</a:t>
            </a:r>
          </a:p>
          <a:p>
            <a:pPr eaLnBrk="1" hangingPunct="1">
              <a:defRPr/>
            </a:pPr>
            <a:endParaRPr lang="en-US" sz="2000" dirty="0">
              <a:solidFill>
                <a:schemeClr val="accent2"/>
              </a:solidFill>
            </a:endParaRPr>
          </a:p>
          <a:p>
            <a:pPr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#include&lt;</a:t>
            </a:r>
            <a:r>
              <a:rPr lang="en-US" sz="2000" dirty="0" err="1">
                <a:solidFill>
                  <a:schemeClr val="tx1"/>
                </a:solidFill>
              </a:rPr>
              <a:t>iostream.h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void function_2(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i,int</a:t>
            </a:r>
            <a:r>
              <a:rPr lang="en-US" sz="2000" dirty="0">
                <a:solidFill>
                  <a:schemeClr val="tx1"/>
                </a:solidFill>
              </a:rPr>
              <a:t> j=2);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main(void)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{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i=1;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j=5;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    function_2(</a:t>
            </a:r>
            <a:r>
              <a:rPr lang="en-US" sz="2000" dirty="0" err="1">
                <a:solidFill>
                  <a:schemeClr val="tx1"/>
                </a:solidFill>
              </a:rPr>
              <a:t>i,j</a:t>
            </a:r>
            <a:r>
              <a:rPr lang="en-US" sz="2000" dirty="0">
                <a:solidFill>
                  <a:schemeClr val="tx1"/>
                </a:solidFill>
              </a:rPr>
              <a:t>);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    function_2(j);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}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void function_2(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i,int</a:t>
            </a:r>
            <a:r>
              <a:rPr lang="en-US" sz="2000" dirty="0">
                <a:solidFill>
                  <a:schemeClr val="tx1"/>
                </a:solidFill>
              </a:rPr>
              <a:t> j)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{       </a:t>
            </a:r>
            <a:r>
              <a:rPr lang="en-US" sz="2000" dirty="0" err="1">
                <a:solidFill>
                  <a:schemeClr val="tx1"/>
                </a:solidFill>
              </a:rPr>
              <a:t>cout</a:t>
            </a:r>
            <a:r>
              <a:rPr lang="en-US" sz="2000" dirty="0">
                <a:solidFill>
                  <a:schemeClr val="tx1"/>
                </a:solidFill>
              </a:rPr>
              <a:t>&lt;&lt;“i is “&lt;&lt;i&lt;&lt;‘\n’;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        </a:t>
            </a:r>
            <a:r>
              <a:rPr lang="en-US" sz="2000" dirty="0" err="1">
                <a:solidFill>
                  <a:schemeClr val="tx1"/>
                </a:solidFill>
              </a:rPr>
              <a:t>cout</a:t>
            </a:r>
            <a:r>
              <a:rPr lang="en-US" sz="2000" dirty="0">
                <a:solidFill>
                  <a:schemeClr val="tx1"/>
                </a:solidFill>
              </a:rPr>
              <a:t>&lt;&lt;“j is “&lt;&lt;j&lt;&lt;‘\n’;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8B4B2EC8-D11C-4A20-A318-3BCD67F1D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9675" y="4267200"/>
            <a:ext cx="102235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C00000"/>
                </a:solidFill>
              </a:rPr>
              <a:t>Output:</a:t>
            </a:r>
          </a:p>
          <a:p>
            <a:pPr eaLnBrk="1" hangingPunct="1"/>
            <a:r>
              <a:rPr lang="en-US" altLang="en-US" sz="2000"/>
              <a:t> i is 1</a:t>
            </a:r>
          </a:p>
          <a:p>
            <a:pPr eaLnBrk="1" hangingPunct="1"/>
            <a:r>
              <a:rPr lang="en-US" altLang="en-US" sz="2000"/>
              <a:t> j is 5</a:t>
            </a:r>
          </a:p>
          <a:p>
            <a:pPr eaLnBrk="1" hangingPunct="1"/>
            <a:r>
              <a:rPr lang="en-US" altLang="en-US" sz="2000"/>
              <a:t> i is 5</a:t>
            </a:r>
          </a:p>
          <a:p>
            <a:pPr eaLnBrk="1" hangingPunct="1"/>
            <a:r>
              <a:rPr lang="en-US" altLang="en-US" sz="2000"/>
              <a:t> j is 2</a:t>
            </a:r>
          </a:p>
        </p:txBody>
      </p:sp>
      <p:sp>
        <p:nvSpPr>
          <p:cNvPr id="88070" name="Line 7">
            <a:extLst>
              <a:ext uri="{FF2B5EF4-FFF2-40B4-BE49-F238E27FC236}">
                <a16:creationId xmlns:a16="http://schemas.microsoft.com/office/drawing/2014/main" id="{BB33FF17-B01C-4257-A638-55D96CB293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971800"/>
            <a:ext cx="2378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8071" name="Line 9">
            <a:extLst>
              <a:ext uri="{FF2B5EF4-FFF2-40B4-BE49-F238E27FC236}">
                <a16:creationId xmlns:a16="http://schemas.microsoft.com/office/drawing/2014/main" id="{838E4342-1969-4AAD-90A8-DA0A3042F6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2667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88072" name="Text Box 10">
            <a:extLst>
              <a:ext uri="{FF2B5EF4-FFF2-40B4-BE49-F238E27FC236}">
                <a16:creationId xmlns:a16="http://schemas.microsoft.com/office/drawing/2014/main" id="{E4250352-CC9B-4752-A62C-B9584DCAE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2138" y="2754313"/>
            <a:ext cx="2819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CC3300"/>
                </a:solidFill>
              </a:rPr>
              <a:t>Default value for j</a:t>
            </a:r>
          </a:p>
        </p:txBody>
      </p:sp>
      <p:sp>
        <p:nvSpPr>
          <p:cNvPr id="88073" name="Line 12">
            <a:extLst>
              <a:ext uri="{FF2B5EF4-FFF2-40B4-BE49-F238E27FC236}">
                <a16:creationId xmlns:a16="http://schemas.microsoft.com/office/drawing/2014/main" id="{3D53DECD-3DF9-4E4E-91C9-51B2A92364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2590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88074" name="Text Box 13">
            <a:extLst>
              <a:ext uri="{FF2B5EF4-FFF2-40B4-BE49-F238E27FC236}">
                <a16:creationId xmlns:a16="http://schemas.microsoft.com/office/drawing/2014/main" id="{29425D41-602E-4E00-81AA-2F5B6D100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7525" y="2398713"/>
            <a:ext cx="2335213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CC3300"/>
                </a:solidFill>
              </a:rPr>
              <a:t>Function Prototype</a:t>
            </a:r>
          </a:p>
        </p:txBody>
      </p:sp>
      <p:sp>
        <p:nvSpPr>
          <p:cNvPr id="88075" name="Line 14">
            <a:extLst>
              <a:ext uri="{FF2B5EF4-FFF2-40B4-BE49-F238E27FC236}">
                <a16:creationId xmlns:a16="http://schemas.microsoft.com/office/drawing/2014/main" id="{A216F8DB-376E-4F30-A136-1C2A014DE5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3475" y="504348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88076" name="Text Box 15">
            <a:extLst>
              <a:ext uri="{FF2B5EF4-FFF2-40B4-BE49-F238E27FC236}">
                <a16:creationId xmlns:a16="http://schemas.microsoft.com/office/drawing/2014/main" id="{C17B256E-9C24-48BD-B17E-6F018659B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4475" y="4857750"/>
            <a:ext cx="23098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CC3300"/>
                </a:solidFill>
              </a:rPr>
              <a:t>Function Definition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>
            <a:extLst>
              <a:ext uri="{FF2B5EF4-FFF2-40B4-BE49-F238E27FC236}">
                <a16:creationId xmlns:a16="http://schemas.microsoft.com/office/drawing/2014/main" id="{286AAAFB-44D7-45A8-A11E-04A69CBE6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Default Function Arguments</a:t>
            </a:r>
            <a:endParaRPr lang="en-IN" alt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C600C-F180-42D2-963A-EEF76C3E4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What happens if j is initialized at the time that function is called???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89092" name="Slide Number Placeholder 3">
            <a:extLst>
              <a:ext uri="{FF2B5EF4-FFF2-40B4-BE49-F238E27FC236}">
                <a16:creationId xmlns:a16="http://schemas.microsoft.com/office/drawing/2014/main" id="{636796F0-1D81-452C-AB15-53FA1B44D0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1E5B9C-EC50-4816-8313-0007DA35106B}" type="slidenum">
              <a:rPr lang="en-US" altLang="en-US">
                <a:latin typeface="Times New Roman" panose="02020603050405020304" pitchFamily="18" charset="0"/>
              </a:rPr>
              <a:pPr/>
              <a:t>76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3" name="Rectangle 4">
            <a:extLst>
              <a:ext uri="{FF2B5EF4-FFF2-40B4-BE49-F238E27FC236}">
                <a16:creationId xmlns:a16="http://schemas.microsoft.com/office/drawing/2014/main" id="{EC1AC493-13CE-4D3D-AD09-55DDA05A7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209800"/>
            <a:ext cx="48006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/>
              <a:t>#include&lt;iostream.h&gt;</a:t>
            </a:r>
          </a:p>
          <a:p>
            <a:pPr eaLnBrk="1" hangingPunct="1"/>
            <a:r>
              <a:rPr lang="en-US" altLang="en-US" sz="2000"/>
              <a:t>void function_2(int i, int j=2);</a:t>
            </a:r>
          </a:p>
          <a:p>
            <a:pPr eaLnBrk="1" hangingPunct="1"/>
            <a:r>
              <a:rPr lang="en-US" altLang="en-US" sz="2000"/>
              <a:t>main(void)</a:t>
            </a:r>
          </a:p>
          <a:p>
            <a:pPr eaLnBrk="1" hangingPunct="1"/>
            <a:r>
              <a:rPr lang="en-US" altLang="en-US" sz="2000"/>
              <a:t>{</a:t>
            </a:r>
          </a:p>
          <a:p>
            <a:pPr eaLnBrk="1" hangingPunct="1"/>
            <a:r>
              <a:rPr lang="en-US" altLang="en-US" sz="2000"/>
              <a:t>      int i=1;</a:t>
            </a:r>
          </a:p>
          <a:p>
            <a:pPr eaLnBrk="1" hangingPunct="1"/>
            <a:r>
              <a:rPr lang="en-US" altLang="en-US" sz="2000"/>
              <a:t>      int j;</a:t>
            </a:r>
          </a:p>
          <a:p>
            <a:pPr eaLnBrk="1" hangingPunct="1"/>
            <a:r>
              <a:rPr lang="en-US" altLang="en-US" sz="2000"/>
              <a:t>      function_2(i, j=8);</a:t>
            </a:r>
          </a:p>
          <a:p>
            <a:pPr eaLnBrk="1" hangingPunct="1"/>
            <a:r>
              <a:rPr lang="en-US" altLang="en-US" sz="2000"/>
              <a:t>}</a:t>
            </a:r>
          </a:p>
          <a:p>
            <a:pPr eaLnBrk="1" hangingPunct="1"/>
            <a:r>
              <a:rPr lang="en-US" altLang="en-US" sz="2000"/>
              <a:t>void function_2(int  i, int j)</a:t>
            </a:r>
          </a:p>
          <a:p>
            <a:pPr eaLnBrk="1" hangingPunct="1"/>
            <a:r>
              <a:rPr lang="en-US" altLang="en-US" sz="2000"/>
              <a:t>{     cout&lt;&lt;“i is “&lt;&lt;i&lt;&lt;‘\n’;</a:t>
            </a:r>
          </a:p>
          <a:p>
            <a:pPr eaLnBrk="1" hangingPunct="1"/>
            <a:r>
              <a:rPr lang="en-US" altLang="en-US" sz="2000"/>
              <a:t>      cout&lt;&lt;“j is “&lt;&lt;j&lt;&lt;‘\n’;</a:t>
            </a:r>
          </a:p>
          <a:p>
            <a:pPr eaLnBrk="1" hangingPunct="1"/>
            <a:r>
              <a:rPr lang="en-US" altLang="en-US" sz="2000"/>
              <a:t>}</a:t>
            </a:r>
          </a:p>
        </p:txBody>
      </p:sp>
      <p:sp>
        <p:nvSpPr>
          <p:cNvPr id="89094" name="Rectangle 5">
            <a:extLst>
              <a:ext uri="{FF2B5EF4-FFF2-40B4-BE49-F238E27FC236}">
                <a16:creationId xmlns:a16="http://schemas.microsoft.com/office/drawing/2014/main" id="{082CEBE0-40A0-493B-9988-4E38E3EC9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972050"/>
            <a:ext cx="1219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C00000"/>
                </a:solidFill>
              </a:rPr>
              <a:t>Output:</a:t>
            </a:r>
          </a:p>
          <a:p>
            <a:pPr eaLnBrk="1" hangingPunct="1"/>
            <a:r>
              <a:rPr lang="en-US" altLang="en-US" sz="2000"/>
              <a:t>i is 1</a:t>
            </a:r>
          </a:p>
          <a:p>
            <a:pPr eaLnBrk="1" hangingPunct="1"/>
            <a:r>
              <a:rPr lang="en-US" altLang="en-US" sz="2000"/>
              <a:t>j is 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>
            <a:extLst>
              <a:ext uri="{FF2B5EF4-FFF2-40B4-BE49-F238E27FC236}">
                <a16:creationId xmlns:a16="http://schemas.microsoft.com/office/drawing/2014/main" id="{EBBB1F84-00D6-4C5D-82FC-7383B58B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Default Function Arguments</a:t>
            </a:r>
            <a:endParaRPr lang="en-IN" altLang="en-US" sz="4400"/>
          </a:p>
        </p:txBody>
      </p:sp>
      <p:sp>
        <p:nvSpPr>
          <p:cNvPr id="90115" name="Slide Number Placeholder 3">
            <a:extLst>
              <a:ext uri="{FF2B5EF4-FFF2-40B4-BE49-F238E27FC236}">
                <a16:creationId xmlns:a16="http://schemas.microsoft.com/office/drawing/2014/main" id="{3C50A45A-0ED1-47AA-9EBF-55334F49F5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C0AC414-FEB7-40BC-81B3-AA6CE404B139}" type="slidenum">
              <a:rPr lang="en-US" altLang="en-US">
                <a:latin typeface="Times New Roman" panose="02020603050405020304" pitchFamily="18" charset="0"/>
              </a:rPr>
              <a:pPr/>
              <a:t>77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0116" name="Text Box 5">
            <a:extLst>
              <a:ext uri="{FF2B5EF4-FFF2-40B4-BE49-F238E27FC236}">
                <a16:creationId xmlns:a16="http://schemas.microsoft.com/office/drawing/2014/main" id="{6430A41F-1AE6-4A8C-8FFC-AF53DD883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1524000"/>
            <a:ext cx="3309938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/>
              <a:t>#include&lt;iostream.h&gt;</a:t>
            </a:r>
          </a:p>
          <a:p>
            <a:pPr eaLnBrk="1" hangingPunct="1"/>
            <a:r>
              <a:rPr lang="en-US" altLang="en-US" sz="2000"/>
              <a:t>void function_2(int i,int j=2);</a:t>
            </a:r>
          </a:p>
          <a:p>
            <a:pPr eaLnBrk="1" hangingPunct="1"/>
            <a:r>
              <a:rPr lang="en-US" altLang="en-US" sz="2000"/>
              <a:t>main(void)</a:t>
            </a:r>
          </a:p>
          <a:p>
            <a:pPr eaLnBrk="1" hangingPunct="1"/>
            <a:r>
              <a:rPr lang="en-US" altLang="en-US" sz="2000"/>
              <a:t>{</a:t>
            </a:r>
          </a:p>
          <a:p>
            <a:pPr eaLnBrk="1" hangingPunct="1"/>
            <a:r>
              <a:rPr lang="en-US" altLang="en-US" sz="2000"/>
              <a:t>      int i;</a:t>
            </a:r>
          </a:p>
          <a:p>
            <a:pPr eaLnBrk="1" hangingPunct="1"/>
            <a:r>
              <a:rPr lang="en-US" altLang="en-US" sz="2000"/>
              <a:t>      function_2(i);</a:t>
            </a:r>
          </a:p>
          <a:p>
            <a:pPr eaLnBrk="1" hangingPunct="1"/>
            <a:r>
              <a:rPr lang="en-US" altLang="en-US" sz="2000"/>
              <a:t>}</a:t>
            </a:r>
          </a:p>
          <a:p>
            <a:pPr eaLnBrk="1" hangingPunct="1"/>
            <a:r>
              <a:rPr lang="en-US" altLang="en-US" sz="2000"/>
              <a:t>void function_2(int i,int j=8)</a:t>
            </a:r>
          </a:p>
          <a:p>
            <a:pPr eaLnBrk="1" hangingPunct="1"/>
            <a:r>
              <a:rPr lang="en-US" altLang="en-US" sz="2000"/>
              <a:t>{ </a:t>
            </a:r>
          </a:p>
          <a:p>
            <a:pPr eaLnBrk="1" hangingPunct="1"/>
            <a:r>
              <a:rPr lang="en-US" altLang="en-US" sz="2000"/>
              <a:t>     cout&lt;&lt;“i is “&lt;&lt;i&lt;&lt;‘\n’;</a:t>
            </a:r>
          </a:p>
          <a:p>
            <a:pPr eaLnBrk="1" hangingPunct="1"/>
            <a:r>
              <a:rPr lang="en-US" altLang="en-US" sz="2000"/>
              <a:t>     cout&lt;&lt;“j is “&lt;&lt;j&lt;&lt;‘\n’;</a:t>
            </a:r>
          </a:p>
          <a:p>
            <a:pPr eaLnBrk="1" hangingPunct="1"/>
            <a:r>
              <a:rPr lang="en-US" altLang="en-US" sz="2000"/>
              <a:t>}</a:t>
            </a:r>
          </a:p>
          <a:p>
            <a:pPr eaLnBrk="1" hangingPunct="1"/>
            <a:endParaRPr lang="en-US" altLang="en-US" sz="2000" b="1">
              <a:solidFill>
                <a:srgbClr val="0000FF"/>
              </a:solidFill>
            </a:endParaRPr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060F0790-73E5-48AB-B9F9-0E527F0476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438" y="2009775"/>
            <a:ext cx="1566862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7EB3D882-D64F-44A9-AF43-AE0F5B34BB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2438" y="3000375"/>
            <a:ext cx="1566862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" name="WordArt 9">
            <a:extLst>
              <a:ext uri="{FF2B5EF4-FFF2-40B4-BE49-F238E27FC236}">
                <a16:creationId xmlns:a16="http://schemas.microsoft.com/office/drawing/2014/main" id="{F9750BC1-0669-4229-B83F-34A0141AE84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981700" y="2619375"/>
            <a:ext cx="190500" cy="52387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90120" name="Rectangle 8">
            <a:extLst>
              <a:ext uri="{FF2B5EF4-FFF2-40B4-BE49-F238E27FC236}">
                <a16:creationId xmlns:a16="http://schemas.microsoft.com/office/drawing/2014/main" id="{2D753255-0081-4DBC-966E-434600259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88" y="5519738"/>
            <a:ext cx="8177212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Error:</a:t>
            </a:r>
            <a:r>
              <a:rPr lang="en-US" altLang="en-US" sz="2000"/>
              <a:t> previously specified default argument cannot be changed in the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>
            <a:extLst>
              <a:ext uri="{FF2B5EF4-FFF2-40B4-BE49-F238E27FC236}">
                <a16:creationId xmlns:a16="http://schemas.microsoft.com/office/drawing/2014/main" id="{E2792BF2-2EC6-4829-9ACF-9E652BACF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Default Function Arguments</a:t>
            </a:r>
            <a:endParaRPr lang="en-IN" alt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8D8F0-6FF1-4CE2-897E-0213D06DD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000" dirty="0"/>
              <a:t>Default values provides flexibility</a:t>
            </a:r>
          </a:p>
          <a:p>
            <a:pPr eaLnBrk="1" hangingPunct="1">
              <a:defRPr/>
            </a:pPr>
            <a:r>
              <a:rPr lang="en-US" sz="2000" dirty="0"/>
              <a:t>Functions called with same arguments can be given default values</a:t>
            </a:r>
          </a:p>
          <a:p>
            <a:pPr>
              <a:defRPr/>
            </a:pPr>
            <a:endParaRPr lang="en-IN" sz="2400" dirty="0"/>
          </a:p>
        </p:txBody>
      </p:sp>
      <p:sp>
        <p:nvSpPr>
          <p:cNvPr id="91140" name="Slide Number Placeholder 3">
            <a:extLst>
              <a:ext uri="{FF2B5EF4-FFF2-40B4-BE49-F238E27FC236}">
                <a16:creationId xmlns:a16="http://schemas.microsoft.com/office/drawing/2014/main" id="{81EC2573-2D46-48F5-BCBF-1963B0B556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8BE489-56A0-4E93-B148-9F3A0C468ABA}" type="slidenum">
              <a:rPr lang="en-US" altLang="en-US">
                <a:latin typeface="Times New Roman" panose="02020603050405020304" pitchFamily="18" charset="0"/>
              </a:rPr>
              <a:pPr/>
              <a:t>78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41" name="Rectangle 4">
            <a:extLst>
              <a:ext uri="{FF2B5EF4-FFF2-40B4-BE49-F238E27FC236}">
                <a16:creationId xmlns:a16="http://schemas.microsoft.com/office/drawing/2014/main" id="{97370829-1D99-4CEB-95DA-8AC5DD882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590800"/>
            <a:ext cx="45720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#include&lt;iostream.h&gt;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void print(int value, int base=10);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void main()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       print(31);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       print(31,10);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       print(31,16);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       print(31,2);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}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>
            <a:extLst>
              <a:ext uri="{FF2B5EF4-FFF2-40B4-BE49-F238E27FC236}">
                <a16:creationId xmlns:a16="http://schemas.microsoft.com/office/drawing/2014/main" id="{09A98F54-CF96-4491-B8B7-1A93F120C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Default Parameter and Function Overloading </a:t>
            </a:r>
          </a:p>
        </p:txBody>
      </p:sp>
      <p:sp>
        <p:nvSpPr>
          <p:cNvPr id="92163" name="Slide Number Placeholder 3">
            <a:extLst>
              <a:ext uri="{FF2B5EF4-FFF2-40B4-BE49-F238E27FC236}">
                <a16:creationId xmlns:a16="http://schemas.microsoft.com/office/drawing/2014/main" id="{752FE4EE-2097-4560-A3BB-AEFE79FE9D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F0B29B-7AE3-4B5F-93CF-C90CD2DA0A76}" type="slidenum">
              <a:rPr lang="en-US" altLang="en-US">
                <a:latin typeface="Times New Roman" panose="02020603050405020304" pitchFamily="18" charset="0"/>
              </a:rPr>
              <a:pPr/>
              <a:t>79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92164" name="Picture 2">
            <a:extLst>
              <a:ext uri="{FF2B5EF4-FFF2-40B4-BE49-F238E27FC236}">
                <a16:creationId xmlns:a16="http://schemas.microsoft.com/office/drawing/2014/main" id="{856C1D4A-EB0D-4698-BAB0-13A305CC8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76400"/>
            <a:ext cx="88392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>
            <a:extLst>
              <a:ext uri="{FF2B5EF4-FFF2-40B4-BE49-F238E27FC236}">
                <a16:creationId xmlns:a16="http://schemas.microsoft.com/office/drawing/2014/main" id="{40F8AE57-5FA5-4AE5-A051-A34F5435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Default Parameter and Function Overloading </a:t>
            </a:r>
          </a:p>
        </p:txBody>
      </p:sp>
      <p:sp>
        <p:nvSpPr>
          <p:cNvPr id="93187" name="Slide Number Placeholder 3">
            <a:extLst>
              <a:ext uri="{FF2B5EF4-FFF2-40B4-BE49-F238E27FC236}">
                <a16:creationId xmlns:a16="http://schemas.microsoft.com/office/drawing/2014/main" id="{26D06B13-BF2D-46FA-A048-A94882BA7C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A91279-7FF4-47DA-8985-97C0D8678D0B}" type="slidenum">
              <a:rPr lang="en-US" altLang="en-US">
                <a:latin typeface="Times New Roman" panose="02020603050405020304" pitchFamily="18" charset="0"/>
              </a:rPr>
              <a:pPr/>
              <a:t>80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93188" name="Picture 2">
            <a:extLst>
              <a:ext uri="{FF2B5EF4-FFF2-40B4-BE49-F238E27FC236}">
                <a16:creationId xmlns:a16="http://schemas.microsoft.com/office/drawing/2014/main" id="{8F471730-1168-4B7E-A9A8-317E9FF50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8077200" cy="481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>
            <a:extLst>
              <a:ext uri="{FF2B5EF4-FFF2-40B4-BE49-F238E27FC236}">
                <a16:creationId xmlns:a16="http://schemas.microsoft.com/office/drawing/2014/main" id="{9311CA0B-F111-485B-83CC-0096F2FB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Default Parameter and Function Overloading </a:t>
            </a:r>
          </a:p>
        </p:txBody>
      </p:sp>
      <p:sp>
        <p:nvSpPr>
          <p:cNvPr id="94211" name="Slide Number Placeholder 3">
            <a:extLst>
              <a:ext uri="{FF2B5EF4-FFF2-40B4-BE49-F238E27FC236}">
                <a16:creationId xmlns:a16="http://schemas.microsoft.com/office/drawing/2014/main" id="{56806922-09F1-4170-B922-CA05F638A7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32B3A7-0950-4099-8AC3-4331F9381EF1}" type="slidenum">
              <a:rPr lang="en-US" altLang="en-US">
                <a:latin typeface="Times New Roman" panose="02020603050405020304" pitchFamily="18" charset="0"/>
              </a:rPr>
              <a:pPr/>
              <a:t>81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94212" name="Picture 2">
            <a:extLst>
              <a:ext uri="{FF2B5EF4-FFF2-40B4-BE49-F238E27FC236}">
                <a16:creationId xmlns:a16="http://schemas.microsoft.com/office/drawing/2014/main" id="{7273B79B-56F9-42F4-84D1-D4B0DDE25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38313"/>
            <a:ext cx="8458200" cy="4738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21448</TotalTime>
  <Words>5579</Words>
  <Application>Microsoft Office PowerPoint</Application>
  <PresentationFormat>On-screen Show (4:3)</PresentationFormat>
  <Paragraphs>853</Paragraphs>
  <Slides>81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9" baseType="lpstr">
      <vt:lpstr>Arial</vt:lpstr>
      <vt:lpstr>Garamond</vt:lpstr>
      <vt:lpstr>Wingdings</vt:lpstr>
      <vt:lpstr>Calibri</vt:lpstr>
      <vt:lpstr>Times New Roman</vt:lpstr>
      <vt:lpstr>Segoe UI Semilight</vt:lpstr>
      <vt:lpstr>Courier New</vt:lpstr>
      <vt:lpstr>Edge</vt:lpstr>
      <vt:lpstr>20XD24 - OBJECT ORIENTED PROGRAMMING   Chapter - II       </vt:lpstr>
      <vt:lpstr>Outline</vt:lpstr>
      <vt:lpstr>Functions</vt:lpstr>
      <vt:lpstr>User-Defined Functions</vt:lpstr>
      <vt:lpstr>User-Defined Functions</vt:lpstr>
      <vt:lpstr>User-Defined Functions</vt:lpstr>
      <vt:lpstr>User-Defined Functions</vt:lpstr>
      <vt:lpstr>User-Defined Functions</vt:lpstr>
      <vt:lpstr>User-Defined Functions</vt:lpstr>
      <vt:lpstr>PowerPoint Presentation</vt:lpstr>
      <vt:lpstr>Functions</vt:lpstr>
      <vt:lpstr>Parameter Passing Mechanisms</vt:lpstr>
      <vt:lpstr>1. Pass by value</vt:lpstr>
      <vt:lpstr>1. Pass by value</vt:lpstr>
      <vt:lpstr>1. Pass by value</vt:lpstr>
      <vt:lpstr>2. Pass by Address(Pointer)</vt:lpstr>
      <vt:lpstr>2. Pass by Address</vt:lpstr>
      <vt:lpstr>3. Pass by Reference</vt:lpstr>
      <vt:lpstr>3. Pass by Reference</vt:lpstr>
      <vt:lpstr>3. Pass by Reference</vt:lpstr>
      <vt:lpstr>3. Pass by Reference</vt:lpstr>
      <vt:lpstr>3. Pass by Reference</vt:lpstr>
      <vt:lpstr>3. Pass by Reference</vt:lpstr>
      <vt:lpstr>3. Pass by Reference</vt:lpstr>
      <vt:lpstr>3. Pass by Reference</vt:lpstr>
      <vt:lpstr>3. Pass by Reference</vt:lpstr>
      <vt:lpstr>3. Pass by Reference</vt:lpstr>
      <vt:lpstr>References vs. Pointers</vt:lpstr>
      <vt:lpstr>Pointer to a Constant</vt:lpstr>
      <vt:lpstr>Constant Pointer</vt:lpstr>
      <vt:lpstr>Constant Pointer to Constant</vt:lpstr>
      <vt:lpstr>3. Pass by Reference</vt:lpstr>
      <vt:lpstr>3. Pass by Reference</vt:lpstr>
      <vt:lpstr>3. Pass by Reference</vt:lpstr>
      <vt:lpstr>3. Pass by Reference</vt:lpstr>
      <vt:lpstr>3. Pass by Reference</vt:lpstr>
      <vt:lpstr>3. Pass by Reference</vt:lpstr>
      <vt:lpstr>Return by Reference</vt:lpstr>
      <vt:lpstr>References as Return values</vt:lpstr>
      <vt:lpstr>References as Return values</vt:lpstr>
      <vt:lpstr>References as Return values</vt:lpstr>
      <vt:lpstr>Never return a local variable by Reference </vt:lpstr>
      <vt:lpstr>Inline Functions</vt:lpstr>
      <vt:lpstr>Inline Functions</vt:lpstr>
      <vt:lpstr>Inline Functions</vt:lpstr>
      <vt:lpstr>Inline Functions </vt:lpstr>
      <vt:lpstr>Inline Functions </vt:lpstr>
      <vt:lpstr>Macro Vs Inline Functions</vt:lpstr>
      <vt:lpstr>Macro Vs Inline Functions</vt:lpstr>
      <vt:lpstr>Macro Vs Inline Functions</vt:lpstr>
      <vt:lpstr>Inline Vs Macros</vt:lpstr>
      <vt:lpstr>Inline Functions</vt:lpstr>
      <vt:lpstr>Inline Functions</vt:lpstr>
      <vt:lpstr>Function Overloading</vt:lpstr>
      <vt:lpstr>Function Overloading - Example</vt:lpstr>
      <vt:lpstr>Function Overloading - Example</vt:lpstr>
      <vt:lpstr>How the Compiler Differentiates Overloaded Functions?</vt:lpstr>
      <vt:lpstr>Name Mangling - Example </vt:lpstr>
      <vt:lpstr>Name Mangling - Example </vt:lpstr>
      <vt:lpstr>Function Overloading</vt:lpstr>
      <vt:lpstr>Function Overloading</vt:lpstr>
      <vt:lpstr>Function Overloading</vt:lpstr>
      <vt:lpstr>Function Overloading – Summary of Rules</vt:lpstr>
      <vt:lpstr>Resolving Function Overloads </vt:lpstr>
      <vt:lpstr>Overload Resolution</vt:lpstr>
      <vt:lpstr>Overload Resolution - Promotion &amp; Conversion </vt:lpstr>
      <vt:lpstr>Example : Overload Resolution with One Parameter</vt:lpstr>
      <vt:lpstr>Example : Overload Resolution Fails</vt:lpstr>
      <vt:lpstr>Function Overloading</vt:lpstr>
      <vt:lpstr>Default Arguments</vt:lpstr>
      <vt:lpstr>Default Arguments</vt:lpstr>
      <vt:lpstr>Default Arguments</vt:lpstr>
      <vt:lpstr>Default Arguments</vt:lpstr>
      <vt:lpstr>Default Arguments</vt:lpstr>
      <vt:lpstr>Default Function Arguments</vt:lpstr>
      <vt:lpstr>Default Function Arguments</vt:lpstr>
      <vt:lpstr>Default Function Arguments</vt:lpstr>
      <vt:lpstr>Default Function Arguments</vt:lpstr>
      <vt:lpstr>Default Parameter and Function Overloading </vt:lpstr>
      <vt:lpstr>Default Parameter and Function Overloading </vt:lpstr>
      <vt:lpstr>Default Parameter and Function Overloading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vijayalaxmi</dc:creator>
  <cp:lastModifiedBy>cloudconvert_9</cp:lastModifiedBy>
  <cp:revision>2183</cp:revision>
  <dcterms:created xsi:type="dcterms:W3CDTF">2010-06-23T15:53:05Z</dcterms:created>
  <dcterms:modified xsi:type="dcterms:W3CDTF">2026-03-16T12:29:37Z</dcterms:modified>
</cp:coreProperties>
</file>