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48"/>
  </p:notesMasterIdLst>
  <p:handoutMasterIdLst>
    <p:handoutMasterId r:id="rId49"/>
  </p:handoutMasterIdLst>
  <p:sldIdLst>
    <p:sldId id="489" r:id="rId2"/>
    <p:sldId id="806" r:id="rId3"/>
    <p:sldId id="822" r:id="rId4"/>
    <p:sldId id="823" r:id="rId5"/>
    <p:sldId id="824" r:id="rId6"/>
    <p:sldId id="825" r:id="rId7"/>
    <p:sldId id="826" r:id="rId8"/>
    <p:sldId id="827" r:id="rId9"/>
    <p:sldId id="828" r:id="rId10"/>
    <p:sldId id="829" r:id="rId11"/>
    <p:sldId id="836" r:id="rId12"/>
    <p:sldId id="830" r:id="rId13"/>
    <p:sldId id="837" r:id="rId14"/>
    <p:sldId id="831" r:id="rId15"/>
    <p:sldId id="832" r:id="rId16"/>
    <p:sldId id="865" r:id="rId17"/>
    <p:sldId id="839" r:id="rId18"/>
    <p:sldId id="840" r:id="rId19"/>
    <p:sldId id="838" r:id="rId20"/>
    <p:sldId id="833" r:id="rId21"/>
    <p:sldId id="834" r:id="rId22"/>
    <p:sldId id="835" r:id="rId23"/>
    <p:sldId id="841" r:id="rId24"/>
    <p:sldId id="842" r:id="rId25"/>
    <p:sldId id="843" r:id="rId26"/>
    <p:sldId id="844" r:id="rId27"/>
    <p:sldId id="845" r:id="rId28"/>
    <p:sldId id="846" r:id="rId29"/>
    <p:sldId id="847" r:id="rId30"/>
    <p:sldId id="848" r:id="rId31"/>
    <p:sldId id="849" r:id="rId32"/>
    <p:sldId id="850" r:id="rId33"/>
    <p:sldId id="851" r:id="rId34"/>
    <p:sldId id="852" r:id="rId35"/>
    <p:sldId id="853" r:id="rId36"/>
    <p:sldId id="854" r:id="rId37"/>
    <p:sldId id="855" r:id="rId38"/>
    <p:sldId id="856" r:id="rId39"/>
    <p:sldId id="857" r:id="rId40"/>
    <p:sldId id="858" r:id="rId41"/>
    <p:sldId id="861" r:id="rId42"/>
    <p:sldId id="862" r:id="rId43"/>
    <p:sldId id="859" r:id="rId44"/>
    <p:sldId id="860" r:id="rId45"/>
    <p:sldId id="863" r:id="rId46"/>
    <p:sldId id="864" r:id="rId47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04FC"/>
    <a:srgbClr val="A50021"/>
    <a:srgbClr val="660033"/>
    <a:srgbClr val="99CCFF"/>
    <a:srgbClr val="6699FF"/>
    <a:srgbClr val="0BF527"/>
    <a:srgbClr val="6666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0" autoAdjust="0"/>
    <p:restoredTop sz="94533" autoAdjust="0"/>
  </p:normalViewPr>
  <p:slideViewPr>
    <p:cSldViewPr>
      <p:cViewPr>
        <p:scale>
          <a:sx n="66" d="100"/>
          <a:sy n="66" d="100"/>
        </p:scale>
        <p:origin x="-17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886" y="-11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062AE3-CA9B-454B-B8A9-9D7B956DEF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C0B2D-7B34-4BBF-8298-4967115CB2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3E66B9-59E5-4BD1-A4AB-CFE98FF4F314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64541D-9CE1-4728-A7F5-0C7C4C0D2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2A81E1-AE24-44D5-9688-2DF54ED25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208AB-C6C7-4F64-926E-9A4BFF2B7C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E563A-B45D-41A2-A11F-78C5DE910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5AE1006-2650-456F-BABD-CC31FDE6A6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368C7224-ABE7-4917-BD56-E77BD2C1B9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CD266F20-7DE2-4603-A565-F359276C82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554CC-52D7-4D4D-AF0A-4C92A9052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FD10D2-D9D4-49E5-B4B0-34CDEA7B341E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87B4B275-2B85-47C0-A3CE-11A682288B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D8479F73-6D6B-4F72-ABD7-4173F4A553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0B345-72EB-4BD6-B11B-0544F142A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F4346B-9FAB-458D-985D-F304E4743ED5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05D37FED-EECA-4EB4-8B2D-847310D6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16548250-550A-400C-8778-FF0F046A8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>
                <a:solidFill>
                  <a:srgbClr val="2704FC"/>
                </a:solidFill>
              </a:defRPr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7424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2704F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buFont typeface="Wingdings" pitchFamily="2" charset="2"/>
              <a:buChar char="q"/>
              <a:defRPr/>
            </a:lvl1pPr>
            <a:lvl3pPr>
              <a:buClr>
                <a:schemeClr val="accent6"/>
              </a:buClr>
              <a:buFont typeface="Wingdings" pitchFamily="2" charset="2"/>
              <a:buChar char="q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88F2D1-4DC5-420F-BE0E-DD00FE681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66DBE8D-615D-4236-B890-586FE6147B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FF6EBBDC-538E-4673-8C8D-FE4450148D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59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10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E90D3-DBDB-4F0B-B6C2-EF7F55CEC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ECCE7-A181-4387-997D-863BBEC21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70EED-71CF-4FBF-A25C-7E48F7EE3A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0C058941-5D89-4E8D-B3E3-751F6A689D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62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293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704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C1C70D1-641D-4A32-8E07-BD0844F71F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720E4E6-518C-458E-8046-B7D3A9D500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E3836E-2823-485A-AD5E-D23E85678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14F58CDC-CE38-4BF4-AF5C-70655B331D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73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ECF66-C650-4ED8-9D5F-CCF5D87E0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AED45-8071-491E-A4EC-C4F2566F3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2AF36-DEA3-48F2-8996-9CD82FEBA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B43751CF-A45D-472B-858A-FAEDB2F4F2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535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47B07-2C24-47CB-977F-176F09FD6A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2A68B-90BD-4652-9227-4D3680A34F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3CD30-8526-4914-A20E-AB04AD4635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A517B648-DA66-48ED-8CEF-28F42400F3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26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5ADF31-93F7-4E6A-94AF-D59ACBAA1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0485B5-D621-49ED-9CC0-8CD366AC90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2D6355-9142-426C-8615-49D39F3F46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278BE8A4-11F4-4F40-8890-42A16404A6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25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A44F50-459C-4FC9-9C0B-7671CE4FB9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D1090A-5FDE-4B94-9A6F-BA48661BBA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D455E7-B48F-41FB-BE6B-106B1028E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3ADB7E50-BD8F-4141-A01A-FF7E64E042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288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D44262-BDFD-4635-AE8F-EEB539EA05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715005-80DA-42D3-B8DC-2DC36DEF6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C9AC27-99E6-4C42-836C-98231AF723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FAA0AE3C-5A61-4D61-A484-3C8CC4F3BA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25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02D27-8DC3-4459-B8FC-F3CF2D4B8C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08/07/2011</a:t>
            </a: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19180-B6FC-46ED-A6A5-33C8DD0629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E6A32-879B-492D-BACA-49201F652D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2991D99F-9134-402A-B14C-65AAD96501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49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D0C538-3CCA-45F7-AB1E-6D34C1522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858C824-6DDD-4823-A350-C1B655E22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Freeform 7">
            <a:extLst>
              <a:ext uri="{FF2B5EF4-FFF2-40B4-BE49-F238E27FC236}">
                <a16:creationId xmlns:a16="http://schemas.microsoft.com/office/drawing/2014/main" id="{E5C3F436-4DFA-4B14-B646-971B25777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Line 8">
            <a:extLst>
              <a:ext uri="{FF2B5EF4-FFF2-40B4-BE49-F238E27FC236}">
                <a16:creationId xmlns:a16="http://schemas.microsoft.com/office/drawing/2014/main" id="{532EFA60-DCFA-4BD4-97DE-667E9DAA8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26" r:id="rId1"/>
    <p:sldLayoutId id="2147486327" r:id="rId2"/>
    <p:sldLayoutId id="2147486323" r:id="rId3"/>
    <p:sldLayoutId id="2147486328" r:id="rId4"/>
    <p:sldLayoutId id="2147486324" r:id="rId5"/>
    <p:sldLayoutId id="2147486325" r:id="rId6"/>
    <p:sldLayoutId id="2147486329" r:id="rId7"/>
    <p:sldLayoutId id="2147486330" r:id="rId8"/>
    <p:sldLayoutId id="2147486331" r:id="rId9"/>
    <p:sldLayoutId id="2147486332" r:id="rId10"/>
    <p:sldLayoutId id="2147486333" r:id="rId11"/>
    <p:sldLayoutId id="2147486334" r:id="rId12"/>
    <p:sldLayoutId id="214748633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4">
            <a:extLst>
              <a:ext uri="{FF2B5EF4-FFF2-40B4-BE49-F238E27FC236}">
                <a16:creationId xmlns:a16="http://schemas.microsoft.com/office/drawing/2014/main" id="{2C015A35-9FBF-4F25-957B-F57DA4A0C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8001000" cy="3124200"/>
          </a:xfrm>
        </p:spPr>
        <p:txBody>
          <a:bodyPr/>
          <a:lstStyle/>
          <a:p>
            <a:pPr algn="ctr"/>
            <a:r>
              <a:rPr lang="en-US" altLang="en-US" sz="4400" b="1"/>
              <a:t>20XD24 - OBJECT ORIENTED PROGRAMMING</a:t>
            </a: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r>
              <a:rPr lang="en-US" altLang="en-US" sz="4400"/>
              <a:t>Chapter – IV</a:t>
            </a:r>
            <a:br>
              <a:rPr lang="en-US" altLang="en-US" sz="4400"/>
            </a:br>
            <a:r>
              <a:rPr lang="en-US" altLang="en-US" sz="4400"/>
              <a:t>Operator Overloading</a:t>
            </a:r>
            <a:br>
              <a:rPr lang="en-US" altLang="en-US" sz="4400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US" altLang="en-US" sz="4400" b="1"/>
            </a:br>
            <a:br>
              <a:rPr lang="en-IN" altLang="en-US" sz="4400"/>
            </a:br>
            <a:br>
              <a:rPr lang="en-US" altLang="en-US" sz="4400" b="1"/>
            </a:br>
            <a:br>
              <a:rPr lang="en-US" altLang="en-US" sz="4400" b="1"/>
            </a:br>
            <a:endParaRPr lang="en-US" altLang="en-US" sz="5400"/>
          </a:p>
        </p:txBody>
      </p:sp>
      <p:sp>
        <p:nvSpPr>
          <p:cNvPr id="12291" name="AutoShape 5">
            <a:extLst>
              <a:ext uri="{FF2B5EF4-FFF2-40B4-BE49-F238E27FC236}">
                <a16:creationId xmlns:a16="http://schemas.microsoft.com/office/drawing/2014/main" id="{0388A318-12DD-499E-8B67-0B8E7193E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2743200"/>
            <a:ext cx="1066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TextBox 5">
            <a:extLst>
              <a:ext uri="{FF2B5EF4-FFF2-40B4-BE49-F238E27FC236}">
                <a16:creationId xmlns:a16="http://schemas.microsoft.com/office/drawing/2014/main" id="{ABF671EB-DEA1-4ABA-ACCA-D1528E2FB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6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E84654A-2A43-4474-AC35-14915D3F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ABDB-12D4-4CFB-B588-FAF3682E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Introduction</a:t>
            </a:r>
          </a:p>
          <a:p>
            <a:pPr>
              <a:defRPr/>
            </a:pPr>
            <a:r>
              <a:rPr lang="en-US" sz="2000" dirty="0"/>
              <a:t>Overloading Unary and Binary Operators </a:t>
            </a:r>
          </a:p>
          <a:p>
            <a:pPr>
              <a:defRPr/>
            </a:pPr>
            <a:r>
              <a:rPr lang="en-US" sz="2000" dirty="0"/>
              <a:t>Overloading Binary Operators using Friend functions </a:t>
            </a:r>
          </a:p>
          <a:p>
            <a:pPr>
              <a:defRPr/>
            </a:pPr>
            <a:r>
              <a:rPr lang="en-US" sz="2000" dirty="0"/>
              <a:t>Operator Type conversion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6B15F13F-3280-4DF3-8063-6EA01A1461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BA4206-7611-4ECF-B0B0-868C947EE687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58F2E41-6EDD-4471-9BC7-ACC2D142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E908-2591-43E0-838C-5E871EE9D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275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C++ provides many operators to manipulate data of the primitive data types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However, what if you wish to use an operator to manipulate class objects?</a:t>
            </a:r>
          </a:p>
          <a:p>
            <a:pPr>
              <a:defRPr/>
            </a:pPr>
            <a:endParaRPr lang="en-IN" sz="11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Operator Overloading</a:t>
            </a:r>
            <a:r>
              <a:rPr lang="en-IN" sz="2000" dirty="0"/>
              <a:t> - </a:t>
            </a:r>
            <a:r>
              <a:rPr lang="en-IN" sz="2000" dirty="0">
                <a:solidFill>
                  <a:srgbClr val="C00000"/>
                </a:solidFill>
              </a:rPr>
              <a:t>C++ allows you to redefine standard operators work when used with class objects</a:t>
            </a:r>
          </a:p>
          <a:p>
            <a:pPr marL="876300" lvl="1" indent="-531813" eaLnBrk="1" hangingPunct="1">
              <a:lnSpc>
                <a:spcPct val="80000"/>
              </a:lnSpc>
              <a:defRPr/>
            </a:pPr>
            <a:r>
              <a:rPr lang="en-US" sz="2100" dirty="0"/>
              <a:t>Using traditional operators with user-defined objects</a:t>
            </a:r>
          </a:p>
          <a:p>
            <a:pPr marL="876300" lvl="1" indent="-531813" algn="just" eaLnBrk="1" hangingPunct="1">
              <a:lnSpc>
                <a:spcPct val="80000"/>
              </a:lnSpc>
              <a:defRPr/>
            </a:pPr>
            <a:r>
              <a:rPr lang="en-US" sz="2100" dirty="0"/>
              <a:t>A way of achieving static polymorphism is </a:t>
            </a:r>
            <a:r>
              <a:rPr lang="en-US" sz="2100" dirty="0">
                <a:solidFill>
                  <a:srgbClr val="C00000"/>
                </a:solidFill>
              </a:rPr>
              <a:t>Operator overloading</a:t>
            </a:r>
          </a:p>
          <a:p>
            <a:pPr marL="876300" lvl="1" indent="-531813" algn="just" eaLnBrk="1" hangingPunct="1">
              <a:lnSpc>
                <a:spcPct val="80000"/>
              </a:lnSpc>
              <a:defRPr/>
            </a:pPr>
            <a:endParaRPr lang="en-US" sz="2100" dirty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200" dirty="0"/>
              <a:t>Example</a:t>
            </a:r>
          </a:p>
          <a:p>
            <a:pPr marL="1295400" lvl="2" indent="-623888" eaLnBrk="1" hangingPunct="1">
              <a:lnSpc>
                <a:spcPct val="80000"/>
              </a:lnSpc>
              <a:defRPr/>
            </a:pPr>
            <a:r>
              <a:rPr lang="en-US" sz="2000" dirty="0"/>
              <a:t>Operator &lt;&lt; is both the stream-insertion operator and the bitwise left-shift operator</a:t>
            </a:r>
          </a:p>
          <a:p>
            <a:pPr marL="549275" indent="-531813" algn="just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80AED864-2692-4C13-96D4-DEAE30B50C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DAB67C-59FD-49AE-8594-A73A863BBEFE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207FB81-7EAE-4B55-8B3D-8878F4C3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Overloaded Operator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9A75-64B0-4F30-A6EA-6CE647CF2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400" dirty="0"/>
              <a:t>When creating new overloaded operators, programmers cannot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change the meaning of an intrinsic or built-in operator (e.g., you cannot change "+" to "-" ) – </a:t>
            </a:r>
            <a:r>
              <a:rPr lang="en-IN" sz="2000" dirty="0" err="1">
                <a:solidFill>
                  <a:srgbClr val="C00000"/>
                </a:solidFill>
              </a:rPr>
              <a:t>ie</a:t>
            </a:r>
            <a:r>
              <a:rPr lang="en-IN" sz="2000" dirty="0">
                <a:solidFill>
                  <a:srgbClr val="C00000"/>
                </a:solidFill>
              </a:rPr>
              <a:t>., </a:t>
            </a:r>
            <a:r>
              <a:rPr lang="en-IN" sz="2000" dirty="0"/>
              <a:t>The meaning of how an operator works with built-in types, such as </a:t>
            </a:r>
            <a:r>
              <a:rPr lang="en-IN" sz="2000" dirty="0" err="1"/>
              <a:t>int</a:t>
            </a:r>
            <a:r>
              <a:rPr lang="en-IN" sz="2000" dirty="0"/>
              <a:t>, remains the same</a:t>
            </a:r>
            <a:endParaRPr lang="en-IN" sz="20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the precedence or associativity of any operator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the number of operands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create a new operator (i.e., they can only overload existing operators)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overload an operator outside of a class context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IN" sz="1600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13F046E-40FD-4838-A7DD-694E7B93EE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C8E7A4-7053-4381-BC8B-09179FF1730D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BDA98FE-828F-4C6E-B1C1-14DC1930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 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F37BF-5BB6-47EE-97EA-823FA85D0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Overloading an operator</a:t>
            </a:r>
          </a:p>
          <a:p>
            <a:pPr lvl="1" eaLnBrk="1" hangingPunct="1">
              <a:defRPr/>
            </a:pPr>
            <a:r>
              <a:rPr lang="en-US" sz="2200" dirty="0"/>
              <a:t>Write function definition as normal</a:t>
            </a:r>
          </a:p>
          <a:p>
            <a:pPr lvl="1" eaLnBrk="1" hangingPunct="1">
              <a:defRPr/>
            </a:pPr>
            <a:r>
              <a:rPr lang="en-US" sz="2200" dirty="0"/>
              <a:t>Function name is keyword </a:t>
            </a:r>
            <a:r>
              <a:rPr lang="en-US" sz="2200" b="1" dirty="0">
                <a:solidFill>
                  <a:srgbClr val="C00000"/>
                </a:solidFill>
                <a:latin typeface="Courier New" pitchFamily="49" charset="0"/>
              </a:rPr>
              <a:t>operator</a:t>
            </a:r>
            <a:r>
              <a:rPr lang="en-US" sz="2200" dirty="0"/>
              <a:t> followed by the </a:t>
            </a:r>
            <a:r>
              <a:rPr lang="en-US" sz="2200" dirty="0">
                <a:solidFill>
                  <a:srgbClr val="C00000"/>
                </a:solidFill>
              </a:rPr>
              <a:t>symbol for the operator </a:t>
            </a:r>
            <a:r>
              <a:rPr lang="en-US" sz="2200" dirty="0"/>
              <a:t>being overloaded</a:t>
            </a:r>
          </a:p>
          <a:p>
            <a:pPr lvl="1" eaLnBrk="1" hangingPunct="1">
              <a:defRPr/>
            </a:pPr>
            <a:r>
              <a:rPr lang="en-US" sz="2000" b="1" dirty="0"/>
              <a:t>Example : operator +</a:t>
            </a:r>
            <a:r>
              <a:rPr lang="en-US" sz="2000" dirty="0"/>
              <a:t> </a:t>
            </a:r>
            <a:r>
              <a:rPr lang="en-US" sz="2200" dirty="0"/>
              <a:t>used to overload the addition operator (</a:t>
            </a:r>
            <a:r>
              <a:rPr lang="en-US" sz="2200" b="1" dirty="0">
                <a:latin typeface="Courier New" pitchFamily="49" charset="0"/>
              </a:rPr>
              <a:t>+</a:t>
            </a:r>
            <a:r>
              <a:rPr lang="en-US" sz="2200" dirty="0"/>
              <a:t>)</a:t>
            </a:r>
          </a:p>
          <a:p>
            <a:pPr lvl="1" eaLnBrk="1" hangingPunct="1">
              <a:defRPr/>
            </a:pPr>
            <a:endParaRPr lang="en-US" sz="2200" dirty="0"/>
          </a:p>
          <a:p>
            <a:pPr eaLnBrk="1" hangingPunct="1">
              <a:defRPr/>
            </a:pPr>
            <a:r>
              <a:rPr lang="en-US" sz="2000" b="1" dirty="0"/>
              <a:t>Two ways of overloading the operators 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Using Member function (a non-</a:t>
            </a: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static member function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Using Friend function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FE62713-6E7E-4457-B9CB-C1AD2E9A1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D1D19-C7C2-4D1E-B908-5D94231AAAA9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8E8F32B-2FBF-485D-92E1-E05C0907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0F4A5-35A6-43D1-86BE-F5D831668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Syntax (using member function)</a:t>
            </a: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CC0000"/>
                </a:solidFill>
              </a:rPr>
              <a:t>Number of arguments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in a member function for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CC0000"/>
                </a:solidFill>
              </a:rPr>
              <a:t>Unary</a:t>
            </a:r>
            <a:r>
              <a:rPr lang="en-US" dirty="0"/>
              <a:t> operator – 0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CC0000"/>
                </a:solidFill>
              </a:rPr>
              <a:t>Binary</a:t>
            </a:r>
            <a:r>
              <a:rPr lang="en-US" dirty="0"/>
              <a:t> operator – 1</a:t>
            </a: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43B4136F-A292-4FBF-A486-81BBF94FB8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ED4B68-2172-4CE4-B2D6-4D86CC9D6049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685D9-53FA-41E6-A7F6-C8B26CC54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00400"/>
            <a:ext cx="78486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 dirty="0" err="1">
                <a:latin typeface="Arial" charset="0"/>
              </a:rPr>
              <a:t>returnType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err="1">
                <a:latin typeface="Arial" charset="0"/>
              </a:rPr>
              <a:t>classname</a:t>
            </a:r>
            <a:r>
              <a:rPr lang="en-US" sz="2000" dirty="0">
                <a:latin typeface="Arial" charset="0"/>
              </a:rPr>
              <a:t> :: Operator </a:t>
            </a:r>
            <a:r>
              <a:rPr lang="en-US" sz="2000" dirty="0" err="1">
                <a:latin typeface="Arial" charset="0"/>
              </a:rPr>
              <a:t>OperatorSymbol</a:t>
            </a:r>
            <a:r>
              <a:rPr lang="en-US" sz="2000" dirty="0">
                <a:latin typeface="Arial" charset="0"/>
              </a:rPr>
              <a:t> (argument list)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// Function body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7E1E9BAE-C517-4C1F-A738-348F2A876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133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000"/>
              <a:t>Operator to be overloaded</a:t>
            </a:r>
          </a:p>
        </p:txBody>
      </p:sp>
      <p:sp>
        <p:nvSpPr>
          <p:cNvPr id="17415" name="Line 6">
            <a:extLst>
              <a:ext uri="{FF2B5EF4-FFF2-40B4-BE49-F238E27FC236}">
                <a16:creationId xmlns:a16="http://schemas.microsoft.com/office/drawing/2014/main" id="{9E248A3E-3236-4067-8968-79F8AC069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251460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7416" name="Line 8">
            <a:extLst>
              <a:ext uri="{FF2B5EF4-FFF2-40B4-BE49-F238E27FC236}">
                <a16:creationId xmlns:a16="http://schemas.microsoft.com/office/drawing/2014/main" id="{B6C3961D-48B8-4B5A-A143-83796EE34A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25146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F9EFB559-C774-4AB2-B6BE-AA8767239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336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000"/>
              <a:t>Keyword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BAEF378-CD52-4E9A-9D20-9A798A80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7BCC-F9F0-4D49-AC00-4E623CB61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Syntax (using friend function)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CC0000"/>
                </a:solidFill>
              </a:rPr>
              <a:t>Number of arguments</a:t>
            </a:r>
            <a:r>
              <a:rPr lang="en-US" sz="2000" dirty="0"/>
              <a:t> in a friend function for</a:t>
            </a:r>
            <a:endParaRPr lang="en-US" dirty="0"/>
          </a:p>
          <a:p>
            <a:pPr lvl="2" eaLnBrk="1" hangingPunct="1">
              <a:defRPr/>
            </a:pPr>
            <a:r>
              <a:rPr lang="en-US" sz="2000" dirty="0">
                <a:solidFill>
                  <a:srgbClr val="CC0000"/>
                </a:solidFill>
              </a:rPr>
              <a:t>Unary</a:t>
            </a:r>
            <a:r>
              <a:rPr lang="en-US" sz="2000" dirty="0"/>
              <a:t> operator – 1</a:t>
            </a:r>
          </a:p>
          <a:p>
            <a:pPr lvl="2" eaLnBrk="1" hangingPunct="1">
              <a:defRPr/>
            </a:pPr>
            <a:r>
              <a:rPr lang="en-US" sz="2000" dirty="0">
                <a:solidFill>
                  <a:srgbClr val="CC0000"/>
                </a:solidFill>
              </a:rPr>
              <a:t>Binary</a:t>
            </a:r>
            <a:r>
              <a:rPr lang="en-US" sz="2000" dirty="0"/>
              <a:t> operator – 2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97580DAA-EABD-4D0C-8106-77EB6775B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33D92-56DC-4128-9AA9-6098398AB91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EE80D-9F57-4E88-B4B9-97F615CF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00400"/>
            <a:ext cx="76200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2000" dirty="0" err="1">
                <a:latin typeface="Arial" charset="0"/>
              </a:rPr>
              <a:t>returntype</a:t>
            </a:r>
            <a:r>
              <a:rPr lang="en-US" sz="2000" dirty="0">
                <a:latin typeface="Arial" charset="0"/>
              </a:rPr>
              <a:t> operator </a:t>
            </a:r>
            <a:r>
              <a:rPr lang="en-US" sz="2000" dirty="0" err="1">
                <a:latin typeface="Arial" charset="0"/>
              </a:rPr>
              <a:t>OperatorSymbol</a:t>
            </a:r>
            <a:r>
              <a:rPr lang="en-US" sz="2000" dirty="0">
                <a:latin typeface="Arial" charset="0"/>
              </a:rPr>
              <a:t> (argument list)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{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	// Function body</a:t>
            </a:r>
          </a:p>
          <a:p>
            <a:pPr eaLnBrk="0" hangingPunct="0">
              <a:defRPr/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49739D3D-F74E-4642-8EC4-9002AED9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1336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2"/>
                </a:solidFill>
              </a:rPr>
              <a:t>Keyword</a:t>
            </a: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2B7D2875-73A9-4019-895B-E22E48775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133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000">
                <a:solidFill>
                  <a:schemeClr val="tx2"/>
                </a:solidFill>
              </a:rPr>
              <a:t>Operator to be overloaded</a:t>
            </a:r>
          </a:p>
        </p:txBody>
      </p:sp>
      <p:sp>
        <p:nvSpPr>
          <p:cNvPr id="18440" name="Line 7">
            <a:extLst>
              <a:ext uri="{FF2B5EF4-FFF2-40B4-BE49-F238E27FC236}">
                <a16:creationId xmlns:a16="http://schemas.microsoft.com/office/drawing/2014/main" id="{A32F8680-C1BE-412E-BE7B-34F4E85279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5908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8441" name="Line 8">
            <a:extLst>
              <a:ext uri="{FF2B5EF4-FFF2-40B4-BE49-F238E27FC236}">
                <a16:creationId xmlns:a16="http://schemas.microsoft.com/office/drawing/2014/main" id="{02DC679A-07E1-43A5-A204-8F24F60292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6700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726684C-64B6-4826-936E-4316391F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8F328-576C-43FF-A82F-8E8BBDCA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relationship between operator operands and function arguments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443E5B78-0F7C-4D7C-B392-87DF7211C5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03B475-4957-4EE6-9B8E-6DCF4ADEFB4A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9461" name="Picture 2">
            <a:extLst>
              <a:ext uri="{FF2B5EF4-FFF2-40B4-BE49-F238E27FC236}">
                <a16:creationId xmlns:a16="http://schemas.microsoft.com/office/drawing/2014/main" id="{D33046B9-A35D-453C-BFF4-500744CBC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895508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7A1D14-77E0-4C64-9E8E-58F318596C59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3886201"/>
          <a:ext cx="5334001" cy="2362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82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863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Operator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Overloading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Member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Friend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82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No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One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82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One 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Two arguments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E7AB0FC-CA1D-44EA-BB58-9D20B552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</a:t>
            </a:r>
            <a:endParaRPr lang="en-IN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27F31F7C-49BB-40C0-B191-B096F80E3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51E916-5D08-4009-BC27-1F9110F25EB3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766A18C6-E029-4A68-8F31-441C1D871F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450975"/>
          <a:ext cx="8475663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Document" r:id="rId3" imgW="5072613" imgH="1667370" progId="Word.Document.8">
                  <p:embed/>
                </p:oleObj>
              </mc:Choice>
              <mc:Fallback>
                <p:oleObj name="Document" r:id="rId3" imgW="5072613" imgH="166737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50975"/>
                        <a:ext cx="8475663" cy="27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E2B25FF3-44FC-4DF1-A10A-4AD5ADA28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0"/>
          <a:ext cx="89122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Document" r:id="rId5" imgW="5415461" imgH="670853" progId="Word.Document.8">
                  <p:embed/>
                </p:oleObj>
              </mc:Choice>
              <mc:Fallback>
                <p:oleObj name="Document" r:id="rId5" imgW="5415461" imgH="670853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0"/>
                        <a:ext cx="8912225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B5D459E-3CC4-42C0-A7D0-1A389DE8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807A-FDAC-46D3-8C09-868AEF6D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Operators that can be overloaded using member and friend functions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dirty="0"/>
              <a:t>Note</a:t>
            </a:r>
          </a:p>
          <a:p>
            <a:pPr lvl="1">
              <a:defRPr/>
            </a:pPr>
            <a:r>
              <a:rPr lang="en-IN" sz="1800" dirty="0"/>
              <a:t>Overloading does not actually add any capabilities to C++. Everything you can do with an overloaded operator you can also do with a function.</a:t>
            </a:r>
          </a:p>
          <a:p>
            <a:pPr lvl="1">
              <a:defRPr/>
            </a:pPr>
            <a:r>
              <a:rPr lang="en-IN" sz="1800" dirty="0"/>
              <a:t>However, overloaded operators make your programs easier to write, read, and maintain.</a:t>
            </a:r>
            <a:endParaRPr lang="en-IN" sz="1050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0E523D0-17AD-439A-AAE5-B7FAE22887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1D6F31-2C12-41D8-B9F9-EDCA5046A2AD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1EE6A8B9-94DA-4FF5-AAE7-A6E0EC2933D0}"/>
              </a:ext>
            </a:extLst>
          </p:cNvPr>
          <p:cNvGraphicFramePr>
            <a:graphicFrameLocks/>
          </p:cNvGraphicFramePr>
          <p:nvPr/>
        </p:nvGraphicFramePr>
        <p:xfrm>
          <a:off x="1074738" y="2549525"/>
          <a:ext cx="6011862" cy="1554163"/>
        </p:xfrm>
        <a:graphic>
          <a:graphicData uri="http://schemas.openxmlformats.org/drawingml/2006/table">
            <a:tbl>
              <a:tblPr/>
              <a:tblGrid>
                <a:gridCol w="114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Using member function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Using friend function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Operators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 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[ 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-&gt;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&lt;&lt;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&gt;&gt;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DA0D09E-1E5A-4A42-BE91-24CA4E8F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Functions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3B74-F809-4B48-89C6-40E7676A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>
                <a:solidFill>
                  <a:srgbClr val="C00000"/>
                </a:solidFill>
              </a:rPr>
              <a:t>Operator Functions </a:t>
            </a:r>
            <a:r>
              <a:rPr lang="en-US" sz="2000" dirty="0">
                <a:solidFill>
                  <a:srgbClr val="C00000"/>
                </a:solidFill>
              </a:rPr>
              <a:t>as Class Members</a:t>
            </a:r>
          </a:p>
          <a:p>
            <a:pPr>
              <a:defRPr/>
            </a:pPr>
            <a:r>
              <a:rPr lang="en-US" sz="2000" dirty="0"/>
              <a:t>Leftmost operand must be of </a:t>
            </a:r>
            <a:r>
              <a:rPr lang="en-US" sz="2000" i="1" dirty="0"/>
              <a:t>same class</a:t>
            </a:r>
            <a:r>
              <a:rPr lang="en-US" sz="2000" dirty="0"/>
              <a:t> as operator function.</a:t>
            </a:r>
          </a:p>
          <a:p>
            <a:pPr>
              <a:defRPr/>
            </a:pPr>
            <a:r>
              <a:rPr lang="en-US" sz="2000" dirty="0"/>
              <a:t>Use </a:t>
            </a:r>
            <a:r>
              <a:rPr lang="en-US" sz="2000" b="1" dirty="0"/>
              <a:t>this</a:t>
            </a:r>
            <a:r>
              <a:rPr lang="en-US" sz="2000" dirty="0"/>
              <a:t> keyword to implicitly get left operand argument.</a:t>
            </a:r>
          </a:p>
          <a:p>
            <a:pPr>
              <a:defRPr/>
            </a:pPr>
            <a:r>
              <a:rPr lang="en-US" sz="2000" dirty="0"/>
              <a:t>Operators </a:t>
            </a:r>
            <a:r>
              <a:rPr lang="en-US" sz="2000" b="1" dirty="0"/>
              <a:t>()</a:t>
            </a:r>
            <a:r>
              <a:rPr lang="en-US" sz="2000" dirty="0"/>
              <a:t>, </a:t>
            </a:r>
            <a:r>
              <a:rPr lang="en-US" sz="2000" b="1" dirty="0"/>
              <a:t>[]</a:t>
            </a:r>
            <a:r>
              <a:rPr lang="en-US" sz="2000" dirty="0"/>
              <a:t>, </a:t>
            </a:r>
            <a:r>
              <a:rPr lang="en-US" sz="2000" b="1" dirty="0"/>
              <a:t>-&gt;</a:t>
            </a:r>
            <a:r>
              <a:rPr lang="en-US" sz="2000" dirty="0"/>
              <a:t> or any assignment operator must be overloaded as a class member function.</a:t>
            </a:r>
          </a:p>
          <a:p>
            <a:pPr>
              <a:defRPr/>
            </a:pPr>
            <a:r>
              <a:rPr lang="en-US" sz="2000" dirty="0"/>
              <a:t>Called when</a:t>
            </a:r>
          </a:p>
          <a:p>
            <a:pPr lvl="1">
              <a:defRPr/>
            </a:pPr>
            <a:r>
              <a:rPr lang="en-US" sz="2000" dirty="0"/>
              <a:t>Left operand of binary operator is of this class</a:t>
            </a:r>
          </a:p>
          <a:p>
            <a:pPr lvl="1">
              <a:defRPr/>
            </a:pPr>
            <a:r>
              <a:rPr lang="en-US" sz="2000" dirty="0"/>
              <a:t>Single operand of unary operator is of this class</a:t>
            </a:r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Operator Functions as friend functions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/>
              <a:t>Need parameters for both operands</a:t>
            </a:r>
          </a:p>
          <a:p>
            <a:pPr>
              <a:defRPr/>
            </a:pPr>
            <a:r>
              <a:rPr lang="en-US" sz="2000" dirty="0"/>
              <a:t>Can have object of different class than operator</a:t>
            </a:r>
          </a:p>
          <a:p>
            <a:pPr lvl="1">
              <a:defRPr/>
            </a:pPr>
            <a:endParaRPr lang="en-IN" sz="2000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D87A583-9181-473A-AE07-7D543539F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BCBFFC-2D37-43A0-ABFE-439A5A87FA91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AE823C2C-1AAB-4311-A8FC-CF4104E4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7BC9-C553-40CB-BEAF-CFA637CE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Binary operator function as a member function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864250F-100D-4254-A001-4ACB758B53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C506F3-3A02-4E5D-8964-F6303E0095B8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7EE689CA-E87B-46D0-B7C9-9032E488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50292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b="1"/>
              <a:t>class Time</a:t>
            </a:r>
          </a:p>
          <a:p>
            <a:pPr lvl="1" eaLnBrk="1" hangingPunct="1"/>
            <a:r>
              <a:rPr lang="en-US" altLang="en-US" b="1"/>
              <a:t>{</a:t>
            </a:r>
          </a:p>
          <a:p>
            <a:pPr lvl="1" eaLnBrk="1" hangingPunct="1"/>
            <a:r>
              <a:rPr lang="en-US" altLang="en-US" b="1"/>
              <a:t>	int hrs, mins;</a:t>
            </a:r>
          </a:p>
          <a:p>
            <a:pPr lvl="1" eaLnBrk="1" hangingPunct="1"/>
            <a:r>
              <a:rPr lang="en-US" altLang="en-US" b="1"/>
              <a:t>public:</a:t>
            </a:r>
          </a:p>
          <a:p>
            <a:pPr lvl="1" eaLnBrk="1" hangingPunct="1"/>
            <a:r>
              <a:rPr lang="en-US" altLang="en-US" b="1"/>
              <a:t>	Time (int h,int m)</a:t>
            </a:r>
          </a:p>
          <a:p>
            <a:pPr lvl="1" eaLnBrk="1" hangingPunct="1"/>
            <a:r>
              <a:rPr lang="en-US" altLang="en-US" b="1"/>
              <a:t>	{	hrs=h;mins=m;  }</a:t>
            </a:r>
          </a:p>
          <a:p>
            <a:pPr lvl="1" eaLnBrk="1" hangingPunct="1"/>
            <a:r>
              <a:rPr lang="en-US" altLang="en-US" b="1"/>
              <a:t>	void show()</a:t>
            </a:r>
          </a:p>
          <a:p>
            <a:pPr lvl="1" eaLnBrk="1" hangingPunct="1"/>
            <a:r>
              <a:rPr lang="en-US" altLang="en-US" b="1"/>
              <a:t>	{	cout&lt;&lt;hrs&lt;&lt;“:”&lt;&lt;mins;  }</a:t>
            </a:r>
          </a:p>
          <a:p>
            <a:pPr lvl="1" eaLnBrk="1" hangingPunct="1"/>
            <a:r>
              <a:rPr lang="en-US" altLang="en-US" b="1"/>
              <a:t>	void sum(Time t)</a:t>
            </a:r>
          </a:p>
          <a:p>
            <a:pPr lvl="1" eaLnBrk="1" hangingPunct="1"/>
            <a:r>
              <a:rPr lang="en-US" altLang="en-US" b="1"/>
              <a:t>	{	hrs+=t.hrs;  mins+=t.mins;    </a:t>
            </a:r>
          </a:p>
          <a:p>
            <a:pPr lvl="1" eaLnBrk="1" hangingPunct="1"/>
            <a:r>
              <a:rPr lang="en-US" altLang="en-US" b="1"/>
              <a:t>        }</a:t>
            </a:r>
          </a:p>
          <a:p>
            <a:pPr lvl="1" eaLnBrk="1" hangingPunct="1"/>
            <a:r>
              <a:rPr lang="en-US" altLang="en-US" b="1"/>
              <a:t>	</a:t>
            </a:r>
            <a:r>
              <a:rPr lang="en-US" altLang="en-US" b="1">
                <a:solidFill>
                  <a:srgbClr val="C00000"/>
                </a:solidFill>
              </a:rPr>
              <a:t>Time operator + (Time t)</a:t>
            </a:r>
          </a:p>
          <a:p>
            <a:pPr lvl="1" eaLnBrk="1" hangingPunct="1"/>
            <a:r>
              <a:rPr lang="en-US" altLang="en-US" b="1"/>
              <a:t>	</a:t>
            </a:r>
            <a:r>
              <a:rPr lang="en-US" altLang="en-US" b="1">
                <a:solidFill>
                  <a:srgbClr val="C00000"/>
                </a:solidFill>
              </a:rPr>
              <a:t>{	Time temp;</a:t>
            </a:r>
          </a:p>
          <a:p>
            <a:pPr lvl="1" eaLnBrk="1" hangingPunct="1"/>
            <a:r>
              <a:rPr lang="en-US" altLang="en-US" b="1">
                <a:solidFill>
                  <a:srgbClr val="C00000"/>
                </a:solidFill>
              </a:rPr>
              <a:t>		temp.hrs=hrs+t.hrs;</a:t>
            </a:r>
          </a:p>
          <a:p>
            <a:pPr lvl="1" eaLnBrk="1" hangingPunct="1"/>
            <a:r>
              <a:rPr lang="en-US" altLang="en-US" b="1">
                <a:solidFill>
                  <a:srgbClr val="C00000"/>
                </a:solidFill>
              </a:rPr>
              <a:t>		temp.mins=mins+t.mins;</a:t>
            </a:r>
          </a:p>
          <a:p>
            <a:pPr lvl="1" eaLnBrk="1" hangingPunct="1"/>
            <a:r>
              <a:rPr lang="en-US" altLang="en-US" b="1">
                <a:solidFill>
                  <a:srgbClr val="C00000"/>
                </a:solidFill>
              </a:rPr>
              <a:t>		return temp;</a:t>
            </a:r>
          </a:p>
          <a:p>
            <a:pPr lvl="1" eaLnBrk="1" hangingPunct="1"/>
            <a:r>
              <a:rPr lang="en-US" altLang="en-US" b="1">
                <a:solidFill>
                  <a:srgbClr val="C00000"/>
                </a:solidFill>
              </a:rPr>
              <a:t>        }	</a:t>
            </a:r>
          </a:p>
          <a:p>
            <a:pPr lvl="1" eaLnBrk="1" hangingPunct="1"/>
            <a:r>
              <a:rPr lang="en-US" altLang="en-US" b="1"/>
              <a:t>};</a:t>
            </a:r>
          </a:p>
        </p:txBody>
      </p:sp>
      <p:sp>
        <p:nvSpPr>
          <p:cNvPr id="23558" name="Text Box 5">
            <a:extLst>
              <a:ext uri="{FF2B5EF4-FFF2-40B4-BE49-F238E27FC236}">
                <a16:creationId xmlns:a16="http://schemas.microsoft.com/office/drawing/2014/main" id="{445487DA-6EEA-4EEF-A094-761A8FC4E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825" y="1981200"/>
            <a:ext cx="4498975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b="1"/>
              <a:t>int main()</a:t>
            </a:r>
          </a:p>
          <a:p>
            <a:pPr algn="just" eaLnBrk="1" hangingPunct="1"/>
            <a:r>
              <a:rPr lang="en-US" altLang="en-US" b="1"/>
              <a:t>{</a:t>
            </a:r>
          </a:p>
          <a:p>
            <a:pPr algn="just" eaLnBrk="1" hangingPunct="1"/>
            <a:r>
              <a:rPr lang="en-US" altLang="en-US" b="1"/>
              <a:t>	Time t1(10,20), t2(11,30);</a:t>
            </a:r>
          </a:p>
          <a:p>
            <a:pPr algn="just" eaLnBrk="1" hangingPunct="1"/>
            <a:r>
              <a:rPr lang="en-US" altLang="en-US" b="1"/>
              <a:t>	t1.show();</a:t>
            </a:r>
          </a:p>
          <a:p>
            <a:pPr algn="just" eaLnBrk="1" hangingPunct="1"/>
            <a:r>
              <a:rPr lang="en-US" altLang="en-US" b="1"/>
              <a:t>	t2.show();</a:t>
            </a:r>
          </a:p>
          <a:p>
            <a:pPr algn="just" eaLnBrk="1" hangingPunct="1"/>
            <a:r>
              <a:rPr lang="en-US" altLang="en-US" b="1"/>
              <a:t>	// t1.sum(t2);</a:t>
            </a:r>
          </a:p>
          <a:p>
            <a:pPr algn="just" eaLnBrk="1" hangingPunct="1"/>
            <a:r>
              <a:rPr lang="en-US" altLang="en-US" b="1"/>
              <a:t>	</a:t>
            </a:r>
            <a:r>
              <a:rPr lang="en-US" altLang="en-US" b="1">
                <a:solidFill>
                  <a:srgbClr val="C00000"/>
                </a:solidFill>
              </a:rPr>
              <a:t>t1=t1+ t2;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      // t1.operator + (t2)</a:t>
            </a:r>
          </a:p>
          <a:p>
            <a:pPr algn="just" eaLnBrk="1" hangingPunct="1"/>
            <a:r>
              <a:rPr lang="en-US" altLang="en-US" b="1"/>
              <a:t>      t1.show();</a:t>
            </a:r>
          </a:p>
          <a:p>
            <a:pPr algn="just" eaLnBrk="1" hangingPunct="1"/>
            <a:r>
              <a:rPr lang="en-US" altLang="en-US" b="1"/>
              <a:t>	t2.show();</a:t>
            </a:r>
          </a:p>
          <a:p>
            <a:pPr algn="just" eaLnBrk="1" hangingPunct="1"/>
            <a:r>
              <a:rPr lang="en-US" altLang="en-US" b="1"/>
              <a:t>}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10: 20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11: 30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21: 50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11: 30 mins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E16EE9A-520D-407A-A54F-AF99C4642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Overloading + Operators for Complex class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68E40648-053C-4311-8058-43166F71F6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4DFE13-31E2-473A-867F-DC65D14E4DEE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003C6193-0110-42BD-A9C0-E53A8150B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696200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6E9D0DE-30D7-4B3D-906B-8111F0D9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E54D3-F116-450A-8D75-DA7982BE6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Binary operator function as a friend function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4A52A477-9E9C-49A1-9F9E-ED408AA25F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58F1E2-6FA7-4B18-A8BE-27EA3B05A723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0D48BAD2-32C4-4496-9F3D-ECFC46E4F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81200"/>
            <a:ext cx="4572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class Time</a:t>
            </a:r>
          </a:p>
          <a:p>
            <a:pPr eaLnBrk="1" hangingPunct="1"/>
            <a:r>
              <a:rPr lang="en-US" altLang="en-US" b="1"/>
              <a:t>{</a:t>
            </a:r>
          </a:p>
          <a:p>
            <a:pPr eaLnBrk="1" hangingPunct="1"/>
            <a:r>
              <a:rPr lang="en-US" altLang="en-US" b="1"/>
              <a:t>	int hrs, mins;</a:t>
            </a:r>
          </a:p>
          <a:p>
            <a:pPr eaLnBrk="1" hangingPunct="1"/>
            <a:r>
              <a:rPr lang="en-US" altLang="en-US" b="1"/>
              <a:t>public:</a:t>
            </a:r>
          </a:p>
          <a:p>
            <a:pPr eaLnBrk="1" hangingPunct="1"/>
            <a:r>
              <a:rPr lang="en-US" altLang="en-US" b="1"/>
              <a:t>	Time (int h,int m)</a:t>
            </a:r>
          </a:p>
          <a:p>
            <a:pPr eaLnBrk="1" hangingPunct="1"/>
            <a:r>
              <a:rPr lang="en-US" altLang="en-US" b="1"/>
              <a:t>	{	hrs=h;mins=m;}</a:t>
            </a:r>
          </a:p>
          <a:p>
            <a:pPr eaLnBrk="1" hangingPunct="1"/>
            <a:r>
              <a:rPr lang="en-US" altLang="en-US" b="1"/>
              <a:t>	void show()</a:t>
            </a:r>
          </a:p>
          <a:p>
            <a:pPr eaLnBrk="1" hangingPunct="1"/>
            <a:r>
              <a:rPr lang="en-US" altLang="en-US" b="1"/>
              <a:t>	{	cout&lt;&lt;hrs&lt;&lt;“:”&lt;&lt;mins;  }</a:t>
            </a:r>
          </a:p>
          <a:p>
            <a:pPr eaLnBrk="1" hangingPunct="1"/>
            <a:r>
              <a:rPr lang="en-US" altLang="en-US" b="1">
                <a:solidFill>
                  <a:srgbClr val="FF3300"/>
                </a:solidFill>
              </a:rPr>
              <a:t>	</a:t>
            </a:r>
            <a:r>
              <a:rPr lang="en-US" altLang="en-US" b="1">
                <a:solidFill>
                  <a:srgbClr val="C00000"/>
                </a:solidFill>
              </a:rPr>
              <a:t>friend Time operator + (Time, Time);</a:t>
            </a:r>
          </a:p>
          <a:p>
            <a:pPr eaLnBrk="1" hangingPunct="1"/>
            <a:r>
              <a:rPr lang="en-US" altLang="en-US" b="1"/>
              <a:t>};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Time operator + (time t1,time t2)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{	Time temp;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	temp.hrs=t1.hrs+t2.hrs;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	temp.mins=t1mins+t2.mins;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	return temp;  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 }</a:t>
            </a:r>
            <a:endParaRPr lang="en-IN" altLang="en-US">
              <a:solidFill>
                <a:srgbClr val="C00000"/>
              </a:solidFill>
            </a:endParaRPr>
          </a:p>
        </p:txBody>
      </p:sp>
      <p:sp>
        <p:nvSpPr>
          <p:cNvPr id="25606" name="Text Box 4">
            <a:extLst>
              <a:ext uri="{FF2B5EF4-FFF2-40B4-BE49-F238E27FC236}">
                <a16:creationId xmlns:a16="http://schemas.microsoft.com/office/drawing/2014/main" id="{51B07F88-5A37-4B9E-B501-4E343B3D3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286000"/>
            <a:ext cx="3276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b="1"/>
              <a:t>int main()</a:t>
            </a:r>
          </a:p>
          <a:p>
            <a:pPr algn="just" eaLnBrk="1" hangingPunct="1"/>
            <a:r>
              <a:rPr lang="en-US" altLang="en-US" b="1"/>
              <a:t>{</a:t>
            </a:r>
          </a:p>
          <a:p>
            <a:pPr algn="just" eaLnBrk="1" hangingPunct="1"/>
            <a:r>
              <a:rPr lang="en-US" altLang="en-US" b="1"/>
              <a:t>	Time t1(10,20), t2(11,30);</a:t>
            </a:r>
          </a:p>
          <a:p>
            <a:pPr algn="just" eaLnBrk="1" hangingPunct="1"/>
            <a:r>
              <a:rPr lang="en-US" altLang="en-US" b="1"/>
              <a:t>	t1.show();</a:t>
            </a:r>
          </a:p>
          <a:p>
            <a:pPr algn="just" eaLnBrk="1" hangingPunct="1"/>
            <a:r>
              <a:rPr lang="en-US" altLang="en-US" b="1"/>
              <a:t>	t2.show();</a:t>
            </a:r>
          </a:p>
          <a:p>
            <a:pPr algn="just" eaLnBrk="1" hangingPunct="1"/>
            <a:r>
              <a:rPr lang="en-US" altLang="en-US" b="1"/>
              <a:t>	</a:t>
            </a:r>
            <a:r>
              <a:rPr lang="en-US" altLang="en-US" b="1">
                <a:solidFill>
                  <a:srgbClr val="C00000"/>
                </a:solidFill>
              </a:rPr>
              <a:t>t1=t1+ t2;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      // operator + (t1, t2);</a:t>
            </a:r>
          </a:p>
          <a:p>
            <a:pPr algn="just" eaLnBrk="1" hangingPunct="1"/>
            <a:r>
              <a:rPr lang="en-US" altLang="en-US" b="1"/>
              <a:t>      t1.show();</a:t>
            </a:r>
          </a:p>
          <a:p>
            <a:pPr algn="just" eaLnBrk="1" hangingPunct="1"/>
            <a:r>
              <a:rPr lang="en-US" altLang="en-US" b="1"/>
              <a:t>	t2.show();</a:t>
            </a:r>
          </a:p>
          <a:p>
            <a:pPr algn="just" eaLnBrk="1" hangingPunct="1"/>
            <a:r>
              <a:rPr lang="en-US" altLang="en-US" b="1"/>
              <a:t>}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10: 20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11: 30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21: 50 mins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hrs 11: 30 mins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2810B77-A217-42A5-9535-DB835702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600"/>
              <a:t>Overloading + Operator for Complex class</a:t>
            </a: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EB6EABE9-D550-4DA4-AFFF-C1DC7F786F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AA418D-5D3D-4B7E-B07C-F166A624006C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547C02C0-CE85-41DA-81D5-EAEF21355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66800"/>
            <a:ext cx="76200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class Complex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    int num1, num2;</a:t>
            </a:r>
          </a:p>
          <a:p>
            <a:pPr eaLnBrk="1" hangingPunct="1"/>
            <a:r>
              <a:rPr lang="en-IN" altLang="en-US"/>
              <a:t>    public:</a:t>
            </a:r>
          </a:p>
          <a:p>
            <a:pPr eaLnBrk="1" hangingPunct="1"/>
            <a:r>
              <a:rPr lang="en-IN" altLang="en-US"/>
              <a:t>        void accept()</a:t>
            </a:r>
          </a:p>
          <a:p>
            <a:pPr eaLnBrk="1" hangingPunct="1"/>
            <a:r>
              <a:rPr lang="en-IN" altLang="en-US"/>
              <a:t>        {       cout&lt;&lt;"\n Enter Two Complex Numbers : ";</a:t>
            </a:r>
          </a:p>
          <a:p>
            <a:pPr eaLnBrk="1" hangingPunct="1"/>
            <a:r>
              <a:rPr lang="en-IN" altLang="en-US"/>
              <a:t>                cin&gt;&gt;num1&gt;&gt;num2;</a:t>
            </a:r>
          </a:p>
          <a:p>
            <a:pPr eaLnBrk="1" hangingPunct="1"/>
            <a:r>
              <a:rPr lang="en-IN" altLang="en-US"/>
              <a:t>      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friend Complex operator+(Complex c1, Complex c2);   </a:t>
            </a:r>
          </a:p>
          <a:p>
            <a:pPr eaLnBrk="1" hangingPunct="1"/>
            <a:r>
              <a:rPr lang="en-IN" altLang="en-US"/>
              <a:t>        void display()</a:t>
            </a:r>
          </a:p>
          <a:p>
            <a:pPr eaLnBrk="1" hangingPunct="1"/>
            <a:r>
              <a:rPr lang="en-IN" altLang="en-US"/>
              <a:t>        {  cout&lt;&lt;num1&lt;&lt;"+"&lt;&lt;num2&lt;&lt;"i"&lt;&lt;"\n"; 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Complex operator+(Complex c1, Complex c2)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Complex c;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c.num1=c1.num1+c2.num1;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c.num2=c1.num2+c2.num2;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return c;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F1A7F1F5-07D3-484D-BEF0-88CCC7A1B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514600"/>
            <a:ext cx="45720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    Complex c1,c2, sum;      </a:t>
            </a:r>
          </a:p>
          <a:p>
            <a:pPr eaLnBrk="1" hangingPunct="1"/>
            <a:r>
              <a:rPr lang="en-IN" altLang="en-US"/>
              <a:t>        c1.accept(); </a:t>
            </a:r>
          </a:p>
          <a:p>
            <a:pPr eaLnBrk="1" hangingPunct="1"/>
            <a:r>
              <a:rPr lang="en-IN" altLang="en-US"/>
              <a:t>        c2.accept();</a:t>
            </a:r>
          </a:p>
          <a:p>
            <a:pPr eaLnBrk="1" hangingPunct="1"/>
            <a:r>
              <a:rPr lang="en-IN" altLang="en-US"/>
              <a:t>        </a:t>
            </a:r>
            <a:r>
              <a:rPr lang="en-IN" altLang="en-US">
                <a:solidFill>
                  <a:srgbClr val="C00000"/>
                </a:solidFill>
              </a:rPr>
              <a:t>sum = c1+c2;</a:t>
            </a:r>
            <a:r>
              <a:rPr lang="en-IN" altLang="en-US"/>
              <a:t>   </a:t>
            </a:r>
          </a:p>
          <a:p>
            <a:pPr eaLnBrk="1" hangingPunct="1"/>
            <a:r>
              <a:rPr lang="en-IN" altLang="en-US"/>
              <a:t>    </a:t>
            </a:r>
          </a:p>
          <a:p>
            <a:pPr eaLnBrk="1" hangingPunct="1"/>
            <a:r>
              <a:rPr lang="en-IN" altLang="en-US"/>
              <a:t>        c1.display(); </a:t>
            </a:r>
          </a:p>
          <a:p>
            <a:pPr eaLnBrk="1" hangingPunct="1"/>
            <a:r>
              <a:rPr lang="en-IN" altLang="en-US"/>
              <a:t>        c2.display();</a:t>
            </a:r>
          </a:p>
          <a:p>
            <a:pPr eaLnBrk="1" hangingPunct="1"/>
            <a:r>
              <a:rPr lang="en-IN" altLang="en-US"/>
              <a:t>  </a:t>
            </a:r>
          </a:p>
          <a:p>
            <a:pPr eaLnBrk="1" hangingPunct="1"/>
            <a:r>
              <a:rPr lang="en-IN" altLang="en-US"/>
              <a:t>         sum.display(); </a:t>
            </a:r>
          </a:p>
          <a:p>
            <a:pPr eaLnBrk="1" hangingPunct="1"/>
            <a:r>
              <a:rPr lang="en-IN" altLang="en-US"/>
              <a:t>        return 0;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endParaRPr lang="en-I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FE22EB0-1412-4AB4-AC76-BE741514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Overloading &gt; Operator</a:t>
            </a: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67604868-F4A5-45F8-91A2-D517467B11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110CF3-3999-44DF-8176-A2747115906E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45B5EC8C-D3DB-49C3-AC89-69890F186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457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 </a:t>
            </a:r>
          </a:p>
          <a:p>
            <a:pPr eaLnBrk="1" hangingPunct="1"/>
            <a:r>
              <a:rPr lang="en-IN" altLang="en-US"/>
              <a:t>class Distance {</a:t>
            </a:r>
          </a:p>
          <a:p>
            <a:pPr eaLnBrk="1" hangingPunct="1"/>
            <a:r>
              <a:rPr lang="en-IN" altLang="en-US"/>
              <a:t>   private:</a:t>
            </a:r>
          </a:p>
          <a:p>
            <a:pPr eaLnBrk="1" hangingPunct="1"/>
            <a:r>
              <a:rPr lang="en-IN" altLang="en-US"/>
              <a:t>      int feet;             </a:t>
            </a:r>
          </a:p>
          <a:p>
            <a:pPr eaLnBrk="1" hangingPunct="1"/>
            <a:r>
              <a:rPr lang="en-IN" altLang="en-US"/>
              <a:t>      int inches;           </a:t>
            </a:r>
          </a:p>
          <a:p>
            <a:pPr eaLnBrk="1" hangingPunct="1"/>
            <a:r>
              <a:rPr lang="en-IN" altLang="en-US"/>
              <a:t>      </a:t>
            </a:r>
          </a:p>
          <a:p>
            <a:pPr eaLnBrk="1" hangingPunct="1"/>
            <a:r>
              <a:rPr lang="en-IN" altLang="en-US"/>
              <a:t>   public:</a:t>
            </a:r>
          </a:p>
          <a:p>
            <a:pPr eaLnBrk="1" hangingPunct="1"/>
            <a:r>
              <a:rPr lang="en-IN" altLang="en-US"/>
              <a:t>      Distance() {</a:t>
            </a:r>
          </a:p>
          <a:p>
            <a:pPr eaLnBrk="1" hangingPunct="1"/>
            <a:r>
              <a:rPr lang="en-IN" altLang="en-US"/>
              <a:t>         feet = 0;</a:t>
            </a:r>
          </a:p>
          <a:p>
            <a:pPr eaLnBrk="1" hangingPunct="1"/>
            <a:r>
              <a:rPr lang="en-IN" altLang="en-US"/>
              <a:t>         inches = 0;</a:t>
            </a:r>
          </a:p>
          <a:p>
            <a:pPr eaLnBrk="1" hangingPunct="1"/>
            <a:r>
              <a:rPr lang="en-IN" altLang="en-US"/>
              <a:t>      }</a:t>
            </a:r>
          </a:p>
          <a:p>
            <a:pPr eaLnBrk="1" hangingPunct="1"/>
            <a:r>
              <a:rPr lang="en-IN" altLang="en-US"/>
              <a:t>      Distance(int f, int i) {</a:t>
            </a:r>
          </a:p>
          <a:p>
            <a:pPr eaLnBrk="1" hangingPunct="1"/>
            <a:r>
              <a:rPr lang="en-IN" altLang="en-US"/>
              <a:t>         feet = f;</a:t>
            </a:r>
          </a:p>
          <a:p>
            <a:pPr eaLnBrk="1" hangingPunct="1"/>
            <a:r>
              <a:rPr lang="en-IN" altLang="en-US"/>
              <a:t>         inches = i;</a:t>
            </a:r>
          </a:p>
          <a:p>
            <a:pPr eaLnBrk="1" hangingPunct="1"/>
            <a:r>
              <a:rPr lang="en-IN" altLang="en-US"/>
              <a:t>      }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BC1DB0C1-1613-40F4-9BA6-20299887F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990600"/>
            <a:ext cx="58674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void displayDistance() {</a:t>
            </a:r>
          </a:p>
          <a:p>
            <a:pPr eaLnBrk="1" hangingPunct="1"/>
            <a:r>
              <a:rPr lang="en-IN" altLang="en-US"/>
              <a:t>         cout &lt;&lt; "F: " &lt;&lt; feet &lt;&lt; " I:" &lt;&lt; inches &lt;&lt;endl;</a:t>
            </a:r>
          </a:p>
          <a:p>
            <a:pPr eaLnBrk="1" hangingPunct="1"/>
            <a:r>
              <a:rPr lang="en-IN" altLang="en-US"/>
              <a:t>      }</a:t>
            </a:r>
          </a:p>
          <a:p>
            <a:pPr eaLnBrk="1" hangingPunct="1"/>
            <a:r>
              <a:rPr lang="en-IN" altLang="en-US"/>
              <a:t> </a:t>
            </a:r>
            <a:r>
              <a:rPr lang="en-IN" altLang="en-US">
                <a:solidFill>
                  <a:srgbClr val="C00000"/>
                </a:solidFill>
              </a:rPr>
              <a:t>bool operator &lt; (const Distance&amp; d)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if(feet &lt; d.feet)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 return true;         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if(feet == d.feet &amp;&amp; inches &lt; d.inches) {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 return true;           }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return false;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endParaRPr lang="en-IN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A6A454D3-2B12-414D-B2DD-FC33B78DC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021138"/>
            <a:ext cx="457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 {</a:t>
            </a:r>
          </a:p>
          <a:p>
            <a:pPr eaLnBrk="1" hangingPunct="1"/>
            <a:r>
              <a:rPr lang="en-IN" altLang="en-US"/>
              <a:t>   Distance D1(11, 10), D2(5, 11);</a:t>
            </a:r>
          </a:p>
          <a:p>
            <a:pPr eaLnBrk="1" hangingPunct="1"/>
            <a:r>
              <a:rPr lang="en-IN" altLang="en-US"/>
              <a:t>    if( </a:t>
            </a:r>
            <a:r>
              <a:rPr lang="en-IN" altLang="en-US">
                <a:solidFill>
                  <a:srgbClr val="C00000"/>
                </a:solidFill>
              </a:rPr>
              <a:t>D1 &lt; D2 </a:t>
            </a:r>
            <a:r>
              <a:rPr lang="en-IN" altLang="en-US"/>
              <a:t>) // </a:t>
            </a:r>
            <a:r>
              <a:rPr lang="en-IN" altLang="en-US">
                <a:solidFill>
                  <a:srgbClr val="C00000"/>
                </a:solidFill>
              </a:rPr>
              <a:t>D1.operator &lt; (D2)</a:t>
            </a:r>
          </a:p>
          <a:p>
            <a:pPr eaLnBrk="1" hangingPunct="1"/>
            <a:r>
              <a:rPr lang="en-IN" altLang="en-US"/>
              <a:t>    {</a:t>
            </a:r>
          </a:p>
          <a:p>
            <a:pPr eaLnBrk="1" hangingPunct="1"/>
            <a:r>
              <a:rPr lang="en-IN" altLang="en-US"/>
              <a:t>      cout &lt;&lt; "D1 is less than D2 " &lt;&lt; endl;  }</a:t>
            </a:r>
          </a:p>
          <a:p>
            <a:pPr eaLnBrk="1" hangingPunct="1"/>
            <a:r>
              <a:rPr lang="en-IN" altLang="en-US"/>
              <a:t>   else {</a:t>
            </a:r>
          </a:p>
          <a:p>
            <a:pPr eaLnBrk="1" hangingPunct="1"/>
            <a:r>
              <a:rPr lang="en-IN" altLang="en-US"/>
              <a:t>       cout &lt;&lt; "D2 is less than D1 " &lt;&lt; endl; }</a:t>
            </a:r>
          </a:p>
          <a:p>
            <a:pPr eaLnBrk="1" hangingPunct="1"/>
            <a:r>
              <a:rPr lang="en-IN" altLang="en-US"/>
              <a:t>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97C5149-4398-480C-B902-E6E0AF96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73118-8EF0-4C49-93B7-B389AB5CF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+ and - are unary operators. They can be overloaded, too. Since the unary operator operates on one operand that is the calling object itself, the unary function operator has no parameters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E3DC47C6-9B02-43E6-ACEA-13B2E0A5E3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2A0709-7DBB-498A-87FE-F83290009164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B6DA8569-229B-442E-9183-94B36B2A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4572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class NUM</a:t>
            </a:r>
          </a:p>
          <a:p>
            <a:pPr eaLnBrk="1" hangingPunct="1"/>
            <a:r>
              <a:rPr lang="en-IN" altLang="en-US"/>
              <a:t>{     private:  int n;</a:t>
            </a:r>
          </a:p>
          <a:p>
            <a:pPr eaLnBrk="1" hangingPunct="1"/>
            <a:r>
              <a:rPr lang="en-IN" altLang="en-US"/>
              <a:t>      public:</a:t>
            </a:r>
          </a:p>
          <a:p>
            <a:pPr eaLnBrk="1" hangingPunct="1"/>
            <a:r>
              <a:rPr lang="en-IN" altLang="en-US"/>
              <a:t>        void getNum(int x)</a:t>
            </a:r>
          </a:p>
          <a:p>
            <a:pPr eaLnBrk="1" hangingPunct="1"/>
            <a:r>
              <a:rPr lang="en-IN" altLang="en-US"/>
              <a:t>        { n=x;  }</a:t>
            </a:r>
          </a:p>
          <a:p>
            <a:pPr eaLnBrk="1" hangingPunct="1"/>
            <a:r>
              <a:rPr lang="en-IN" altLang="en-US"/>
              <a:t>        void dispNum( )</a:t>
            </a:r>
          </a:p>
          <a:p>
            <a:pPr eaLnBrk="1" hangingPunct="1"/>
            <a:r>
              <a:rPr lang="en-IN" altLang="en-US"/>
              <a:t>        { cout &lt;&lt; "value of n is: " &lt;&lt; n; }</a:t>
            </a:r>
          </a:p>
          <a:p>
            <a:pPr eaLnBrk="1" hangingPunct="1"/>
            <a:r>
              <a:rPr lang="en-IN" altLang="en-US"/>
              <a:t>       </a:t>
            </a:r>
          </a:p>
          <a:p>
            <a:pPr eaLnBrk="1" hangingPunct="1"/>
            <a:r>
              <a:rPr lang="en-IN" altLang="en-US"/>
              <a:t> </a:t>
            </a:r>
            <a:r>
              <a:rPr lang="en-IN" altLang="en-US">
                <a:solidFill>
                  <a:srgbClr val="C00000"/>
                </a:solidFill>
              </a:rPr>
              <a:t>// </a:t>
            </a:r>
            <a:r>
              <a:rPr lang="en-IN" altLang="en-US" b="1">
                <a:solidFill>
                  <a:srgbClr val="C00000"/>
                </a:solidFill>
              </a:rPr>
              <a:t>Operator Function as</a:t>
            </a:r>
            <a:r>
              <a:rPr lang="en-IN" altLang="en-US">
                <a:solidFill>
                  <a:srgbClr val="C00000"/>
                </a:solidFill>
              </a:rPr>
              <a:t> </a:t>
            </a:r>
            <a:r>
              <a:rPr lang="en-IN" altLang="en-US" b="1">
                <a:solidFill>
                  <a:srgbClr val="C00000"/>
                </a:solidFill>
              </a:rPr>
              <a:t>Member Function </a:t>
            </a:r>
          </a:p>
          <a:p>
            <a:pPr eaLnBrk="1" hangingPunct="1"/>
            <a:r>
              <a:rPr lang="en-IN" altLang="en-US"/>
              <a:t>        </a:t>
            </a:r>
            <a:r>
              <a:rPr lang="en-IN" altLang="en-US">
                <a:solidFill>
                  <a:srgbClr val="C00000"/>
                </a:solidFill>
              </a:rPr>
              <a:t>void operator - ()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{  n=-n;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endParaRPr lang="en-IN" altLang="en-US"/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C2CDEF59-C78F-4A59-BE50-BEED343BA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644775"/>
            <a:ext cx="3429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NUM num;</a:t>
            </a:r>
          </a:p>
          <a:p>
            <a:pPr eaLnBrk="1" hangingPunct="1"/>
            <a:r>
              <a:rPr lang="en-IN" altLang="en-US"/>
              <a:t>    num.getNum(10);</a:t>
            </a:r>
          </a:p>
          <a:p>
            <a:pPr eaLnBrk="1" hangingPunct="1"/>
            <a:r>
              <a:rPr lang="en-IN" altLang="en-US"/>
              <a:t>    </a:t>
            </a:r>
            <a:r>
              <a:rPr lang="en-IN" altLang="en-US">
                <a:solidFill>
                  <a:srgbClr val="C00000"/>
                </a:solidFill>
              </a:rPr>
              <a:t>-num;   //num.operator-()</a:t>
            </a:r>
          </a:p>
          <a:p>
            <a:pPr eaLnBrk="1" hangingPunct="1"/>
            <a:r>
              <a:rPr lang="en-IN" altLang="en-US"/>
              <a:t>    num.dispNum();</a:t>
            </a:r>
          </a:p>
          <a:p>
            <a:pPr eaLnBrk="1" hangingPunct="1"/>
            <a:r>
              <a:rPr lang="en-IN" altLang="en-US"/>
              <a:t>    cout &lt;&lt; endl;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99B6AB85-8B9E-4927-BBDE-33C3073EC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638800"/>
            <a:ext cx="1992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value of n is: -10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4B38E61-D29A-410D-94FD-93118BCA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ED3E-7B3C-4900-90E6-919D48F49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Unary Minus Overloading using Friend Function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D82E0F34-8DA2-434F-99F5-74A7E87CEA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EAC2CC-B25C-4CF9-AF94-55E96FC3B522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CC569F1B-C8C3-4B6F-A3DD-F46F96127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81200"/>
            <a:ext cx="457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class NUM</a:t>
            </a:r>
          </a:p>
          <a:p>
            <a:pPr eaLnBrk="1" hangingPunct="1"/>
            <a:r>
              <a:rPr lang="en-IN" altLang="en-US"/>
              <a:t>{     private:  int n;</a:t>
            </a:r>
          </a:p>
          <a:p>
            <a:pPr eaLnBrk="1" hangingPunct="1"/>
            <a:r>
              <a:rPr lang="en-IN" altLang="en-US"/>
              <a:t>      public:</a:t>
            </a:r>
          </a:p>
          <a:p>
            <a:pPr eaLnBrk="1" hangingPunct="1"/>
            <a:r>
              <a:rPr lang="en-IN" altLang="en-US"/>
              <a:t>        void getNum(int x)</a:t>
            </a:r>
          </a:p>
          <a:p>
            <a:pPr eaLnBrk="1" hangingPunct="1"/>
            <a:r>
              <a:rPr lang="en-IN" altLang="en-US"/>
              <a:t>        { n=x;  }</a:t>
            </a:r>
          </a:p>
          <a:p>
            <a:pPr eaLnBrk="1" hangingPunct="1"/>
            <a:r>
              <a:rPr lang="en-IN" altLang="en-US"/>
              <a:t>        void dispNum( )</a:t>
            </a:r>
          </a:p>
          <a:p>
            <a:pPr eaLnBrk="1" hangingPunct="1"/>
            <a:r>
              <a:rPr lang="en-IN" altLang="en-US"/>
              <a:t>        { cout &lt;&lt; "value of n is: " &lt;&lt; n; 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friend void operator - (NUM n1) ; 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void operator - (NUM n1) ; 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{ n1.n = - n1.n; }</a:t>
            </a:r>
          </a:p>
          <a:p>
            <a:pPr eaLnBrk="1" hangingPunct="1"/>
            <a:endParaRPr lang="en-IN" altLang="en-US"/>
          </a:p>
          <a:p>
            <a:pPr eaLnBrk="1" hangingPunct="1"/>
            <a:endParaRPr lang="en-IN" altLang="en-US"/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FBD031C2-FD57-49E8-B266-E48DF0E6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035175"/>
            <a:ext cx="3429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NUM num;</a:t>
            </a:r>
          </a:p>
          <a:p>
            <a:pPr eaLnBrk="1" hangingPunct="1"/>
            <a:r>
              <a:rPr lang="en-IN" altLang="en-US"/>
              <a:t>    num.getNum(10);</a:t>
            </a:r>
          </a:p>
          <a:p>
            <a:pPr eaLnBrk="1" hangingPunct="1"/>
            <a:r>
              <a:rPr lang="en-IN" altLang="en-US"/>
              <a:t>    </a:t>
            </a:r>
            <a:r>
              <a:rPr lang="en-IN" altLang="en-US">
                <a:solidFill>
                  <a:srgbClr val="C00000"/>
                </a:solidFill>
              </a:rPr>
              <a:t>-num;   //operator-(num)</a:t>
            </a:r>
          </a:p>
          <a:p>
            <a:pPr eaLnBrk="1" hangingPunct="1"/>
            <a:r>
              <a:rPr lang="en-IN" altLang="en-US"/>
              <a:t>    num.dispNum();</a:t>
            </a:r>
          </a:p>
          <a:p>
            <a:pPr eaLnBrk="1" hangingPunct="1"/>
            <a:r>
              <a:rPr lang="en-IN" altLang="en-US"/>
              <a:t>    cout &lt;&lt; endl;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53FDC35F-9374-48DA-AC8E-AD12F4EDA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029200"/>
            <a:ext cx="1992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b="1"/>
              <a:t>value of n is: -10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4A7B38D-0F4A-4366-9164-8CEFF3EA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E202-F924-48B4-BFC3-7BDC7945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Unary operator function as a member function</a:t>
            </a:r>
          </a:p>
          <a:p>
            <a:pPr>
              <a:defRPr/>
            </a:pPr>
            <a:endParaRPr lang="en-US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IN" sz="2000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0B25E07C-2BF9-4516-9FD9-BE1D9C80C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F6ABF9-1F3D-423E-8198-84B381AC3CC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3AF4A-4979-42DD-B41F-89A1AC875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76425"/>
            <a:ext cx="5638800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class Point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{   	</a:t>
            </a:r>
            <a:r>
              <a:rPr lang="en-US" sz="2000" dirty="0" err="1">
                <a:latin typeface="Arial" charset="0"/>
              </a:rPr>
              <a:t>int</a:t>
            </a:r>
            <a:r>
              <a:rPr lang="en-US" sz="2000" dirty="0">
                <a:latin typeface="Arial" charset="0"/>
              </a:rPr>
              <a:t> x, y;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       public: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  	Point() {x = y = 0; }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      Point &amp; operator++()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    { 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	x++;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	y++;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	return *this;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   }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Point&amp; operator--()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	{	x--;  	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          y--;  	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          return *this;}</a:t>
            </a:r>
          </a:p>
          <a:p>
            <a:pPr lvl="1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>
                <a:latin typeface="Arial" charset="0"/>
              </a:rPr>
              <a:t>};</a:t>
            </a: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BCF8DE4A-6D30-468D-848D-DE73F5CD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324100"/>
            <a:ext cx="41910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int main()</a:t>
            </a:r>
          </a:p>
          <a:p>
            <a:pPr eaLnBrk="1" hangingPunct="1"/>
            <a:r>
              <a:rPr lang="en-US" altLang="en-US" sz="2000"/>
              <a:t>{</a:t>
            </a:r>
          </a:p>
          <a:p>
            <a:pPr eaLnBrk="1" hangingPunct="1"/>
            <a:r>
              <a:rPr lang="en-US" altLang="en-US" sz="2000"/>
              <a:t>       Point p, p1,p2;</a:t>
            </a:r>
          </a:p>
          <a:p>
            <a:pPr eaLnBrk="1" hangingPunct="1"/>
            <a:r>
              <a:rPr lang="en-US" altLang="en-US" sz="2000"/>
              <a:t>       </a:t>
            </a:r>
            <a:r>
              <a:rPr lang="en-US" altLang="en-US" sz="2000">
                <a:solidFill>
                  <a:srgbClr val="C00000"/>
                </a:solidFill>
              </a:rPr>
              <a:t>p1= p++; // p.operator++()	</a:t>
            </a:r>
          </a:p>
          <a:p>
            <a:pPr eaLnBrk="1" hangingPunct="1"/>
            <a:r>
              <a:rPr lang="en-US" altLang="en-US" sz="2000">
                <a:solidFill>
                  <a:srgbClr val="C00000"/>
                </a:solidFill>
              </a:rPr>
              <a:t>       p2= --p;   // p.operator -- ()</a:t>
            </a:r>
          </a:p>
          <a:p>
            <a:pPr eaLnBrk="1" hangingPunct="1"/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1B71305C-0948-484C-930A-2252543E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3644-50B0-4A59-8372-411AEB79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Unary operator function as a friend function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CA425C1A-6037-4C71-9128-EAF7040942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7F2CD1-B575-45DA-BB11-BA7BB1F259B3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3ACAA0-87D2-4CA1-8F01-32130DC6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73250"/>
            <a:ext cx="44196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class Point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{   	</a:t>
            </a:r>
            <a:r>
              <a:rPr lang="en-US" b="1" dirty="0" err="1"/>
              <a:t>int</a:t>
            </a:r>
            <a:r>
              <a:rPr lang="en-US" b="1" dirty="0"/>
              <a:t> x, y;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  public: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  	Point() {x = y = 0; }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	Point &amp; operator++()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	{	x++;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		y++;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		return *this;	}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	</a:t>
            </a:r>
            <a:r>
              <a:rPr lang="en-US" b="1" dirty="0">
                <a:solidFill>
                  <a:srgbClr val="C00000"/>
                </a:solidFill>
              </a:rPr>
              <a:t>friend point operator -- (point);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/>
              <a:t>};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>
                <a:solidFill>
                  <a:srgbClr val="C00000"/>
                </a:solidFill>
              </a:rPr>
              <a:t>Point operator -- (point &amp;p)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>
                <a:solidFill>
                  <a:srgbClr val="C00000"/>
                </a:solidFill>
              </a:rPr>
              <a:t>{	</a:t>
            </a:r>
            <a:r>
              <a:rPr lang="en-US" b="1" dirty="0" err="1">
                <a:solidFill>
                  <a:srgbClr val="C00000"/>
                </a:solidFill>
              </a:rPr>
              <a:t>p.x</a:t>
            </a:r>
            <a:r>
              <a:rPr lang="en-US" b="1" dirty="0">
                <a:solidFill>
                  <a:srgbClr val="C00000"/>
                </a:solidFill>
              </a:rPr>
              <a:t>--;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>
                <a:solidFill>
                  <a:srgbClr val="C00000"/>
                </a:solidFill>
              </a:rPr>
              <a:t>  	</a:t>
            </a:r>
            <a:r>
              <a:rPr lang="en-US" b="1" dirty="0" err="1">
                <a:solidFill>
                  <a:srgbClr val="C00000"/>
                </a:solidFill>
              </a:rPr>
              <a:t>p.y</a:t>
            </a:r>
            <a:r>
              <a:rPr lang="en-US" b="1" dirty="0">
                <a:solidFill>
                  <a:srgbClr val="C00000"/>
                </a:solidFill>
              </a:rPr>
              <a:t>--;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>
                <a:solidFill>
                  <a:srgbClr val="C00000"/>
                </a:solidFill>
              </a:rPr>
              <a:t>  	return p; 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b="1" dirty="0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FCB23A10-05F5-4C42-84D7-3BDB159B5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728913"/>
            <a:ext cx="3048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	main()</a:t>
            </a:r>
          </a:p>
          <a:p>
            <a:pPr eaLnBrk="1" hangingPunct="1"/>
            <a:r>
              <a:rPr lang="en-US" altLang="en-US" b="1"/>
              <a:t>	{</a:t>
            </a:r>
          </a:p>
          <a:p>
            <a:pPr eaLnBrk="1" hangingPunct="1"/>
            <a:r>
              <a:rPr lang="en-US" altLang="en-US" b="1"/>
              <a:t>		Point p, p1,p2;</a:t>
            </a:r>
          </a:p>
          <a:p>
            <a:pPr eaLnBrk="1" hangingPunct="1"/>
            <a:r>
              <a:rPr lang="en-US" altLang="en-US" b="1"/>
              <a:t>		</a:t>
            </a:r>
            <a:r>
              <a:rPr lang="en-US" altLang="en-US" b="1">
                <a:solidFill>
                  <a:srgbClr val="C00000"/>
                </a:solidFill>
              </a:rPr>
              <a:t>p1= p++;	</a:t>
            </a:r>
          </a:p>
          <a:p>
            <a:pPr eaLnBrk="1" hangingPunct="1"/>
            <a:r>
              <a:rPr lang="en-US" altLang="en-US" b="1">
                <a:solidFill>
                  <a:srgbClr val="C00000"/>
                </a:solidFill>
              </a:rPr>
              <a:t>		p2= --p;</a:t>
            </a:r>
          </a:p>
          <a:p>
            <a:pPr eaLnBrk="1" hangingPunct="1"/>
            <a:r>
              <a:rPr lang="en-US" altLang="en-US" b="1"/>
              <a:t>	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2797411B-B3B4-4608-9DDB-C5855A44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7194-E8AC-4519-A358-C00A7318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There is no distinction between the prefix and postfix overloaded operator functions</a:t>
            </a:r>
          </a:p>
          <a:p>
            <a:pPr>
              <a:defRPr/>
            </a:pPr>
            <a:r>
              <a:rPr lang="en-US" sz="2000" dirty="0"/>
              <a:t>The new syntax for </a:t>
            </a:r>
            <a:r>
              <a:rPr lang="en-US" sz="2000" b="1" dirty="0"/>
              <a:t>postfix operator overloaded function </a:t>
            </a:r>
            <a:r>
              <a:rPr lang="en-US" sz="2000" dirty="0"/>
              <a:t>is</a:t>
            </a:r>
          </a:p>
          <a:p>
            <a:pPr lvl="1">
              <a:defRPr/>
            </a:pPr>
            <a:r>
              <a:rPr lang="en-US" sz="2000" dirty="0">
                <a:solidFill>
                  <a:srgbClr val="C00000"/>
                </a:solidFill>
              </a:rPr>
              <a:t>ret-type </a:t>
            </a:r>
            <a:r>
              <a:rPr lang="en-US" sz="2000" dirty="0" err="1">
                <a:solidFill>
                  <a:srgbClr val="C00000"/>
                </a:solidFill>
              </a:rPr>
              <a:t>operatorop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)                   // member function</a:t>
            </a:r>
          </a:p>
          <a:p>
            <a:pPr lvl="1">
              <a:defRPr/>
            </a:pPr>
            <a:r>
              <a:rPr lang="en-US" sz="2000" dirty="0">
                <a:solidFill>
                  <a:srgbClr val="C00000"/>
                </a:solidFill>
              </a:rPr>
              <a:t>ret-type </a:t>
            </a:r>
            <a:r>
              <a:rPr lang="en-US" sz="2000" dirty="0" err="1">
                <a:solidFill>
                  <a:srgbClr val="C00000"/>
                </a:solidFill>
              </a:rPr>
              <a:t>operatorop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dirty="0" err="1">
                <a:solidFill>
                  <a:srgbClr val="C00000"/>
                </a:solidFill>
              </a:rPr>
              <a:t>arg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dirty="0" err="1">
                <a:solidFill>
                  <a:srgbClr val="C00000"/>
                </a:solidFill>
              </a:rPr>
              <a:t>int</a:t>
            </a:r>
            <a:r>
              <a:rPr lang="en-US" sz="2000" dirty="0">
                <a:solidFill>
                  <a:srgbClr val="C00000"/>
                </a:solidFill>
              </a:rPr>
              <a:t>) 	// friend function</a:t>
            </a: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C5081E8B-F31E-4AF1-BF67-6715FC4FD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EA33F4-9565-412E-9FEA-32B47F996649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057F49D-CADB-4138-956C-38FD6964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30725"/>
            <a:ext cx="66659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/>
              <a:t>friend Point&amp; operator++( Point&amp; )       // Prefix increment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/>
              <a:t>friend Point&amp; operator++( Point&amp;, </a:t>
            </a:r>
            <a:r>
              <a:rPr lang="en-US" sz="2000" dirty="0" err="1"/>
              <a:t>int</a:t>
            </a:r>
            <a:r>
              <a:rPr lang="en-US" sz="2000" dirty="0"/>
              <a:t> ) // Postfix increment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/>
              <a:t>friend Point&amp; operator--( Point&amp; )        // Prefix decrement</a:t>
            </a:r>
          </a:p>
          <a:p>
            <a:pPr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/>
            </a:pPr>
            <a:r>
              <a:rPr lang="en-US" sz="2000" dirty="0"/>
              <a:t>friend Point&amp; operator--( Point&amp;, </a:t>
            </a:r>
            <a:r>
              <a:rPr lang="en-US" sz="2000" dirty="0" err="1"/>
              <a:t>int</a:t>
            </a:r>
            <a:r>
              <a:rPr lang="en-US" sz="2000" dirty="0"/>
              <a:t> )  // Postfix decrement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EA003CF9-62C2-469B-A977-B68E8541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310BFB27-E858-4F35-BC13-70EE16106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90B947-5BEC-4AF3-9414-C8C3F2829460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1">
            <a:extLst>
              <a:ext uri="{FF2B5EF4-FFF2-40B4-BE49-F238E27FC236}">
                <a16:creationId xmlns:a16="http://schemas.microsoft.com/office/drawing/2014/main" id="{3F7B4ECF-8818-4A78-A315-DEA7A4C0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143000"/>
            <a:ext cx="7848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class Point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public:</a:t>
            </a:r>
          </a:p>
          <a:p>
            <a:pPr eaLnBrk="1" hangingPunct="1"/>
            <a:r>
              <a:rPr lang="en-IN" altLang="en-US"/>
              <a:t>       // Declare prefix and postfix increment operators.</a:t>
            </a:r>
          </a:p>
          <a:p>
            <a:pPr eaLnBrk="1" hangingPunct="1"/>
            <a:r>
              <a:rPr lang="en-IN" altLang="en-US"/>
              <a:t>       Point&amp; operator++();       // Prefix increment operator.</a:t>
            </a:r>
          </a:p>
          <a:p>
            <a:pPr eaLnBrk="1" hangingPunct="1"/>
            <a:r>
              <a:rPr lang="en-IN" altLang="en-US"/>
              <a:t>       Point operator++(int);     // Postfix increment operator.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     // Declare prefix and postfix decrement operators.</a:t>
            </a:r>
          </a:p>
          <a:p>
            <a:pPr eaLnBrk="1" hangingPunct="1"/>
            <a:r>
              <a:rPr lang="en-IN" altLang="en-US"/>
              <a:t>      Point&amp; operator--();       // Prefix decrement operator.</a:t>
            </a:r>
          </a:p>
          <a:p>
            <a:pPr eaLnBrk="1" hangingPunct="1"/>
            <a:r>
              <a:rPr lang="en-IN" altLang="en-US"/>
              <a:t>      Point operator--(int);     // Postfix decrement operator.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    // Define default constructor.</a:t>
            </a:r>
          </a:p>
          <a:p>
            <a:pPr eaLnBrk="1" hangingPunct="1"/>
            <a:r>
              <a:rPr lang="en-IN" altLang="en-US"/>
              <a:t>       Point() { x = y = 0; 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    // Define accessor functions.</a:t>
            </a:r>
          </a:p>
          <a:p>
            <a:pPr eaLnBrk="1" hangingPunct="1"/>
            <a:r>
              <a:rPr lang="en-IN" altLang="en-US"/>
              <a:t>      int x() { return x; }</a:t>
            </a:r>
          </a:p>
          <a:p>
            <a:pPr eaLnBrk="1" hangingPunct="1"/>
            <a:r>
              <a:rPr lang="en-IN" altLang="en-US"/>
              <a:t>      int y() { return y; }</a:t>
            </a:r>
          </a:p>
          <a:p>
            <a:pPr eaLnBrk="1" hangingPunct="1"/>
            <a:r>
              <a:rPr lang="en-IN" altLang="en-US"/>
              <a:t>     private:</a:t>
            </a:r>
          </a:p>
          <a:p>
            <a:pPr eaLnBrk="1" hangingPunct="1"/>
            <a:r>
              <a:rPr lang="en-IN" altLang="en-US"/>
              <a:t>           int x, y;</a:t>
            </a:r>
          </a:p>
          <a:p>
            <a:pPr eaLnBrk="1" hangingPunct="1"/>
            <a:r>
              <a:rPr lang="en-IN" altLang="en-US"/>
              <a:t>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747C493-DA40-43BA-B9BC-C1C06724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Unary Operator Overloading</a:t>
            </a:r>
            <a:endParaRPr lang="en-IN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0C0CDFAE-81F9-4FA2-8E73-F1C1933CA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A5050F-FE2E-4C4A-9D87-6655675D297D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C5089D76-B84E-4812-824F-D24E3EDEB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19213"/>
            <a:ext cx="45720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// Define prefix increment operator.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Point&amp; Point::operator++()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{</a:t>
            </a:r>
          </a:p>
          <a:p>
            <a:pPr eaLnBrk="1" hangingPunct="1"/>
            <a:r>
              <a:rPr lang="en-IN" altLang="en-US"/>
              <a:t>   x++;</a:t>
            </a:r>
          </a:p>
          <a:p>
            <a:pPr eaLnBrk="1" hangingPunct="1"/>
            <a:r>
              <a:rPr lang="en-IN" altLang="en-US"/>
              <a:t>   y++;</a:t>
            </a:r>
          </a:p>
          <a:p>
            <a:pPr eaLnBrk="1" hangingPunct="1"/>
            <a:r>
              <a:rPr lang="en-IN" altLang="en-US"/>
              <a:t>   return *this;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Define postfix increment operator.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Point Point::operator++(int)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Point temp = *this;</a:t>
            </a:r>
          </a:p>
          <a:p>
            <a:pPr eaLnBrk="1" hangingPunct="1"/>
            <a:r>
              <a:rPr lang="en-IN" altLang="en-US"/>
              <a:t>   ++*this;</a:t>
            </a:r>
          </a:p>
          <a:p>
            <a:pPr eaLnBrk="1" hangingPunct="1"/>
            <a:r>
              <a:rPr lang="en-IN" altLang="en-US"/>
              <a:t>   return temp;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622F1BE1-A9DE-42EF-9468-264C1BEBE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319213"/>
            <a:ext cx="45720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// Define prefix decrement operator.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Point&amp; Point::operator--()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x--;</a:t>
            </a:r>
          </a:p>
          <a:p>
            <a:pPr eaLnBrk="1" hangingPunct="1"/>
            <a:r>
              <a:rPr lang="en-IN" altLang="en-US"/>
              <a:t>    y--;</a:t>
            </a:r>
          </a:p>
          <a:p>
            <a:pPr eaLnBrk="1" hangingPunct="1"/>
            <a:r>
              <a:rPr lang="en-IN" altLang="en-US"/>
              <a:t>   return *this;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// Define postfix decrement operator.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Point Point::operator--(int)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Point temp = *this;</a:t>
            </a:r>
          </a:p>
          <a:p>
            <a:pPr eaLnBrk="1" hangingPunct="1"/>
            <a:r>
              <a:rPr lang="en-IN" altLang="en-US"/>
              <a:t>   --*this;</a:t>
            </a:r>
          </a:p>
          <a:p>
            <a:pPr eaLnBrk="1" hangingPunct="1"/>
            <a:r>
              <a:rPr lang="en-IN" altLang="en-US"/>
              <a:t>   return temp;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8423A2EA-256A-4662-B8F6-6CE18E632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343400"/>
            <a:ext cx="24384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main()</a:t>
            </a:r>
          </a:p>
          <a:p>
            <a:pPr eaLnBrk="1" hangingPunct="1"/>
            <a:r>
              <a:rPr lang="en-US" altLang="en-US"/>
              <a:t>{</a:t>
            </a:r>
          </a:p>
          <a:p>
            <a:pPr eaLnBrk="1" hangingPunct="1"/>
            <a:r>
              <a:rPr lang="en-US" altLang="en-US"/>
              <a:t>    Point  p, p1,p2;</a:t>
            </a:r>
          </a:p>
          <a:p>
            <a:pPr eaLnBrk="1" hangingPunct="1"/>
            <a:r>
              <a:rPr lang="en-US" altLang="en-US"/>
              <a:t>    p1= p++;</a:t>
            </a:r>
          </a:p>
          <a:p>
            <a:pPr eaLnBrk="1" hangingPunct="1"/>
            <a:r>
              <a:rPr lang="en-US" altLang="en-US">
                <a:solidFill>
                  <a:srgbClr val="C00000"/>
                </a:solidFill>
              </a:rPr>
              <a:t>   // p.operator++(int)  </a:t>
            </a:r>
          </a:p>
          <a:p>
            <a:pPr eaLnBrk="1" hangingPunct="1"/>
            <a:r>
              <a:rPr lang="en-US" altLang="en-US"/>
              <a:t>    p2= --p;</a:t>
            </a:r>
          </a:p>
          <a:p>
            <a:pPr eaLnBrk="1" hangingPunct="1"/>
            <a:r>
              <a:rPr lang="en-US" altLang="en-US"/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3F01C201-322E-4CFA-9436-A10E1B2D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Friend operator Functions Add Flexibility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A0AA-3E21-4289-B290-2456CE1E6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Overloading an operator by using a friend or a member function makes, </a:t>
            </a:r>
            <a:r>
              <a:rPr lang="en-US" sz="2000" dirty="0">
                <a:solidFill>
                  <a:srgbClr val="C00000"/>
                </a:solidFill>
              </a:rPr>
              <a:t>no functional difference</a:t>
            </a:r>
            <a:endParaRPr lang="en-US" sz="2000" dirty="0"/>
          </a:p>
          <a:p>
            <a:pPr eaLnBrk="1" hangingPunct="1"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In exceptional situation in which overloading by using a friend increases the </a:t>
            </a:r>
            <a:r>
              <a:rPr lang="en-US" sz="2000" dirty="0">
                <a:solidFill>
                  <a:srgbClr val="C00000"/>
                </a:solidFill>
              </a:rPr>
              <a:t>flexibility</a:t>
            </a:r>
            <a:r>
              <a:rPr lang="en-US" sz="2000" dirty="0"/>
              <a:t> of an overloaded operator</a:t>
            </a:r>
          </a:p>
          <a:p>
            <a:pPr eaLnBrk="1" hangingPunct="1">
              <a:defRPr/>
            </a:pPr>
            <a:r>
              <a:rPr lang="en-US" sz="2200" b="1" dirty="0"/>
              <a:t>For example</a:t>
            </a:r>
          </a:p>
          <a:p>
            <a:pPr lvl="2"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Object + 100	// object. Operator+(100)	</a:t>
            </a:r>
          </a:p>
          <a:p>
            <a:pPr lvl="2"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100 + object  // </a:t>
            </a:r>
            <a:r>
              <a:rPr lang="en-US" dirty="0">
                <a:solidFill>
                  <a:srgbClr val="C00000"/>
                </a:solidFill>
              </a:rPr>
              <a:t>In this case, it is integer that appears on the left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C00000"/>
                </a:solidFill>
              </a:rPr>
              <a:t>//100.operator+(object)     //invalid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C00000"/>
                </a:solidFill>
              </a:rPr>
              <a:t>//operator + (object, 100)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C00000"/>
                </a:solidFill>
              </a:rPr>
              <a:t>// operator + (100, object)</a:t>
            </a:r>
          </a:p>
          <a:p>
            <a:pPr eaLnBrk="1" hangingPunct="1">
              <a:defRPr/>
            </a:pPr>
            <a:endParaRPr lang="en-US" sz="2000" dirty="0"/>
          </a:p>
          <a:p>
            <a:pPr>
              <a:defRPr/>
            </a:pPr>
            <a:endParaRPr lang="en-IN" sz="2000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3BC76D02-4AF6-4548-9ACC-0697B38343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77E5A5-14A0-4EE6-9DAD-892CFCAF8745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5707A644-4F04-4538-A8C2-FB762B4D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Friend Operator Functions Add Flexibility</a:t>
            </a:r>
            <a:endParaRPr lang="en-IN" altLang="en-US"/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BE5D51E-F528-451C-9A47-B696CAB76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F220B5-5AA0-4D9F-A5ED-A03BD549573F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1AE0DC2B-7B0C-47DC-87DD-48695AF4E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1447800"/>
            <a:ext cx="4230687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b="1"/>
              <a:t>class Point</a:t>
            </a:r>
          </a:p>
          <a:p>
            <a:pPr algn="just" eaLnBrk="1" hangingPunct="1"/>
            <a:r>
              <a:rPr lang="en-US" altLang="en-US" b="1"/>
              <a:t>{</a:t>
            </a:r>
          </a:p>
          <a:p>
            <a:pPr algn="just" eaLnBrk="1" hangingPunct="1"/>
            <a:r>
              <a:rPr lang="en-US" altLang="en-US" b="1"/>
              <a:t>	public:</a:t>
            </a:r>
          </a:p>
          <a:p>
            <a:pPr algn="just" eaLnBrk="1" hangingPunct="1"/>
            <a:r>
              <a:rPr lang="en-US" altLang="en-US" b="1"/>
              <a:t>		int x,y;</a:t>
            </a:r>
          </a:p>
          <a:p>
            <a:pPr algn="just" eaLnBrk="1" hangingPunct="1"/>
            <a:r>
              <a:rPr lang="en-US" altLang="en-US" b="1"/>
              <a:t>		Point () {};</a:t>
            </a:r>
          </a:p>
          <a:p>
            <a:pPr algn="just" eaLnBrk="1" hangingPunct="1"/>
            <a:r>
              <a:rPr lang="en-US" altLang="en-US" b="1"/>
              <a:t>		Point (int, int);</a:t>
            </a:r>
          </a:p>
          <a:p>
            <a:pPr algn="just" eaLnBrk="1" hangingPunct="1"/>
            <a:r>
              <a:rPr lang="en-US" altLang="en-US" b="1">
                <a:solidFill>
                  <a:srgbClr val="0000FF"/>
                </a:solidFill>
              </a:rPr>
              <a:t>	friend Point operator +(int, Point);</a:t>
            </a:r>
          </a:p>
          <a:p>
            <a:pPr algn="just" eaLnBrk="1" hangingPunct="1"/>
            <a:r>
              <a:rPr lang="en-US" altLang="en-US" b="1">
                <a:solidFill>
                  <a:srgbClr val="FF3300"/>
                </a:solidFill>
              </a:rPr>
              <a:t>	</a:t>
            </a:r>
            <a:r>
              <a:rPr lang="en-US" altLang="en-US" b="1">
                <a:solidFill>
                  <a:srgbClr val="C00000"/>
                </a:solidFill>
              </a:rPr>
              <a:t>friend Point operator +(Point, int);</a:t>
            </a:r>
          </a:p>
          <a:p>
            <a:pPr algn="just" eaLnBrk="1" hangingPunct="1"/>
            <a:r>
              <a:rPr lang="en-US" altLang="en-US" b="1"/>
              <a:t>};</a:t>
            </a:r>
          </a:p>
          <a:p>
            <a:pPr algn="just" eaLnBrk="1" hangingPunct="1"/>
            <a:r>
              <a:rPr lang="en-US" altLang="en-US" b="1"/>
              <a:t>Point::Point (int a, int b) </a:t>
            </a:r>
          </a:p>
          <a:p>
            <a:pPr algn="just" eaLnBrk="1" hangingPunct="1"/>
            <a:r>
              <a:rPr lang="en-US" altLang="en-US" b="1"/>
              <a:t>{  x = a;  y = b; }</a:t>
            </a:r>
          </a:p>
          <a:p>
            <a:pPr algn="just" eaLnBrk="1" hangingPunct="1"/>
            <a:endParaRPr lang="en-US" altLang="en-US" b="1"/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Point operator+ (Point P, int i) </a:t>
            </a:r>
          </a:p>
          <a:p>
            <a:pPr algn="just" eaLnBrk="1" hangingPunct="1"/>
            <a:r>
              <a:rPr lang="en-US" altLang="en-US" b="1"/>
              <a:t>{  	Point temp;</a:t>
            </a:r>
          </a:p>
          <a:p>
            <a:pPr algn="just" eaLnBrk="1" hangingPunct="1"/>
            <a:r>
              <a:rPr lang="en-US" altLang="en-US" b="1"/>
              <a:t>  	temp.x = P.x + i;</a:t>
            </a:r>
          </a:p>
          <a:p>
            <a:pPr algn="just" eaLnBrk="1" hangingPunct="1"/>
            <a:r>
              <a:rPr lang="en-US" altLang="en-US" b="1"/>
              <a:t>  	temp.y = P.y + i;</a:t>
            </a:r>
          </a:p>
          <a:p>
            <a:pPr algn="just" eaLnBrk="1" hangingPunct="1"/>
            <a:r>
              <a:rPr lang="en-US" altLang="en-US" b="1"/>
              <a:t>  	return (temp); </a:t>
            </a:r>
          </a:p>
          <a:p>
            <a:pPr algn="just" eaLnBrk="1" hangingPunct="1"/>
            <a:r>
              <a:rPr lang="en-US" altLang="en-US" b="1"/>
              <a:t>}</a:t>
            </a:r>
          </a:p>
          <a:p>
            <a:pPr algn="just" eaLnBrk="1" hangingPunct="1"/>
            <a:endParaRPr lang="en-US" altLang="en-US" b="1"/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48E416EC-E58C-466E-A18A-E747E8E0B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584325"/>
            <a:ext cx="3810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b="1">
                <a:solidFill>
                  <a:srgbClr val="0000FF"/>
                </a:solidFill>
              </a:rPr>
              <a:t>Point operator+ (int i, Point P) </a:t>
            </a:r>
          </a:p>
          <a:p>
            <a:pPr algn="just" eaLnBrk="1" hangingPunct="1"/>
            <a:r>
              <a:rPr lang="en-US" altLang="en-US" b="1"/>
              <a:t>{  	Point temp;</a:t>
            </a:r>
          </a:p>
          <a:p>
            <a:pPr algn="just" eaLnBrk="1" hangingPunct="1"/>
            <a:r>
              <a:rPr lang="en-US" altLang="en-US" b="1"/>
              <a:t>  	temp.x = i + P.x;</a:t>
            </a:r>
          </a:p>
          <a:p>
            <a:pPr algn="just" eaLnBrk="1" hangingPunct="1"/>
            <a:r>
              <a:rPr lang="en-US" altLang="en-US" b="1"/>
              <a:t>  	temp.y = i + P.y;</a:t>
            </a:r>
          </a:p>
          <a:p>
            <a:pPr algn="just" eaLnBrk="1" hangingPunct="1"/>
            <a:r>
              <a:rPr lang="en-US" altLang="en-US" b="1"/>
              <a:t>  	return (temp);  </a:t>
            </a:r>
          </a:p>
          <a:p>
            <a:pPr algn="just" eaLnBrk="1" hangingPunct="1"/>
            <a:r>
              <a:rPr lang="en-US" altLang="en-US" b="1"/>
              <a:t>}</a:t>
            </a:r>
          </a:p>
          <a:p>
            <a:pPr algn="just" eaLnBrk="1" hangingPunct="1"/>
            <a:endParaRPr lang="en-US" altLang="en-US" b="1"/>
          </a:p>
          <a:p>
            <a:pPr algn="just" eaLnBrk="1" hangingPunct="1"/>
            <a:r>
              <a:rPr lang="en-US" altLang="en-US" b="1"/>
              <a:t>main () </a:t>
            </a:r>
          </a:p>
          <a:p>
            <a:pPr algn="just" eaLnBrk="1" hangingPunct="1"/>
            <a:r>
              <a:rPr lang="en-US" altLang="en-US" b="1"/>
              <a:t>{  	Point a (3,1);</a:t>
            </a:r>
          </a:p>
          <a:p>
            <a:pPr algn="just" eaLnBrk="1" hangingPunct="1"/>
            <a:r>
              <a:rPr lang="en-US" altLang="en-US" b="1"/>
              <a:t> 	Point b (1,2);</a:t>
            </a:r>
          </a:p>
          <a:p>
            <a:pPr algn="just" eaLnBrk="1" hangingPunct="1"/>
            <a:r>
              <a:rPr lang="en-US" altLang="en-US" b="1"/>
              <a:t>  	Point c;</a:t>
            </a:r>
          </a:p>
          <a:p>
            <a:pPr algn="just" eaLnBrk="1" hangingPunct="1"/>
            <a:r>
              <a:rPr lang="en-US" altLang="en-US" b="1"/>
              <a:t>  	</a:t>
            </a:r>
            <a:r>
              <a:rPr lang="en-US" altLang="en-US" b="1">
                <a:solidFill>
                  <a:srgbClr val="C00000"/>
                </a:solidFill>
              </a:rPr>
              <a:t>c = a + 5; </a:t>
            </a:r>
          </a:p>
          <a:p>
            <a:pPr algn="just" eaLnBrk="1" hangingPunct="1"/>
            <a:r>
              <a:rPr lang="en-US" altLang="en-US" b="1"/>
              <a:t>	cout &lt;&lt; c.x &lt;&lt; "," &lt;&lt; c.y;</a:t>
            </a:r>
          </a:p>
          <a:p>
            <a:pPr algn="just" eaLnBrk="1" hangingPunct="1"/>
            <a:r>
              <a:rPr lang="en-US" altLang="en-US" b="1"/>
              <a:t>	</a:t>
            </a:r>
            <a:r>
              <a:rPr lang="en-US" altLang="en-US" b="1">
                <a:solidFill>
                  <a:srgbClr val="C00000"/>
                </a:solidFill>
              </a:rPr>
              <a:t>c=10+a;</a:t>
            </a:r>
          </a:p>
          <a:p>
            <a:pPr algn="just" eaLnBrk="1" hangingPunct="1"/>
            <a:r>
              <a:rPr lang="en-US" altLang="en-US" b="1"/>
              <a:t>	cout &lt;&lt; c.x &lt;&lt; "," &lt;&lt; c.y;</a:t>
            </a:r>
          </a:p>
          <a:p>
            <a:pPr algn="just" eaLnBrk="1" hangingPunct="1"/>
            <a:r>
              <a:rPr lang="en-US" altLang="en-US" b="1"/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9E30989-04E9-4D30-BF91-B9587408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/>
              <a:t>Operator Functions </a:t>
            </a:r>
            <a:br>
              <a:rPr lang="en-US" altLang="en-US" sz="3600" b="1"/>
            </a:br>
            <a:r>
              <a:rPr lang="en-US" altLang="en-US" sz="3600" b="1"/>
              <a:t>as Class Members vs. as friend Functions</a:t>
            </a:r>
            <a:r>
              <a:rPr lang="en-US" altLang="en-US" sz="4000" b="1"/>
              <a:t> </a:t>
            </a:r>
            <a:endParaRPr lang="en-IN" alt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6128B-D080-4B4E-B92B-F03959CAC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Member </a:t>
            </a:r>
            <a:r>
              <a:rPr lang="en-US" sz="2000" dirty="0" err="1">
                <a:solidFill>
                  <a:srgbClr val="C00000"/>
                </a:solidFill>
              </a:rPr>
              <a:t>vs</a:t>
            </a:r>
            <a:r>
              <a:rPr lang="en-US" sz="2000" dirty="0">
                <a:solidFill>
                  <a:srgbClr val="C00000"/>
                </a:solidFill>
              </a:rPr>
              <a:t> non-member</a:t>
            </a:r>
          </a:p>
          <a:p>
            <a:pPr lvl="1" eaLnBrk="1" hangingPunct="1">
              <a:defRPr/>
            </a:pPr>
            <a:r>
              <a:rPr lang="en-US" sz="2000" dirty="0"/>
              <a:t>Operator functions can be member or non-member functions</a:t>
            </a:r>
          </a:p>
          <a:p>
            <a:pPr lvl="1" eaLnBrk="1" hangingPunct="1">
              <a:defRPr/>
            </a:pPr>
            <a:r>
              <a:rPr lang="en-US" sz="2000" dirty="0"/>
              <a:t>When overloading </a:t>
            </a:r>
            <a:r>
              <a:rPr lang="en-US" sz="2000" b="1" dirty="0"/>
              <a:t>( )</a:t>
            </a:r>
            <a:r>
              <a:rPr lang="en-US" sz="2000" dirty="0"/>
              <a:t>, </a:t>
            </a:r>
            <a:r>
              <a:rPr lang="en-US" sz="2000" b="1" dirty="0"/>
              <a:t>[ ]</a:t>
            </a:r>
            <a:r>
              <a:rPr lang="en-US" sz="2000" dirty="0"/>
              <a:t>, </a:t>
            </a:r>
            <a:r>
              <a:rPr lang="en-US" sz="2000" b="1" dirty="0"/>
              <a:t>-&gt;</a:t>
            </a:r>
            <a:r>
              <a:rPr lang="en-US" sz="2000" dirty="0"/>
              <a:t> or any of the assignment operators, a member function must be used </a:t>
            </a:r>
            <a:endParaRPr lang="en-US" sz="2200" dirty="0"/>
          </a:p>
          <a:p>
            <a:pPr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Operator functions as member functions</a:t>
            </a:r>
          </a:p>
          <a:p>
            <a:pPr lvl="1" eaLnBrk="1" hangingPunct="1">
              <a:defRPr/>
            </a:pPr>
            <a:r>
              <a:rPr lang="en-US" sz="2000" dirty="0"/>
              <a:t>Leftmost operand must be an object (or reference to an object) of the class</a:t>
            </a:r>
          </a:p>
          <a:p>
            <a:pPr lvl="1" eaLnBrk="1" hangingPunct="1">
              <a:defRPr/>
            </a:pPr>
            <a:r>
              <a:rPr lang="en-US" sz="2000" dirty="0"/>
              <a:t>If left operand of a different type, operator function must be a non-member function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C00000"/>
                </a:solidFill>
              </a:rPr>
              <a:t>Operator functions as non-member functions</a:t>
            </a:r>
          </a:p>
          <a:p>
            <a:pPr lvl="1" eaLnBrk="1" hangingPunct="1">
              <a:defRPr/>
            </a:pPr>
            <a:r>
              <a:rPr lang="en-US" sz="2000" dirty="0"/>
              <a:t>Must be </a:t>
            </a:r>
            <a:r>
              <a:rPr lang="en-US" sz="2000" b="1" dirty="0"/>
              <a:t>friend</a:t>
            </a:r>
            <a:r>
              <a:rPr lang="en-US" sz="2000" dirty="0"/>
              <a:t>s if needs to access private or protected members</a:t>
            </a:r>
          </a:p>
          <a:p>
            <a:pPr lvl="1" eaLnBrk="1" hangingPunct="1">
              <a:defRPr/>
            </a:pPr>
            <a:r>
              <a:rPr lang="en-US" sz="2000" dirty="0"/>
              <a:t>Enable the operator to be </a:t>
            </a:r>
            <a:r>
              <a:rPr lang="en-US" sz="2000" b="1" dirty="0"/>
              <a:t>commutative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8F7A31C2-4478-40AF-B094-6B4AFEB0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65D726-891B-4734-B8A1-2036DA4869B8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3BC850AE-C6E3-45E9-A703-4BB54F62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Assignment Operator Overloading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60B8F-D967-43A5-9E02-0517DBCD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Assignment operator </a:t>
            </a:r>
            <a:r>
              <a:rPr lang="en-US" sz="2000" dirty="0">
                <a:solidFill>
                  <a:srgbClr val="CC0000"/>
                </a:solidFill>
              </a:rPr>
              <a:t>(=)</a:t>
            </a:r>
            <a:r>
              <a:rPr lang="en-US" sz="2000" dirty="0"/>
              <a:t> is, strictly speaking, a </a:t>
            </a:r>
            <a:r>
              <a:rPr lang="en-US" sz="2000" dirty="0">
                <a:solidFill>
                  <a:srgbClr val="CC0000"/>
                </a:solidFill>
              </a:rPr>
              <a:t>binary operator</a:t>
            </a:r>
            <a:r>
              <a:rPr lang="en-US" sz="2000" dirty="0"/>
              <a:t>. Its declaration is identical to any other binary operator</a:t>
            </a:r>
          </a:p>
          <a:p>
            <a:pPr algn="just" eaLnBrk="1" hangingPunct="1">
              <a:lnSpc>
                <a:spcPct val="90000"/>
              </a:lnSpc>
              <a:defRPr/>
            </a:pPr>
            <a:endParaRPr lang="en-US" sz="20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No operator = can be declared as a non-member function</a:t>
            </a:r>
          </a:p>
          <a:p>
            <a:pPr algn="just" eaLnBrk="1" hangingPunct="1">
              <a:lnSpc>
                <a:spcPct val="90000"/>
              </a:lnSpc>
              <a:defRPr/>
            </a:pPr>
            <a:endParaRPr lang="en-US" sz="20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It is </a:t>
            </a:r>
            <a:r>
              <a:rPr lang="en-US" sz="2000" dirty="0">
                <a:solidFill>
                  <a:srgbClr val="CC0000"/>
                </a:solidFill>
              </a:rPr>
              <a:t>not inherited</a:t>
            </a:r>
            <a:r>
              <a:rPr lang="en-US" sz="2000" dirty="0"/>
              <a:t> by derived classes</a:t>
            </a:r>
          </a:p>
          <a:p>
            <a:pPr algn="just" eaLnBrk="1" hangingPunct="1">
              <a:lnSpc>
                <a:spcPct val="90000"/>
              </a:lnSpc>
              <a:defRPr/>
            </a:pPr>
            <a:endParaRPr lang="en-US" sz="2000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A default operator = function can be generated by the compiler for class types if none exists (</a:t>
            </a:r>
            <a:r>
              <a:rPr lang="en-US" sz="2000" i="1" dirty="0">
                <a:solidFill>
                  <a:srgbClr val="CC0000"/>
                </a:solidFill>
              </a:rPr>
              <a:t>bitwise shallow copy</a:t>
            </a:r>
            <a:r>
              <a:rPr lang="en-US" sz="2000" i="1" dirty="0"/>
              <a:t>)</a:t>
            </a:r>
          </a:p>
          <a:p>
            <a:pPr algn="just" eaLnBrk="1" hangingPunct="1">
              <a:lnSpc>
                <a:spcPct val="90000"/>
              </a:lnSpc>
              <a:defRPr/>
            </a:pPr>
            <a:endParaRPr lang="en-US" sz="2000" i="1" dirty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User defined operator= function performs </a:t>
            </a:r>
            <a:r>
              <a:rPr lang="en-US" sz="2000" i="1" dirty="0">
                <a:solidFill>
                  <a:srgbClr val="CC0000"/>
                </a:solidFill>
              </a:rPr>
              <a:t>member wise deep copy</a:t>
            </a:r>
            <a:endParaRPr lang="en-US" sz="2000" dirty="0">
              <a:solidFill>
                <a:srgbClr val="CC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B5A53216-461B-4A53-8658-EBCA1E84E7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A84F53-76DB-4BD8-970B-B07CB0DC0AD7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6587FDD0-0809-40FA-A6C6-E85E83D1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Assignment Operator Overloading</a:t>
            </a:r>
            <a:endParaRPr lang="en-IN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4E8CDB42-B1DA-4C07-A9F1-848AC3B9B5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582A46-93DB-40B4-95EA-11242E840A6C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236AABC-5A8F-4441-BC02-DCFB7B344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349375"/>
            <a:ext cx="4419600" cy="2749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600" b="1">
                <a:ea typeface="Batang" panose="02030600000101010101" pitchFamily="18" charset="-127"/>
              </a:rPr>
              <a:t>main()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{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String s = "hello";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String t;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t=s;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t.assign(“world”);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s.display(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   t.display( );</a:t>
            </a:r>
          </a:p>
          <a:p>
            <a:r>
              <a:rPr lang="en-US" altLang="ko-KR" sz="1600" b="1">
                <a:ea typeface="Batang" panose="02030600000101010101" pitchFamily="18" charset="-127"/>
              </a:rPr>
              <a:t>}</a:t>
            </a:r>
            <a:endParaRPr lang="en-US" altLang="en-US" sz="1600" b="1"/>
          </a:p>
        </p:txBody>
      </p:sp>
      <p:sp>
        <p:nvSpPr>
          <p:cNvPr id="39941" name="AutoShape 4">
            <a:extLst>
              <a:ext uri="{FF2B5EF4-FFF2-40B4-BE49-F238E27FC236}">
                <a16:creationId xmlns:a16="http://schemas.microsoft.com/office/drawing/2014/main" id="{73A2133C-710E-4B9B-8852-915CB1CD4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416175"/>
            <a:ext cx="914400" cy="1149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400" b="1">
                <a:ea typeface="Batang" panose="02030600000101010101" pitchFamily="18" charset="-127"/>
              </a:rPr>
              <a:t>hello</a:t>
            </a:r>
          </a:p>
          <a:p>
            <a:r>
              <a:rPr lang="en-US" altLang="ko-KR" sz="1400" b="1">
                <a:ea typeface="Batang" panose="02030600000101010101" pitchFamily="18" charset="-127"/>
              </a:rPr>
              <a:t>hello</a:t>
            </a:r>
          </a:p>
          <a:p>
            <a:r>
              <a:rPr lang="en-US" altLang="ko-KR" sz="1400" b="1">
                <a:ea typeface="Batang" panose="02030600000101010101" pitchFamily="18" charset="-127"/>
              </a:rPr>
              <a:t>world</a:t>
            </a:r>
          </a:p>
          <a:p>
            <a:r>
              <a:rPr lang="en-US" altLang="ko-KR" sz="1400" b="1">
                <a:ea typeface="Batang" panose="02030600000101010101" pitchFamily="18" charset="-127"/>
              </a:rPr>
              <a:t>world</a:t>
            </a:r>
            <a:endParaRPr lang="en-US" altLang="en-US" sz="1400" b="1"/>
          </a:p>
        </p:txBody>
      </p:sp>
      <p:grpSp>
        <p:nvGrpSpPr>
          <p:cNvPr id="39942" name="Group 5">
            <a:extLst>
              <a:ext uri="{FF2B5EF4-FFF2-40B4-BE49-F238E27FC236}">
                <a16:creationId xmlns:a16="http://schemas.microsoft.com/office/drawing/2014/main" id="{15084577-17C8-4491-9CB4-2379EB4DB9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0" y="4175125"/>
            <a:ext cx="4343400" cy="1219200"/>
            <a:chOff x="1810" y="2380"/>
            <a:chExt cx="8520" cy="3060"/>
          </a:xfrm>
        </p:grpSpPr>
        <p:sp>
          <p:nvSpPr>
            <p:cNvPr id="39957" name="AutoShape 6">
              <a:extLst>
                <a:ext uri="{FF2B5EF4-FFF2-40B4-BE49-F238E27FC236}">
                  <a16:creationId xmlns:a16="http://schemas.microsoft.com/office/drawing/2014/main" id="{F9363AA3-E25E-49D9-9CE3-0F1D45518A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58" name="Text Box 7">
              <a:extLst>
                <a:ext uri="{FF2B5EF4-FFF2-40B4-BE49-F238E27FC236}">
                  <a16:creationId xmlns:a16="http://schemas.microsoft.com/office/drawing/2014/main" id="{44F859C7-738E-4FA5-9609-3A3F62116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" y="3221"/>
              <a:ext cx="2401" cy="952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59" name="Text Box 8">
              <a:extLst>
                <a:ext uri="{FF2B5EF4-FFF2-40B4-BE49-F238E27FC236}">
                  <a16:creationId xmlns:a16="http://schemas.microsoft.com/office/drawing/2014/main" id="{4F070AC0-EA25-4601-8FE9-7925E03C1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6"/>
              <a:ext cx="1619" cy="9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60" name="Rectangle 9">
              <a:extLst>
                <a:ext uri="{FF2B5EF4-FFF2-40B4-BE49-F238E27FC236}">
                  <a16:creationId xmlns:a16="http://schemas.microsoft.com/office/drawing/2014/main" id="{0562A808-EA57-42C1-B592-DB73E14C9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61" name="Line 10">
              <a:extLst>
                <a:ext uri="{FF2B5EF4-FFF2-40B4-BE49-F238E27FC236}">
                  <a16:creationId xmlns:a16="http://schemas.microsoft.com/office/drawing/2014/main" id="{8C4F2250-6C4A-4EF0-885D-5C4BF61AA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3700"/>
              <a:ext cx="4200" cy="84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2" name="Line 11">
              <a:extLst>
                <a:ext uri="{FF2B5EF4-FFF2-40B4-BE49-F238E27FC236}">
                  <a16:creationId xmlns:a16="http://schemas.microsoft.com/office/drawing/2014/main" id="{BE0EA6F3-A462-4D99-82AD-99449A82C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2740"/>
              <a:ext cx="4200" cy="7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Text Box 12">
              <a:extLst>
                <a:ext uri="{FF2B5EF4-FFF2-40B4-BE49-F238E27FC236}">
                  <a16:creationId xmlns:a16="http://schemas.microsoft.com/office/drawing/2014/main" id="{C48F28F6-0E76-4C64-8B62-DA290336B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3"/>
              <a:ext cx="2161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64" name="Rectangle 13">
              <a:extLst>
                <a:ext uri="{FF2B5EF4-FFF2-40B4-BE49-F238E27FC236}">
                  <a16:creationId xmlns:a16="http://schemas.microsoft.com/office/drawing/2014/main" id="{6AB663CF-603B-4B0E-B026-C02BFBC15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65" name="WordArt 14">
              <a:extLst>
                <a:ext uri="{FF2B5EF4-FFF2-40B4-BE49-F238E27FC236}">
                  <a16:creationId xmlns:a16="http://schemas.microsoft.com/office/drawing/2014/main" id="{4B003A67-4C92-40EF-9D85-661EB7F9FBE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39966" name="WordArt 15">
              <a:extLst>
                <a:ext uri="{FF2B5EF4-FFF2-40B4-BE49-F238E27FC236}">
                  <a16:creationId xmlns:a16="http://schemas.microsoft.com/office/drawing/2014/main" id="{A510B013-8AC1-48A3-BDF5-150B4B12AB1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</p:grpSp>
      <p:sp>
        <p:nvSpPr>
          <p:cNvPr id="39943" name="Rectangle 16">
            <a:extLst>
              <a:ext uri="{FF2B5EF4-FFF2-40B4-BE49-F238E27FC236}">
                <a16:creationId xmlns:a16="http://schemas.microsoft.com/office/drawing/2014/main" id="{5098F571-50F5-4EC5-B124-58A61562C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85888"/>
            <a:ext cx="1676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600" b="1">
                <a:solidFill>
                  <a:srgbClr val="0000FF"/>
                </a:solidFill>
              </a:rPr>
              <a:t>Default  assignment </a:t>
            </a:r>
          </a:p>
        </p:txBody>
      </p:sp>
      <p:sp>
        <p:nvSpPr>
          <p:cNvPr id="39944" name="Line 17">
            <a:extLst>
              <a:ext uri="{FF2B5EF4-FFF2-40B4-BE49-F238E27FC236}">
                <a16:creationId xmlns:a16="http://schemas.microsoft.com/office/drawing/2014/main" id="{BFC654CA-64FA-4E38-BDA1-24947E1341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1905000"/>
            <a:ext cx="1981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9945" name="Rectangle 18">
            <a:extLst>
              <a:ext uri="{FF2B5EF4-FFF2-40B4-BE49-F238E27FC236}">
                <a16:creationId xmlns:a16="http://schemas.microsoft.com/office/drawing/2014/main" id="{090A094C-D3F6-4518-BF86-3523421D8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79525"/>
            <a:ext cx="3276600" cy="585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class String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char* data;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public: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String(){ data=NULL; 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String(const char* s = "")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{   data = new char[20];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    strcpy(data,s);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~String( )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{	   delete [ ] data;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void assign(char *str)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{	strcpy(data,str);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void display()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{ 	cout &lt;&lt; data;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35742A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ko-KR" sz="1700" b="1">
                <a:ea typeface="Gulim" panose="020B0600000101010101" pitchFamily="34" charset="-127"/>
              </a:rPr>
              <a:t>};</a:t>
            </a:r>
          </a:p>
        </p:txBody>
      </p:sp>
      <p:grpSp>
        <p:nvGrpSpPr>
          <p:cNvPr id="39946" name="Group 19">
            <a:extLst>
              <a:ext uri="{FF2B5EF4-FFF2-40B4-BE49-F238E27FC236}">
                <a16:creationId xmlns:a16="http://schemas.microsoft.com/office/drawing/2014/main" id="{544F265B-842F-45A3-B14D-80326284BE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0" y="5394325"/>
            <a:ext cx="4343400" cy="1219200"/>
            <a:chOff x="1810" y="2380"/>
            <a:chExt cx="8520" cy="3060"/>
          </a:xfrm>
        </p:grpSpPr>
        <p:sp>
          <p:nvSpPr>
            <p:cNvPr id="39947" name="AutoShape 20">
              <a:extLst>
                <a:ext uri="{FF2B5EF4-FFF2-40B4-BE49-F238E27FC236}">
                  <a16:creationId xmlns:a16="http://schemas.microsoft.com/office/drawing/2014/main" id="{6CB33A72-E004-4DDE-B7D3-6CC26F1EFF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48" name="Text Box 21">
              <a:extLst>
                <a:ext uri="{FF2B5EF4-FFF2-40B4-BE49-F238E27FC236}">
                  <a16:creationId xmlns:a16="http://schemas.microsoft.com/office/drawing/2014/main" id="{666DC2A4-B745-4FCC-86AB-475927C22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" y="3221"/>
              <a:ext cx="2401" cy="952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world\0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49" name="Text Box 22">
              <a:extLst>
                <a:ext uri="{FF2B5EF4-FFF2-40B4-BE49-F238E27FC236}">
                  <a16:creationId xmlns:a16="http://schemas.microsoft.com/office/drawing/2014/main" id="{3C771757-4799-42B3-81DC-ED0DF01F2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6"/>
              <a:ext cx="1619" cy="9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50" name="Rectangle 23">
              <a:extLst>
                <a:ext uri="{FF2B5EF4-FFF2-40B4-BE49-F238E27FC236}">
                  <a16:creationId xmlns:a16="http://schemas.microsoft.com/office/drawing/2014/main" id="{E2069E2E-1965-495A-8CC2-ECFD751AF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51" name="Line 24">
              <a:extLst>
                <a:ext uri="{FF2B5EF4-FFF2-40B4-BE49-F238E27FC236}">
                  <a16:creationId xmlns:a16="http://schemas.microsoft.com/office/drawing/2014/main" id="{A5F7A2F5-F0B9-41DF-83B4-893443044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3700"/>
              <a:ext cx="4200" cy="84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2" name="Line 25">
              <a:extLst>
                <a:ext uri="{FF2B5EF4-FFF2-40B4-BE49-F238E27FC236}">
                  <a16:creationId xmlns:a16="http://schemas.microsoft.com/office/drawing/2014/main" id="{CDCEB5D6-F7C4-4E55-9603-C7E5D48C8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2740"/>
              <a:ext cx="4200" cy="7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3" name="Text Box 26">
              <a:extLst>
                <a:ext uri="{FF2B5EF4-FFF2-40B4-BE49-F238E27FC236}">
                  <a16:creationId xmlns:a16="http://schemas.microsoft.com/office/drawing/2014/main" id="{904B0336-7C92-4DD1-96A2-C6F7DD8DB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3"/>
              <a:ext cx="2161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9954" name="Rectangle 27">
              <a:extLst>
                <a:ext uri="{FF2B5EF4-FFF2-40B4-BE49-F238E27FC236}">
                  <a16:creationId xmlns:a16="http://schemas.microsoft.com/office/drawing/2014/main" id="{743F3D39-0D01-4BB6-A8A6-1C1185BEF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55" name="WordArt 28">
              <a:extLst>
                <a:ext uri="{FF2B5EF4-FFF2-40B4-BE49-F238E27FC236}">
                  <a16:creationId xmlns:a16="http://schemas.microsoft.com/office/drawing/2014/main" id="{1A93D66E-5780-4862-8E49-428A66B5DF2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39956" name="WordArt 29">
              <a:extLst>
                <a:ext uri="{FF2B5EF4-FFF2-40B4-BE49-F238E27FC236}">
                  <a16:creationId xmlns:a16="http://schemas.microsoft.com/office/drawing/2014/main" id="{8BD61FB2-9E80-4AE4-8828-6EB6E79342B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000BA650-C326-4742-A06B-AB583255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Assignment Operator Overloading</a:t>
            </a:r>
            <a:endParaRPr lang="en-IN" altLang="en-US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7611E88B-7B92-41F0-AC96-DB6B98059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B3BB63-F781-4475-82B7-2D928134EA8A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6C56D9C2-E324-4E29-9726-B99DCBCE9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47800"/>
            <a:ext cx="4038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/>
              <a:t>void operator=(const String&amp; s)</a:t>
            </a:r>
          </a:p>
          <a:p>
            <a:r>
              <a:rPr lang="en-US" altLang="en-US" sz="1600" b="1"/>
              <a:t>{</a:t>
            </a:r>
          </a:p>
          <a:p>
            <a:r>
              <a:rPr lang="en-US" altLang="en-US" sz="1600" b="1"/>
              <a:t>     data = new char[strlen(s.data)+1];</a:t>
            </a:r>
          </a:p>
          <a:p>
            <a:r>
              <a:rPr lang="en-US" altLang="en-US" sz="1600" b="1"/>
              <a:t>     strcpy(data, s.data);</a:t>
            </a:r>
          </a:p>
          <a:p>
            <a:r>
              <a:rPr lang="en-US" altLang="en-US" sz="1600" b="1"/>
              <a:t>}</a:t>
            </a:r>
          </a:p>
        </p:txBody>
      </p:sp>
      <p:grpSp>
        <p:nvGrpSpPr>
          <p:cNvPr id="40965" name="Group 3">
            <a:extLst>
              <a:ext uri="{FF2B5EF4-FFF2-40B4-BE49-F238E27FC236}">
                <a16:creationId xmlns:a16="http://schemas.microsoft.com/office/drawing/2014/main" id="{F3251108-437E-4C5D-B6D7-188963D875B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" y="3733800"/>
            <a:ext cx="6858000" cy="2463800"/>
            <a:chOff x="1810" y="2380"/>
            <a:chExt cx="8520" cy="3060"/>
          </a:xfrm>
        </p:grpSpPr>
        <p:sp>
          <p:nvSpPr>
            <p:cNvPr id="40967" name="AutoShape 4">
              <a:extLst>
                <a:ext uri="{FF2B5EF4-FFF2-40B4-BE49-F238E27FC236}">
                  <a16:creationId xmlns:a16="http://schemas.microsoft.com/office/drawing/2014/main" id="{32174B36-22EB-4B1B-89EF-B6EE098AC9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0" y="2380"/>
              <a:ext cx="852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68" name="Text Box 5">
              <a:extLst>
                <a:ext uri="{FF2B5EF4-FFF2-40B4-BE49-F238E27FC236}">
                  <a16:creationId xmlns:a16="http://schemas.microsoft.com/office/drawing/2014/main" id="{80AD35FC-3CFD-42E7-AE52-C5A6A6099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0" y="3460"/>
              <a:ext cx="14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600" b="1">
                  <a:latin typeface="Times New Roman" panose="02020603050405020304" pitchFamily="18" charset="0"/>
                  <a:ea typeface="Batang" panose="02030600000101010101" pitchFamily="18" charset="-127"/>
                </a:rPr>
                <a:t>Deep copy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40969" name="Text Box 6">
              <a:extLst>
                <a:ext uri="{FF2B5EF4-FFF2-40B4-BE49-F238E27FC236}">
                  <a16:creationId xmlns:a16="http://schemas.microsoft.com/office/drawing/2014/main" id="{F1FB20E6-40B6-423A-858A-5F207B879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2" y="2500"/>
              <a:ext cx="2398" cy="584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4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0" name="Text Box 7">
              <a:extLst>
                <a:ext uri="{FF2B5EF4-FFF2-40B4-BE49-F238E27FC236}">
                  <a16:creationId xmlns:a16="http://schemas.microsoft.com/office/drawing/2014/main" id="{DD8C49C5-706E-4EFD-B1AF-3847E122A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5"/>
              <a:ext cx="1621" cy="4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1" name="Rectangle 8">
              <a:extLst>
                <a:ext uri="{FF2B5EF4-FFF2-40B4-BE49-F238E27FC236}">
                  <a16:creationId xmlns:a16="http://schemas.microsoft.com/office/drawing/2014/main" id="{A1090B65-489B-4C59-9AF4-CC9D10590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060"/>
              <a:ext cx="1920" cy="840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2" name="Line 9">
              <a:extLst>
                <a:ext uri="{FF2B5EF4-FFF2-40B4-BE49-F238E27FC236}">
                  <a16:creationId xmlns:a16="http://schemas.microsoft.com/office/drawing/2014/main" id="{002A06D7-358B-488E-AE1B-9F60BA5E5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0" y="4720"/>
              <a:ext cx="4020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3" name="Text Box 10">
              <a:extLst>
                <a:ext uri="{FF2B5EF4-FFF2-40B4-BE49-F238E27FC236}">
                  <a16:creationId xmlns:a16="http://schemas.microsoft.com/office/drawing/2014/main" id="{039E4F68-5E54-4DA3-B6A5-D51625A2D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4154"/>
              <a:ext cx="2160" cy="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0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4" name="Rectangle 11">
              <a:extLst>
                <a:ext uri="{FF2B5EF4-FFF2-40B4-BE49-F238E27FC236}">
                  <a16:creationId xmlns:a16="http://schemas.microsoft.com/office/drawing/2014/main" id="{EA587966-7947-4454-B525-36364DB6E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380"/>
              <a:ext cx="1920" cy="84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5" name="WordArt 12">
              <a:extLst>
                <a:ext uri="{FF2B5EF4-FFF2-40B4-BE49-F238E27FC236}">
                  <a16:creationId xmlns:a16="http://schemas.microsoft.com/office/drawing/2014/main" id="{B8223E74-1713-4C96-9125-49B24274303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50" y="3010"/>
              <a:ext cx="300" cy="4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s</a:t>
              </a:r>
            </a:p>
          </p:txBody>
        </p:sp>
        <p:sp>
          <p:nvSpPr>
            <p:cNvPr id="40976" name="WordArt 13">
              <a:extLst>
                <a:ext uri="{FF2B5EF4-FFF2-40B4-BE49-F238E27FC236}">
                  <a16:creationId xmlns:a16="http://schemas.microsoft.com/office/drawing/2014/main" id="{1A2EC1B5-B478-4181-9091-4997F52331D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90" y="4000"/>
              <a:ext cx="360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1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latin typeface="Arial Black" panose="020B0A04020102020204" pitchFamily="34" charset="0"/>
                </a:rPr>
                <a:t>t</a:t>
              </a:r>
            </a:p>
          </p:txBody>
        </p:sp>
        <p:sp>
          <p:nvSpPr>
            <p:cNvPr id="40977" name="Text Box 14">
              <a:extLst>
                <a:ext uri="{FF2B5EF4-FFF2-40B4-BE49-F238E27FC236}">
                  <a16:creationId xmlns:a16="http://schemas.microsoft.com/office/drawing/2014/main" id="{C88FEB70-F74C-453A-A493-13F815886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2" y="4403"/>
              <a:ext cx="2398" cy="584"/>
            </a:xfrm>
            <a:prstGeom prst="rect">
              <a:avLst/>
            </a:prstGeom>
            <a:solidFill>
              <a:srgbClr val="FFFFFF"/>
            </a:solidFill>
            <a:ln w="12700" cap="sq">
              <a:solidFill>
                <a:srgbClr val="80808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2400" b="1">
                  <a:solidFill>
                    <a:srgbClr val="000000"/>
                  </a:solidFill>
                  <a:latin typeface="Courier New" panose="02070309020205020404" pitchFamily="49" charset="0"/>
                  <a:ea typeface="Batang" panose="02030600000101010101" pitchFamily="18" charset="-127"/>
                </a:rPr>
                <a:t>hello\0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8" name="Line 15">
              <a:extLst>
                <a:ext uri="{FF2B5EF4-FFF2-40B4-BE49-F238E27FC236}">
                  <a16:creationId xmlns:a16="http://schemas.microsoft.com/office/drawing/2014/main" id="{ED6B8BF3-5FDC-4EAB-A989-17E1DE20C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0" y="2815"/>
              <a:ext cx="4020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9" name="AutoShape 16">
              <a:extLst>
                <a:ext uri="{FF2B5EF4-FFF2-40B4-BE49-F238E27FC236}">
                  <a16:creationId xmlns:a16="http://schemas.microsoft.com/office/drawing/2014/main" id="{DD4737BE-ACFF-4F5C-9989-B5D5A246D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0" y="3100"/>
              <a:ext cx="720" cy="1440"/>
            </a:xfrm>
            <a:prstGeom prst="curvedRight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33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0966" name="Rectangle 17">
            <a:extLst>
              <a:ext uri="{FF2B5EF4-FFF2-40B4-BE49-F238E27FC236}">
                <a16:creationId xmlns:a16="http://schemas.microsoft.com/office/drawing/2014/main" id="{4F31304D-8AEC-4AEE-8815-B4A44F371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98550"/>
            <a:ext cx="3276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600" b="1">
                <a:solidFill>
                  <a:srgbClr val="FF3300"/>
                </a:solidFill>
              </a:rPr>
              <a:t>Overloaded operator function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A57CCF8-6D07-40A3-87E5-EDF2127C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I/O Stream Operators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E2D8-EE92-4BD7-80F8-3E046F25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Overloaded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</a:rPr>
              <a:t>&lt;&lt;</a:t>
            </a:r>
            <a:r>
              <a:rPr lang="en-US" sz="2000" dirty="0">
                <a:solidFill>
                  <a:srgbClr val="C00000"/>
                </a:solidFill>
              </a:rPr>
              <a:t> and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</a:rPr>
              <a:t>&gt;&gt;</a:t>
            </a:r>
            <a:r>
              <a:rPr lang="en-US" sz="2000" dirty="0">
                <a:solidFill>
                  <a:srgbClr val="C00000"/>
                </a:solidFill>
              </a:rPr>
              <a:t> operators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Overloaded to perform input/output for user-defined types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Left operand of types </a:t>
            </a:r>
            <a:r>
              <a:rPr lang="en-US" sz="1800" dirty="0" err="1"/>
              <a:t>ostream</a:t>
            </a:r>
            <a:r>
              <a:rPr lang="en-US" sz="1800" dirty="0"/>
              <a:t> &amp; and </a:t>
            </a:r>
            <a:r>
              <a:rPr lang="en-US" sz="1800" dirty="0" err="1"/>
              <a:t>istream</a:t>
            </a:r>
            <a:r>
              <a:rPr lang="en-US" sz="1800" dirty="0"/>
              <a:t> &amp;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Must be a non-member function because left operand is not an object of the class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Must be a friend function to access private data member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b="1" dirty="0"/>
              <a:t>Example</a:t>
            </a:r>
            <a:r>
              <a:rPr lang="en-US" sz="1800" dirty="0"/>
              <a:t>:	</a:t>
            </a:r>
            <a:r>
              <a:rPr lang="en-US" sz="1800" dirty="0" err="1">
                <a:solidFill>
                  <a:srgbClr val="C00000"/>
                </a:solidFill>
              </a:rPr>
              <a:t>cin</a:t>
            </a:r>
            <a:r>
              <a:rPr lang="en-US" sz="1800" dirty="0">
                <a:solidFill>
                  <a:srgbClr val="C00000"/>
                </a:solidFill>
              </a:rPr>
              <a:t>&gt;&gt;C1;    // </a:t>
            </a:r>
            <a:r>
              <a:rPr lang="en-US" sz="1800" dirty="0" err="1">
                <a:solidFill>
                  <a:srgbClr val="C00000"/>
                </a:solidFill>
              </a:rPr>
              <a:t>cin.operator</a:t>
            </a:r>
            <a:r>
              <a:rPr lang="en-US" sz="1800" dirty="0">
                <a:solidFill>
                  <a:srgbClr val="C00000"/>
                </a:solidFill>
              </a:rPr>
              <a:t>&gt;&gt;(C1) //incorrect   // </a:t>
            </a:r>
            <a:r>
              <a:rPr lang="en-US" sz="1800" dirty="0" err="1">
                <a:solidFill>
                  <a:srgbClr val="C00000"/>
                </a:solidFill>
              </a:rPr>
              <a:t>mem.fun</a:t>
            </a:r>
            <a:endParaRPr lang="en-US" sz="1800" dirty="0">
              <a:solidFill>
                <a:srgbClr val="C00000"/>
              </a:solidFill>
            </a:endParaRPr>
          </a:p>
          <a:p>
            <a:pPr lvl="4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rgbClr val="C00000"/>
                </a:solidFill>
              </a:rPr>
              <a:t>        </a:t>
            </a:r>
            <a:r>
              <a:rPr lang="en-US" sz="1800" dirty="0" err="1">
                <a:solidFill>
                  <a:srgbClr val="C00000"/>
                </a:solidFill>
              </a:rPr>
              <a:t>cout</a:t>
            </a:r>
            <a:r>
              <a:rPr lang="en-US" sz="1800" dirty="0">
                <a:solidFill>
                  <a:srgbClr val="C00000"/>
                </a:solidFill>
              </a:rPr>
              <a:t>&lt;&lt;C1;  // operator&lt;&lt;(</a:t>
            </a:r>
            <a:r>
              <a:rPr lang="en-US" sz="1800" dirty="0" err="1">
                <a:solidFill>
                  <a:srgbClr val="C00000"/>
                </a:solidFill>
              </a:rPr>
              <a:t>cout</a:t>
            </a:r>
            <a:r>
              <a:rPr lang="en-US" sz="1800" dirty="0">
                <a:solidFill>
                  <a:srgbClr val="C00000"/>
                </a:solidFill>
              </a:rPr>
              <a:t>, C1);  // correct   // friend fun.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000" dirty="0"/>
              <a:t>Syntax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D2716B72-77EF-4336-88C2-C0099EAA5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8AB933-B36B-4A2F-A09C-5B95DBC1B7D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2C977-4A9C-4B54-B2C6-840C9A638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5334000"/>
            <a:ext cx="62484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lvl="1">
              <a:defRPr/>
            </a:pPr>
            <a:r>
              <a:rPr lang="en-US" dirty="0">
                <a:latin typeface="+mn-lt"/>
              </a:rPr>
              <a:t>friend </a:t>
            </a:r>
            <a:r>
              <a:rPr lang="en-US" dirty="0" err="1">
                <a:latin typeface="+mn-lt"/>
              </a:rPr>
              <a:t>ostream</a:t>
            </a:r>
            <a:r>
              <a:rPr lang="en-US" dirty="0">
                <a:latin typeface="+mn-lt"/>
              </a:rPr>
              <a:t> &amp; operator &lt;&lt; ( </a:t>
            </a:r>
            <a:r>
              <a:rPr lang="en-US" dirty="0" err="1">
                <a:latin typeface="+mn-lt"/>
              </a:rPr>
              <a:t>ostream</a:t>
            </a:r>
            <a:r>
              <a:rPr lang="en-US" dirty="0">
                <a:latin typeface="+mn-lt"/>
              </a:rPr>
              <a:t> &amp;out, </a:t>
            </a:r>
            <a:r>
              <a:rPr lang="en-US" dirty="0" err="1">
                <a:latin typeface="+mn-lt"/>
              </a:rPr>
              <a:t>arg</a:t>
            </a:r>
            <a:r>
              <a:rPr lang="en-US" dirty="0">
                <a:latin typeface="+mn-lt"/>
              </a:rPr>
              <a:t>)</a:t>
            </a:r>
          </a:p>
          <a:p>
            <a:pPr lvl="1">
              <a:defRPr/>
            </a:pPr>
            <a:r>
              <a:rPr lang="en-US" dirty="0">
                <a:latin typeface="+mn-lt"/>
              </a:rPr>
              <a:t>{	 //display attributes</a:t>
            </a:r>
          </a:p>
          <a:p>
            <a:pPr lvl="1">
              <a:defRPr/>
            </a:pPr>
            <a:r>
              <a:rPr lang="en-US" dirty="0">
                <a:latin typeface="+mn-lt"/>
              </a:rPr>
              <a:t>	return out;</a:t>
            </a:r>
          </a:p>
          <a:p>
            <a:pPr lvl="1">
              <a:defRPr/>
            </a:pPr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8C738EA-0390-42DC-9E2A-05A6A4421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3" y="4800600"/>
            <a:ext cx="8747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Keyword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4F5A6FD-964E-4E80-83DE-1D03405E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075" y="4495800"/>
            <a:ext cx="13065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Output stream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5E148A4-5A4D-4C7E-98FA-884C134D2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675" y="4876800"/>
            <a:ext cx="1474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Reference types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EFD0144-E3C3-4330-A8F5-F2AF117E9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75" y="4572000"/>
            <a:ext cx="874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Keyword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B75971A2-23DB-495E-AB0C-C8F14C6530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12875" y="50292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4225529D-768C-40D2-9D07-F21AB7714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4724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A9C1DA51-CDD4-421D-AC9A-295C844D29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65475" y="5105400"/>
            <a:ext cx="1873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5FB2775F-3EFF-4F17-A6C3-AA78455F4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8875" y="48006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133FF2F-2049-46C4-BC2B-5C54BE7D1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675" y="4876800"/>
            <a:ext cx="1711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User defined object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2C9E7FCD-FD58-4CB8-AE7C-F38188D4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4495800"/>
            <a:ext cx="181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Ostream object: cout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C2DFFD21-0F61-4C71-A068-84D0CD7CC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4800600"/>
            <a:ext cx="15716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rgbClr val="CC3300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C3300"/>
                </a:solidFill>
                <a:latin typeface="Arial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sz="1400">
                <a:solidFill>
                  <a:schemeClr val="tx1"/>
                </a:solidFill>
                <a:latin typeface="+mn-lt"/>
              </a:rPr>
              <a:t>Ostream operator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C2FC29AE-7A7A-4670-B179-F8E2DB5D0F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5105400"/>
            <a:ext cx="95567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660A505E-25DD-4B10-9C0E-455917A935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7675" y="48768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E2A47313-03D4-41A3-986C-E3013C62D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7388" y="5029200"/>
            <a:ext cx="2682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IN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7959D1B0-8124-498B-BC6A-8D3A688D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I/O Stream Operators</a:t>
            </a:r>
            <a:endParaRPr lang="en-IN" altLang="en-US"/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F028E2C5-9118-40D5-906C-022F46B81C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EE8B16-7B63-435C-ABC9-487F1E01457A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A6A9338A-2434-4E8F-95C3-78CF6D44B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397000"/>
            <a:ext cx="7140575" cy="18796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347B0C-F532-49F2-8634-09F276825370}"/>
              </a:ext>
            </a:extLst>
          </p:cNvPr>
          <p:cNvSpPr/>
          <p:nvPr/>
        </p:nvSpPr>
        <p:spPr>
          <a:xfrm>
            <a:off x="685800" y="3276600"/>
            <a:ext cx="7696200" cy="31400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IN" b="1" dirty="0"/>
              <a:t>In this function definition</a:t>
            </a:r>
            <a:endParaRPr lang="en-IN" dirty="0"/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en-IN" dirty="0"/>
              <a:t>Both parameters are reference parameters</a:t>
            </a:r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en-IN" dirty="0"/>
              <a:t>The first parameter—that is, </a:t>
            </a:r>
            <a:r>
              <a:rPr lang="en-IN" dirty="0" err="1"/>
              <a:t>osObject</a:t>
            </a:r>
            <a:r>
              <a:rPr lang="en-IN" dirty="0"/>
              <a:t>— is a reference to an </a:t>
            </a:r>
            <a:r>
              <a:rPr lang="en-IN" dirty="0" err="1"/>
              <a:t>ostream</a:t>
            </a:r>
            <a:endParaRPr lang="en-IN" dirty="0"/>
          </a:p>
          <a:p>
            <a:pPr>
              <a:defRPr/>
            </a:pPr>
            <a:r>
              <a:rPr lang="en-IN" dirty="0"/>
              <a:t>     object</a:t>
            </a:r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en-IN" dirty="0"/>
              <a:t>The second parameter is usually a </a:t>
            </a:r>
            <a:r>
              <a:rPr lang="en-IN" dirty="0" err="1"/>
              <a:t>const</a:t>
            </a:r>
            <a:r>
              <a:rPr lang="en-IN" dirty="0"/>
              <a:t> reference to a particular class, because the most effective way to pass an object as a parameter to a class is by reference. The word </a:t>
            </a:r>
            <a:r>
              <a:rPr lang="en-IN" dirty="0" err="1"/>
              <a:t>const</a:t>
            </a:r>
            <a:r>
              <a:rPr lang="en-IN" dirty="0"/>
              <a:t> appears before the class name because we want to print only the member variables of the object. That is, the function should not modify the member variables of the object</a:t>
            </a:r>
          </a:p>
          <a:p>
            <a:pPr marL="285750" indent="-285750">
              <a:buFont typeface="Wingdings" pitchFamily="2" charset="2"/>
              <a:buChar char="§"/>
              <a:defRPr/>
            </a:pPr>
            <a:r>
              <a:rPr lang="en-IN" dirty="0"/>
              <a:t>The function return type is a reference to an </a:t>
            </a:r>
            <a:r>
              <a:rPr lang="en-IN" dirty="0" err="1"/>
              <a:t>ostream</a:t>
            </a:r>
            <a:r>
              <a:rPr lang="en-IN" dirty="0"/>
              <a:t> object</a:t>
            </a:r>
          </a:p>
          <a:p>
            <a:pPr marL="285750" indent="-285750">
              <a:buFont typeface="Wingdings" pitchFamily="2" charset="2"/>
              <a:buChar char="§"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6D8CDD6-60DC-47DA-9B25-FE268553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I/O Stream Operators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4EDBB-1FEE-4854-B318-AC5D23A9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return type of the function to overload the operator &lt;&lt; must be a reference to an </a:t>
            </a:r>
            <a:r>
              <a:rPr lang="en-IN" sz="2000" dirty="0" err="1"/>
              <a:t>ostream</a:t>
            </a:r>
            <a:r>
              <a:rPr lang="en-IN" sz="2000" dirty="0"/>
              <a:t> object for the following reasons</a:t>
            </a:r>
          </a:p>
          <a:p>
            <a:pPr lvl="1">
              <a:defRPr/>
            </a:pPr>
            <a:r>
              <a:rPr lang="en-IN" sz="1800" dirty="0"/>
              <a:t>Suppose that the operator &lt;&lt; is overloaded for the class </a:t>
            </a:r>
            <a:r>
              <a:rPr lang="en-IN" sz="1800" dirty="0" err="1"/>
              <a:t>rectangleType</a:t>
            </a:r>
            <a:r>
              <a:rPr lang="en-IN" sz="1800" dirty="0"/>
              <a:t>. The statement:  </a:t>
            </a:r>
            <a:r>
              <a:rPr lang="en-IN" sz="1800" dirty="0" err="1">
                <a:solidFill>
                  <a:srgbClr val="C00000"/>
                </a:solidFill>
              </a:rPr>
              <a:t>cout</a:t>
            </a:r>
            <a:r>
              <a:rPr lang="en-IN" sz="1800" dirty="0">
                <a:solidFill>
                  <a:srgbClr val="C00000"/>
                </a:solidFill>
              </a:rPr>
              <a:t> &lt;&lt; </a:t>
            </a:r>
            <a:r>
              <a:rPr lang="en-IN" sz="1800" dirty="0" err="1">
                <a:solidFill>
                  <a:srgbClr val="C00000"/>
                </a:solidFill>
              </a:rPr>
              <a:t>myRectangle</a:t>
            </a:r>
            <a:r>
              <a:rPr lang="en-IN" sz="1800" dirty="0">
                <a:solidFill>
                  <a:srgbClr val="C00000"/>
                </a:solidFill>
              </a:rPr>
              <a:t>;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r>
              <a:rPr lang="en-IN" sz="1800" dirty="0"/>
              <a:t>     is equivalent to the statement:   </a:t>
            </a:r>
            <a:r>
              <a:rPr lang="en-IN" sz="1800" dirty="0">
                <a:solidFill>
                  <a:srgbClr val="C00000"/>
                </a:solidFill>
              </a:rPr>
              <a:t>operator&lt;&lt;(</a:t>
            </a:r>
            <a:r>
              <a:rPr lang="en-IN" sz="1800" dirty="0" err="1">
                <a:solidFill>
                  <a:srgbClr val="C00000"/>
                </a:solidFill>
              </a:rPr>
              <a:t>cout</a:t>
            </a:r>
            <a:r>
              <a:rPr lang="en-IN" sz="1800" dirty="0">
                <a:solidFill>
                  <a:srgbClr val="C00000"/>
                </a:solidFill>
              </a:rPr>
              <a:t>, </a:t>
            </a:r>
            <a:r>
              <a:rPr lang="en-IN" sz="1800" dirty="0" err="1">
                <a:solidFill>
                  <a:srgbClr val="C00000"/>
                </a:solidFill>
              </a:rPr>
              <a:t>myRectangle</a:t>
            </a:r>
            <a:r>
              <a:rPr lang="en-IN" sz="1800" dirty="0">
                <a:solidFill>
                  <a:srgbClr val="C00000"/>
                </a:solidFill>
              </a:rPr>
              <a:t>);</a:t>
            </a:r>
          </a:p>
          <a:p>
            <a:pPr lvl="1">
              <a:defRPr/>
            </a:pPr>
            <a:r>
              <a:rPr lang="en-IN" sz="1800" dirty="0"/>
              <a:t>This is a perfectly legal statement because both of the actual parameters are objects, not the value of the objects. The first parameter, </a:t>
            </a:r>
            <a:r>
              <a:rPr lang="en-IN" sz="1800" dirty="0" err="1"/>
              <a:t>cout</a:t>
            </a:r>
            <a:r>
              <a:rPr lang="en-IN" sz="1800" dirty="0"/>
              <a:t>, is of type </a:t>
            </a:r>
            <a:r>
              <a:rPr lang="en-IN" sz="1800" dirty="0" err="1"/>
              <a:t>ostream</a:t>
            </a:r>
            <a:r>
              <a:rPr lang="en-IN" sz="1800" dirty="0"/>
              <a:t>; the second parameter, </a:t>
            </a:r>
            <a:r>
              <a:rPr lang="en-IN" sz="1800" dirty="0" err="1"/>
              <a:t>myRectangle</a:t>
            </a:r>
            <a:r>
              <a:rPr lang="en-IN" sz="1800" dirty="0"/>
              <a:t>, is of type </a:t>
            </a:r>
            <a:r>
              <a:rPr lang="en-IN" sz="1800" dirty="0" err="1"/>
              <a:t>rectangleType</a:t>
            </a:r>
            <a:endParaRPr lang="en-IN" sz="1800" dirty="0"/>
          </a:p>
          <a:p>
            <a:pPr>
              <a:defRPr/>
            </a:pPr>
            <a:r>
              <a:rPr lang="en-IN" sz="2000" dirty="0"/>
              <a:t>Now consider the following statement: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</a:t>
            </a:r>
            <a:r>
              <a:rPr lang="en-IN" sz="2000" dirty="0" err="1">
                <a:solidFill>
                  <a:srgbClr val="C00000"/>
                </a:solidFill>
              </a:rPr>
              <a:t>myRectangle</a:t>
            </a:r>
            <a:r>
              <a:rPr lang="en-IN" sz="2000" dirty="0">
                <a:solidFill>
                  <a:srgbClr val="C00000"/>
                </a:solidFill>
              </a:rPr>
              <a:t> &lt;&lt; </a:t>
            </a:r>
            <a:r>
              <a:rPr lang="en-IN" sz="2000" dirty="0" err="1">
                <a:solidFill>
                  <a:srgbClr val="C00000"/>
                </a:solidFill>
              </a:rPr>
              <a:t>yourRectangle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pPr>
              <a:defRPr/>
            </a:pPr>
            <a:r>
              <a:rPr lang="en-IN" sz="2000" dirty="0"/>
              <a:t>This statement is equivalent to the statement: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>
                <a:solidFill>
                  <a:srgbClr val="C00000"/>
                </a:solidFill>
              </a:rPr>
              <a:t>      operator&lt;&lt;(operator&lt;&lt;(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, </a:t>
            </a:r>
            <a:r>
              <a:rPr lang="en-IN" sz="2000" dirty="0" err="1">
                <a:solidFill>
                  <a:srgbClr val="C00000"/>
                </a:solidFill>
              </a:rPr>
              <a:t>myRectangle</a:t>
            </a:r>
            <a:r>
              <a:rPr lang="en-IN" sz="2000" dirty="0">
                <a:solidFill>
                  <a:srgbClr val="C00000"/>
                </a:solidFill>
              </a:rPr>
              <a:t>), </a:t>
            </a:r>
            <a:r>
              <a:rPr lang="en-IN" sz="2000" dirty="0" err="1">
                <a:solidFill>
                  <a:srgbClr val="C00000"/>
                </a:solidFill>
              </a:rPr>
              <a:t>yourRectangle</a:t>
            </a:r>
            <a:r>
              <a:rPr lang="en-IN" sz="2000" dirty="0">
                <a:solidFill>
                  <a:srgbClr val="C00000"/>
                </a:solidFill>
              </a:rPr>
              <a:t>); </a:t>
            </a: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00B2D7A-0E4D-40AB-847F-A4EA94BFA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15CC97-2C25-48E6-828C-84B96D8E5E8E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AC0B406-ADF6-4073-8A67-0CA755B6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I/O Stream Operators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419C-E4F1-4C39-AB24-78364EEBA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>
              <a:defRPr/>
            </a:pPr>
            <a:r>
              <a:rPr lang="en-IN" sz="2000" dirty="0"/>
              <a:t>because the associativity of the operator &lt;&lt; is from </a:t>
            </a:r>
            <a:r>
              <a:rPr lang="en-IN" sz="2000" dirty="0">
                <a:solidFill>
                  <a:srgbClr val="C00000"/>
                </a:solidFill>
              </a:rPr>
              <a:t>left to right</a:t>
            </a:r>
          </a:p>
          <a:p>
            <a:pPr>
              <a:defRPr/>
            </a:pPr>
            <a:r>
              <a:rPr lang="en-IN" sz="2000" dirty="0"/>
              <a:t>To execute the previous statement, we must first execute the expression: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</a:t>
            </a:r>
            <a:r>
              <a:rPr lang="en-IN" sz="2000" dirty="0" err="1">
                <a:solidFill>
                  <a:srgbClr val="C00000"/>
                </a:solidFill>
              </a:rPr>
              <a:t>myRectangle</a:t>
            </a: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that is, the expression: </a:t>
            </a:r>
            <a:r>
              <a:rPr lang="en-IN" sz="2000" dirty="0">
                <a:solidFill>
                  <a:srgbClr val="C00000"/>
                </a:solidFill>
              </a:rPr>
              <a:t>operator&lt;&lt;(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, </a:t>
            </a:r>
            <a:r>
              <a:rPr lang="en-IN" sz="2000" dirty="0" err="1">
                <a:solidFill>
                  <a:srgbClr val="C00000"/>
                </a:solidFill>
              </a:rPr>
              <a:t>myRectangle</a:t>
            </a:r>
            <a:r>
              <a:rPr lang="en-IN" sz="2000" dirty="0">
                <a:solidFill>
                  <a:srgbClr val="C00000"/>
                </a:solidFill>
              </a:rPr>
              <a:t>)</a:t>
            </a:r>
          </a:p>
          <a:p>
            <a:pPr>
              <a:defRPr/>
            </a:pPr>
            <a:r>
              <a:rPr lang="en-IN" sz="2000" dirty="0"/>
              <a:t>After executing this expression, which outputs the value of </a:t>
            </a:r>
            <a:r>
              <a:rPr lang="en-IN" sz="2000" dirty="0" err="1"/>
              <a:t>myRectangle</a:t>
            </a:r>
            <a:r>
              <a:rPr lang="en-IN" sz="2000" dirty="0"/>
              <a:t>, whatever is returned by the function operator &lt;&lt; will become the left-side parameter of the operator &lt;&lt; (that is, the first parameter of the function operator&lt;&lt;) in order to output the value of object </a:t>
            </a:r>
            <a:r>
              <a:rPr lang="en-IN" sz="2000" dirty="0" err="1"/>
              <a:t>yourRectangle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Because the left-side parameter of the operator &lt;&lt; must be an object of the </a:t>
            </a:r>
            <a:r>
              <a:rPr lang="en-IN" sz="2000" dirty="0" err="1"/>
              <a:t>ostream</a:t>
            </a:r>
            <a:r>
              <a:rPr lang="en-IN" sz="2000" dirty="0"/>
              <a:t> type, the expression: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</a:t>
            </a:r>
            <a:r>
              <a:rPr lang="en-IN" sz="2000" dirty="0" err="1">
                <a:solidFill>
                  <a:srgbClr val="C00000"/>
                </a:solidFill>
              </a:rPr>
              <a:t>cout</a:t>
            </a:r>
            <a:r>
              <a:rPr lang="en-IN" sz="2000" dirty="0">
                <a:solidFill>
                  <a:srgbClr val="C00000"/>
                </a:solidFill>
              </a:rPr>
              <a:t> &lt;&lt; </a:t>
            </a:r>
            <a:r>
              <a:rPr lang="en-IN" sz="2000" dirty="0" err="1">
                <a:solidFill>
                  <a:srgbClr val="C00000"/>
                </a:solidFill>
              </a:rPr>
              <a:t>myRectangle</a:t>
            </a:r>
            <a:endParaRPr lang="en-IN" sz="2000" dirty="0">
              <a:solidFill>
                <a:srgbClr val="C00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must return the object </a:t>
            </a:r>
            <a:r>
              <a:rPr lang="en-IN" sz="2000" dirty="0" err="1"/>
              <a:t>cout</a:t>
            </a:r>
            <a:r>
              <a:rPr lang="en-IN" sz="2000" dirty="0"/>
              <a:t> (not its value) in order to output the value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of </a:t>
            </a:r>
            <a:r>
              <a:rPr lang="en-IN" sz="2000" dirty="0" err="1"/>
              <a:t>yourRectangle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7E699841-8353-406D-A4C7-1E40F670C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F1A63A-1BAB-44F4-8DD4-0829BE015BBE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0681E4D-E039-411F-ADD0-0B56036B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Overloading I/O Stream Operators</a:t>
            </a:r>
            <a:endParaRPr lang="en-IN" altLang="en-US"/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CC04AE1E-856E-455B-9EA9-1DCA517AFB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C6638D-0738-437D-ACAB-DC9F9AA152D2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4" name="Text Box 3">
            <a:extLst>
              <a:ext uri="{FF2B5EF4-FFF2-40B4-BE49-F238E27FC236}">
                <a16:creationId xmlns:a16="http://schemas.microsoft.com/office/drawing/2014/main" id="{D771BE13-08A4-4305-8757-0123B6390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08088"/>
            <a:ext cx="6858000" cy="591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b="1"/>
              <a:t>class Point</a:t>
            </a:r>
          </a:p>
          <a:p>
            <a:pPr algn="just" eaLnBrk="1" hangingPunct="1"/>
            <a:r>
              <a:rPr lang="en-US" altLang="en-US" b="1"/>
              <a:t>{</a:t>
            </a:r>
          </a:p>
          <a:p>
            <a:pPr algn="just" eaLnBrk="1" hangingPunct="1"/>
            <a:r>
              <a:rPr lang="en-US" altLang="en-US" b="1"/>
              <a:t>	public:</a:t>
            </a:r>
          </a:p>
          <a:p>
            <a:pPr algn="just" eaLnBrk="1" hangingPunct="1"/>
            <a:r>
              <a:rPr lang="en-US" altLang="en-US" b="1"/>
              <a:t>		int x,y;</a:t>
            </a:r>
          </a:p>
          <a:p>
            <a:pPr algn="just" eaLnBrk="1" hangingPunct="1"/>
            <a:r>
              <a:rPr lang="en-US" altLang="en-US" b="1"/>
              <a:t>		Point () {};</a:t>
            </a:r>
          </a:p>
          <a:p>
            <a:pPr algn="just" eaLnBrk="1" hangingPunct="1"/>
            <a:r>
              <a:rPr lang="en-US" altLang="en-US" b="1"/>
              <a:t>		Point (int,int);</a:t>
            </a:r>
          </a:p>
          <a:p>
            <a:pPr algn="just" eaLnBrk="1" hangingPunct="1"/>
            <a:r>
              <a:rPr lang="en-US" altLang="en-US" b="1">
                <a:solidFill>
                  <a:srgbClr val="0000FF"/>
                </a:solidFill>
              </a:rPr>
              <a:t>	</a:t>
            </a:r>
            <a:r>
              <a:rPr lang="en-US" altLang="en-US" b="1">
                <a:solidFill>
                  <a:srgbClr val="C00000"/>
                </a:solidFill>
              </a:rPr>
              <a:t>friend ostream&amp; operator&lt;&lt;(ostream&amp;, const point&amp;); 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	friend istream&amp; operator&gt;&gt;(istream&amp;, const point&amp;);</a:t>
            </a:r>
          </a:p>
          <a:p>
            <a:pPr algn="just" eaLnBrk="1" hangingPunct="1"/>
            <a:r>
              <a:rPr lang="en-US" altLang="en-US" b="1"/>
              <a:t>};</a:t>
            </a:r>
          </a:p>
          <a:p>
            <a:pPr algn="just" eaLnBrk="1" hangingPunct="1"/>
            <a:r>
              <a:rPr lang="en-US" altLang="en-US" b="1"/>
              <a:t>Point::Point (int a, int b) </a:t>
            </a:r>
          </a:p>
          <a:p>
            <a:pPr algn="just" eaLnBrk="1" hangingPunct="1"/>
            <a:r>
              <a:rPr lang="en-US" altLang="en-US" b="1"/>
              <a:t>{  x = a;  y = b;}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ostream&amp; operator&lt;&lt;(ostream&amp; os, const Point&amp; a) </a:t>
            </a:r>
          </a:p>
          <a:p>
            <a:pPr algn="just" eaLnBrk="1" hangingPunct="1"/>
            <a:r>
              <a:rPr lang="en-US" altLang="en-US" b="1"/>
              <a:t>{    os &lt;&lt; a.x;      </a:t>
            </a:r>
          </a:p>
          <a:p>
            <a:pPr algn="just" eaLnBrk="1" hangingPunct="1"/>
            <a:r>
              <a:rPr lang="en-US" altLang="en-US" b="1"/>
              <a:t>	os &lt;&lt; a.y;     </a:t>
            </a:r>
          </a:p>
          <a:p>
            <a:pPr algn="just" eaLnBrk="1" hangingPunct="1"/>
            <a:r>
              <a:rPr lang="en-US" altLang="en-US" b="1"/>
              <a:t>	return os;  }</a:t>
            </a:r>
          </a:p>
          <a:p>
            <a:pPr algn="just" eaLnBrk="1" hangingPunct="1"/>
            <a:r>
              <a:rPr lang="en-US" altLang="en-US" b="1">
                <a:solidFill>
                  <a:srgbClr val="C00000"/>
                </a:solidFill>
              </a:rPr>
              <a:t>istream&amp; operator&gt;&gt;(istream&amp; is, Point&amp; a)</a:t>
            </a:r>
          </a:p>
          <a:p>
            <a:pPr algn="just" eaLnBrk="1" hangingPunct="1"/>
            <a:r>
              <a:rPr lang="en-US" altLang="en-US" b="1"/>
              <a:t>{    is &gt;&gt; a.x;      </a:t>
            </a:r>
          </a:p>
          <a:p>
            <a:pPr algn="just" eaLnBrk="1" hangingPunct="1"/>
            <a:r>
              <a:rPr lang="en-US" altLang="en-US" b="1"/>
              <a:t>	is &gt;&gt; a.y;      </a:t>
            </a:r>
          </a:p>
          <a:p>
            <a:pPr algn="just" eaLnBrk="1" hangingPunct="1"/>
            <a:r>
              <a:rPr lang="en-US" altLang="en-US" b="1"/>
              <a:t>	return is;  } </a:t>
            </a:r>
          </a:p>
          <a:p>
            <a:pPr algn="just" eaLnBrk="1" hangingPunct="1"/>
            <a:endParaRPr lang="en-US" altLang="en-US" b="1"/>
          </a:p>
          <a:p>
            <a:pPr algn="just" eaLnBrk="1" hangingPunct="1"/>
            <a:endParaRPr lang="en-US" altLang="en-US" b="1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04DC72CC-0F03-46C8-9926-B686B0D4B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066800"/>
            <a:ext cx="5943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600" b="1"/>
              <a:t>main()</a:t>
            </a:r>
          </a:p>
          <a:p>
            <a:pPr algn="just" eaLnBrk="1" hangingPunct="1"/>
            <a:r>
              <a:rPr lang="en-US" altLang="en-US" sz="1600" b="1"/>
              <a:t>{</a:t>
            </a:r>
          </a:p>
          <a:p>
            <a:pPr algn="just" eaLnBrk="1" hangingPunct="1"/>
            <a:r>
              <a:rPr lang="en-US" altLang="en-US" sz="1600" b="1"/>
              <a:t>	Point p1(2,3), p2(0,0);</a:t>
            </a:r>
          </a:p>
          <a:p>
            <a:pPr algn="just" eaLnBrk="1" hangingPunct="1"/>
            <a:r>
              <a:rPr lang="en-US" altLang="en-US" sz="1600" b="1"/>
              <a:t>	</a:t>
            </a:r>
            <a:r>
              <a:rPr lang="en-US" altLang="en-US" sz="1600" b="1">
                <a:solidFill>
                  <a:srgbClr val="C00000"/>
                </a:solidFill>
              </a:rPr>
              <a:t>cin&gt;&gt;p2;    // operator &gt;&gt;(cin, p2);  //</a:t>
            </a:r>
            <a:r>
              <a:rPr lang="en-US" altLang="en-US" sz="1600" b="1">
                <a:solidFill>
                  <a:srgbClr val="FF0000"/>
                </a:solidFill>
              </a:rPr>
              <a:t>cin.operator&gt;&gt;(p2)</a:t>
            </a:r>
          </a:p>
          <a:p>
            <a:pPr algn="just" eaLnBrk="1" hangingPunct="1"/>
            <a:r>
              <a:rPr lang="en-US" altLang="en-US" sz="1600" b="1">
                <a:solidFill>
                  <a:srgbClr val="C00000"/>
                </a:solidFill>
              </a:rPr>
              <a:t>	cout&lt;&lt;p1;  // operator &lt;&lt;(cout, p1);</a:t>
            </a:r>
          </a:p>
          <a:p>
            <a:pPr algn="just" eaLnBrk="1" hangingPunct="1"/>
            <a:r>
              <a:rPr lang="en-US" altLang="en-US" sz="1600" b="1">
                <a:solidFill>
                  <a:srgbClr val="C00000"/>
                </a:solidFill>
              </a:rPr>
              <a:t>   	cout&lt;&lt;p2;</a:t>
            </a:r>
          </a:p>
          <a:p>
            <a:pPr algn="just" eaLnBrk="1" hangingPunct="1"/>
            <a:r>
              <a:rPr lang="en-US" altLang="en-US" sz="1600" b="1"/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41686976-7C6D-48F7-8B54-347B3442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Overloading the Subscript Operator [ 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0540-3EB9-4779-803D-F8056A47A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</a:t>
            </a:r>
            <a:r>
              <a:rPr lang="en-IN" sz="2000" dirty="0">
                <a:solidFill>
                  <a:srgbClr val="C00000"/>
                </a:solidFill>
              </a:rPr>
              <a:t>subscript operator [ ]</a:t>
            </a:r>
            <a:r>
              <a:rPr lang="en-IN" sz="2000" dirty="0"/>
              <a:t> is commonly defined to access and modify a data field or an element in an object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E210D4F9-4193-4148-A446-465A672B5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8E25C0-0A5D-49FD-8229-FDC969314332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361ABD1F-E95B-4AA7-B1CE-DCD6CCD4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362200"/>
            <a:ext cx="41148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const int SIZE = 10;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class safearay {</a:t>
            </a:r>
          </a:p>
          <a:p>
            <a:pPr eaLnBrk="1" hangingPunct="1"/>
            <a:r>
              <a:rPr lang="en-IN" altLang="en-US"/>
              <a:t>   private:</a:t>
            </a:r>
          </a:p>
          <a:p>
            <a:pPr eaLnBrk="1" hangingPunct="1"/>
            <a:r>
              <a:rPr lang="en-IN" altLang="en-US"/>
              <a:t>        int arr[SIZE];</a:t>
            </a:r>
          </a:p>
          <a:p>
            <a:pPr eaLnBrk="1" hangingPunct="1"/>
            <a:r>
              <a:rPr lang="en-IN" altLang="en-US"/>
              <a:t>      </a:t>
            </a:r>
          </a:p>
          <a:p>
            <a:pPr eaLnBrk="1" hangingPunct="1"/>
            <a:r>
              <a:rPr lang="en-IN" altLang="en-US"/>
              <a:t>   public:</a:t>
            </a:r>
          </a:p>
          <a:p>
            <a:pPr eaLnBrk="1" hangingPunct="1"/>
            <a:r>
              <a:rPr lang="en-IN" altLang="en-US"/>
              <a:t>      safearay() {</a:t>
            </a:r>
          </a:p>
          <a:p>
            <a:pPr eaLnBrk="1" hangingPunct="1"/>
            <a:r>
              <a:rPr lang="en-IN" altLang="en-US"/>
              <a:t>          for(int i = 0; i &lt; SIZE; i++) {</a:t>
            </a:r>
          </a:p>
          <a:p>
            <a:pPr eaLnBrk="1" hangingPunct="1"/>
            <a:r>
              <a:rPr lang="en-IN" altLang="en-US"/>
              <a:t>           arr[i] = i;</a:t>
            </a:r>
          </a:p>
          <a:p>
            <a:pPr eaLnBrk="1" hangingPunct="1"/>
            <a:r>
              <a:rPr lang="en-IN" altLang="en-US"/>
              <a:t>         }</a:t>
            </a:r>
          </a:p>
          <a:p>
            <a:pPr eaLnBrk="1" hangingPunct="1"/>
            <a:r>
              <a:rPr lang="en-IN" altLang="en-US"/>
              <a:t>      }</a:t>
            </a:r>
          </a:p>
          <a:p>
            <a:pPr eaLnBrk="1" hangingPunct="1"/>
            <a:r>
              <a:rPr lang="en-IN" altLang="en-US"/>
              <a:t>      </a:t>
            </a:r>
          </a:p>
        </p:txBody>
      </p:sp>
      <p:sp>
        <p:nvSpPr>
          <p:cNvPr id="47110" name="Rectangle 5">
            <a:extLst>
              <a:ext uri="{FF2B5EF4-FFF2-40B4-BE49-F238E27FC236}">
                <a16:creationId xmlns:a16="http://schemas.microsoft.com/office/drawing/2014/main" id="{0C6635B7-4002-41A0-9546-90BE7616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362200"/>
            <a:ext cx="5621338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 </a:t>
            </a:r>
            <a:r>
              <a:rPr lang="en-IN" altLang="en-US">
                <a:solidFill>
                  <a:srgbClr val="C00000"/>
                </a:solidFill>
              </a:rPr>
              <a:t>int &amp;operator [ ] (int i) {</a:t>
            </a:r>
          </a:p>
          <a:p>
            <a:pPr eaLnBrk="1" hangingPunct="1"/>
            <a:r>
              <a:rPr lang="en-IN" altLang="en-US"/>
              <a:t>         if( i &gt; SIZE ) {</a:t>
            </a:r>
          </a:p>
          <a:p>
            <a:pPr eaLnBrk="1" hangingPunct="1"/>
            <a:r>
              <a:rPr lang="en-IN" altLang="en-US"/>
              <a:t>            cout &lt;&lt; "Index out of bounds" &lt;&lt;endl; </a:t>
            </a:r>
          </a:p>
          <a:p>
            <a:pPr eaLnBrk="1" hangingPunct="1"/>
            <a:r>
              <a:rPr lang="en-IN" altLang="en-US"/>
              <a:t>            // return first element</a:t>
            </a:r>
          </a:p>
          <a:p>
            <a:pPr eaLnBrk="1" hangingPunct="1"/>
            <a:r>
              <a:rPr lang="en-IN" altLang="en-US"/>
              <a:t>            return arr[0];</a:t>
            </a:r>
          </a:p>
          <a:p>
            <a:pPr eaLnBrk="1" hangingPunct="1"/>
            <a:r>
              <a:rPr lang="en-IN" altLang="en-US"/>
              <a:t>         }</a:t>
            </a:r>
          </a:p>
          <a:p>
            <a:pPr eaLnBrk="1" hangingPunct="1"/>
            <a:r>
              <a:rPr lang="en-IN" altLang="en-US"/>
              <a:t>         return arr[i];</a:t>
            </a:r>
          </a:p>
          <a:p>
            <a:pPr eaLnBrk="1" hangingPunct="1"/>
            <a:r>
              <a:rPr lang="en-IN" altLang="en-US"/>
              <a:t>      }</a:t>
            </a:r>
          </a:p>
          <a:p>
            <a:pPr eaLnBrk="1" hangingPunct="1"/>
            <a:r>
              <a:rPr lang="en-IN" altLang="en-US"/>
              <a:t>};</a:t>
            </a: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3857E639-82EA-4437-8B37-B8FBF4CD8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948238"/>
            <a:ext cx="5849938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 {</a:t>
            </a:r>
          </a:p>
          <a:p>
            <a:pPr eaLnBrk="1" hangingPunct="1"/>
            <a:r>
              <a:rPr lang="en-IN" altLang="en-US"/>
              <a:t>   safearay A;</a:t>
            </a:r>
          </a:p>
          <a:p>
            <a:pPr eaLnBrk="1" hangingPunct="1"/>
            <a:r>
              <a:rPr lang="en-IN" altLang="en-US"/>
              <a:t>   cout &lt;&lt; "Value of A[2] : " &lt;&lt; </a:t>
            </a:r>
            <a:r>
              <a:rPr lang="en-IN" altLang="en-US">
                <a:solidFill>
                  <a:srgbClr val="C00000"/>
                </a:solidFill>
              </a:rPr>
              <a:t>A[2]</a:t>
            </a:r>
            <a:r>
              <a:rPr lang="en-IN" altLang="en-US"/>
              <a:t> &lt;&lt;endl;</a:t>
            </a:r>
          </a:p>
          <a:p>
            <a:pPr eaLnBrk="1" hangingPunct="1"/>
            <a:r>
              <a:rPr lang="en-IN" altLang="en-US"/>
              <a:t>   cout &lt;&lt; "Value of A[5] : " &lt;&lt; </a:t>
            </a:r>
            <a:r>
              <a:rPr lang="en-IN" altLang="en-US">
                <a:solidFill>
                  <a:srgbClr val="C00000"/>
                </a:solidFill>
              </a:rPr>
              <a:t>A[5]</a:t>
            </a:r>
            <a:r>
              <a:rPr lang="en-IN" altLang="en-US"/>
              <a:t>&lt;&lt;endl;</a:t>
            </a:r>
          </a:p>
          <a:p>
            <a:pPr eaLnBrk="1" hangingPunct="1"/>
            <a:r>
              <a:rPr lang="en-IN" altLang="en-US"/>
              <a:t>   cout &lt;&lt; "Value of A[12] : " &lt;&lt; </a:t>
            </a:r>
            <a:r>
              <a:rPr lang="en-IN" altLang="en-US">
                <a:solidFill>
                  <a:srgbClr val="C00000"/>
                </a:solidFill>
              </a:rPr>
              <a:t>A[12]</a:t>
            </a:r>
            <a:r>
              <a:rPr lang="en-IN" altLang="en-US"/>
              <a:t>&lt;&lt;endl;</a:t>
            </a:r>
          </a:p>
          <a:p>
            <a:pPr eaLnBrk="1" hangingPunct="1"/>
            <a:r>
              <a:rPr lang="en-IN" altLang="en-US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4BC0D32B-B5DD-45D8-9B7A-FF17C152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Overloading ( ) Operator</a:t>
            </a: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87FD4399-18B9-46EF-822F-322184CFF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D17747-B021-4614-86C2-759420DB7A3A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AACD6F3F-BE70-42CB-B642-0A571571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39838"/>
            <a:ext cx="28956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 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class Distance {</a:t>
            </a:r>
          </a:p>
          <a:p>
            <a:pPr eaLnBrk="1" hangingPunct="1"/>
            <a:r>
              <a:rPr lang="en-IN" altLang="en-US"/>
              <a:t>   private:</a:t>
            </a:r>
          </a:p>
          <a:p>
            <a:pPr eaLnBrk="1" hangingPunct="1"/>
            <a:r>
              <a:rPr lang="en-IN" altLang="en-US"/>
              <a:t>      int feet;             </a:t>
            </a:r>
          </a:p>
          <a:p>
            <a:pPr eaLnBrk="1" hangingPunct="1"/>
            <a:r>
              <a:rPr lang="en-IN" altLang="en-US"/>
              <a:t>      int inches;         </a:t>
            </a:r>
          </a:p>
          <a:p>
            <a:pPr eaLnBrk="1" hangingPunct="1"/>
            <a:r>
              <a:rPr lang="en-IN" altLang="en-US"/>
              <a:t>      </a:t>
            </a:r>
          </a:p>
          <a:p>
            <a:pPr eaLnBrk="1" hangingPunct="1"/>
            <a:r>
              <a:rPr lang="en-IN" altLang="en-US"/>
              <a:t>   public:</a:t>
            </a:r>
          </a:p>
          <a:p>
            <a:pPr eaLnBrk="1" hangingPunct="1"/>
            <a:r>
              <a:rPr lang="en-IN" altLang="en-US"/>
              <a:t>         Distance() {</a:t>
            </a:r>
          </a:p>
          <a:p>
            <a:pPr eaLnBrk="1" hangingPunct="1"/>
            <a:r>
              <a:rPr lang="en-IN" altLang="en-US"/>
              <a:t>         feet = 0;</a:t>
            </a:r>
          </a:p>
          <a:p>
            <a:pPr eaLnBrk="1" hangingPunct="1"/>
            <a:r>
              <a:rPr lang="en-IN" altLang="en-US"/>
              <a:t>         inches = 0; }</a:t>
            </a:r>
          </a:p>
          <a:p>
            <a:pPr eaLnBrk="1" hangingPunct="1"/>
            <a:r>
              <a:rPr lang="en-IN" altLang="en-US"/>
              <a:t>      Distance(int f, int i) {</a:t>
            </a:r>
          </a:p>
          <a:p>
            <a:pPr eaLnBrk="1" hangingPunct="1"/>
            <a:r>
              <a:rPr lang="en-IN" altLang="en-US"/>
              <a:t>         feet = f;</a:t>
            </a:r>
          </a:p>
          <a:p>
            <a:pPr eaLnBrk="1" hangingPunct="1"/>
            <a:r>
              <a:rPr lang="en-IN" altLang="en-US"/>
              <a:t>         inches = i;       }</a:t>
            </a:r>
          </a:p>
          <a:p>
            <a:pPr eaLnBrk="1" hangingPunct="1"/>
            <a:r>
              <a:rPr lang="en-IN" altLang="en-US"/>
              <a:t>    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1F90F6F4-FAFD-4EC1-AD11-040C99F1A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1295400"/>
            <a:ext cx="60198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Distance operator()(int a, int b, int c) {</a:t>
            </a:r>
          </a:p>
          <a:p>
            <a:pPr eaLnBrk="1" hangingPunct="1"/>
            <a:r>
              <a:rPr lang="en-IN" altLang="en-US"/>
              <a:t>         Distance D;</a:t>
            </a:r>
          </a:p>
          <a:p>
            <a:pPr eaLnBrk="1" hangingPunct="1"/>
            <a:r>
              <a:rPr lang="en-IN" altLang="en-US"/>
              <a:t>         D.feet = a + c + 10;</a:t>
            </a:r>
          </a:p>
          <a:p>
            <a:pPr eaLnBrk="1" hangingPunct="1"/>
            <a:r>
              <a:rPr lang="en-IN" altLang="en-US"/>
              <a:t>         D.inches = b + c + 100 ;</a:t>
            </a:r>
          </a:p>
          <a:p>
            <a:pPr eaLnBrk="1" hangingPunct="1"/>
            <a:r>
              <a:rPr lang="en-IN" altLang="en-US"/>
              <a:t>         return D;</a:t>
            </a:r>
          </a:p>
          <a:p>
            <a:pPr eaLnBrk="1" hangingPunct="1"/>
            <a:r>
              <a:rPr lang="en-IN" altLang="en-US"/>
              <a:t>      }</a:t>
            </a:r>
          </a:p>
          <a:p>
            <a:pPr eaLnBrk="1" hangingPunct="1"/>
            <a:r>
              <a:rPr lang="en-IN" altLang="en-US"/>
              <a:t>      </a:t>
            </a:r>
          </a:p>
          <a:p>
            <a:pPr eaLnBrk="1" hangingPunct="1"/>
            <a:r>
              <a:rPr lang="en-IN" altLang="en-US"/>
              <a:t>void displayDistance() {</a:t>
            </a:r>
          </a:p>
          <a:p>
            <a:pPr eaLnBrk="1" hangingPunct="1"/>
            <a:r>
              <a:rPr lang="en-IN" altLang="en-US"/>
              <a:t>         cout &lt;&lt; "F: " &lt;&lt; feet &lt;&lt; " I:" &lt;&lt; inches &lt;&lt; endl;</a:t>
            </a:r>
          </a:p>
          <a:p>
            <a:pPr eaLnBrk="1" hangingPunct="1"/>
            <a:r>
              <a:rPr lang="en-IN" altLang="en-US"/>
              <a:t>      }   </a:t>
            </a:r>
          </a:p>
          <a:p>
            <a:pPr eaLnBrk="1" hangingPunct="1"/>
            <a:r>
              <a:rPr lang="en-IN" altLang="en-US"/>
              <a:t>};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8E668142-1EBA-434F-9232-2667E1DFD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463" y="4271963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int main() {</a:t>
            </a:r>
          </a:p>
          <a:p>
            <a:pPr eaLnBrk="1" hangingPunct="1"/>
            <a:r>
              <a:rPr lang="en-IN" altLang="en-US"/>
              <a:t>   Distance D1(11, 10), D2;</a:t>
            </a:r>
          </a:p>
          <a:p>
            <a:pPr eaLnBrk="1" hangingPunct="1"/>
            <a:r>
              <a:rPr lang="en-IN" altLang="en-US"/>
              <a:t>   cout &lt;&lt; "First Distance : "; </a:t>
            </a:r>
          </a:p>
          <a:p>
            <a:pPr eaLnBrk="1" hangingPunct="1"/>
            <a:r>
              <a:rPr lang="en-IN" altLang="en-US"/>
              <a:t>   D1.displayDistance();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  </a:t>
            </a:r>
            <a:r>
              <a:rPr lang="en-IN" altLang="en-US">
                <a:solidFill>
                  <a:srgbClr val="C00000"/>
                </a:solidFill>
              </a:rPr>
              <a:t>D2 = D1(10, 10, 10);</a:t>
            </a:r>
            <a:r>
              <a:rPr lang="en-IN" altLang="en-US"/>
              <a:t>   // invoke operator()</a:t>
            </a:r>
          </a:p>
          <a:p>
            <a:pPr eaLnBrk="1" hangingPunct="1"/>
            <a:r>
              <a:rPr lang="en-IN" altLang="en-US"/>
              <a:t>   cout &lt;&lt; "Second Distance :"; </a:t>
            </a:r>
          </a:p>
          <a:p>
            <a:pPr eaLnBrk="1" hangingPunct="1"/>
            <a:r>
              <a:rPr lang="en-IN" altLang="en-US"/>
              <a:t>   D2.displayDistance();</a:t>
            </a:r>
          </a:p>
          <a:p>
            <a:pPr eaLnBrk="1" hangingPunct="1"/>
            <a:r>
              <a:rPr lang="en-IN" altLang="en-US"/>
              <a:t>   return 0;   }</a:t>
            </a:r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2C014140-8CC7-4D3E-A454-841CA7C6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676400"/>
            <a:ext cx="3200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600" b="1"/>
              <a:t>Note: </a:t>
            </a:r>
            <a:r>
              <a:rPr lang="en-IN" altLang="en-US" sz="1600"/>
              <a:t>The function call operator, when overloaded, does not modify how functions are called. Rather, it modifies how the operator is to be interpreted when applied to objects of a given type.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B307F32-2C38-4918-B51F-E554CDB0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 Conversion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23063-57B6-4CDB-B37F-2476FCE98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type conversions are automatic only when the data types involved are built-in types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B48A0EB-D420-41E4-96E3-806AF86067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ABD23A-6C3A-4063-9626-C1A0452F0C47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8130" name="Picture 2">
            <a:extLst>
              <a:ext uri="{FF2B5EF4-FFF2-40B4-BE49-F238E27FC236}">
                <a16:creationId xmlns:a16="http://schemas.microsoft.com/office/drawing/2014/main" id="{A5C8FECF-F0F8-418C-B0A8-0A4280569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0550" y="2362200"/>
            <a:ext cx="8020050" cy="3629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FB28F0B0-8F45-4981-90EF-CC288205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Type Conversion for User-Defined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5734-15DD-4EFF-A0F4-F0CC6B789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For user defined data types, the compiler does not support automatic type conversions</a:t>
            </a:r>
          </a:p>
          <a:p>
            <a:pPr>
              <a:defRPr/>
            </a:pPr>
            <a:r>
              <a:rPr lang="en-IN" sz="2000" dirty="0"/>
              <a:t>The data conversion interface function should be explicitly specified by the user</a:t>
            </a:r>
          </a:p>
          <a:p>
            <a:pPr>
              <a:defRPr/>
            </a:pPr>
            <a:r>
              <a:rPr lang="en-IN" sz="2000" dirty="0"/>
              <a:t>A </a:t>
            </a:r>
            <a:r>
              <a:rPr lang="en-IN" sz="2000" dirty="0">
                <a:solidFill>
                  <a:srgbClr val="C00000"/>
                </a:solidFill>
              </a:rPr>
              <a:t>single argument constructor </a:t>
            </a:r>
            <a:r>
              <a:rPr lang="en-IN" sz="2000" dirty="0"/>
              <a:t>or </a:t>
            </a:r>
            <a:r>
              <a:rPr lang="en-IN" sz="2000" dirty="0">
                <a:solidFill>
                  <a:srgbClr val="C00000"/>
                </a:solidFill>
              </a:rPr>
              <a:t>operator function </a:t>
            </a:r>
            <a:r>
              <a:rPr lang="en-IN" sz="2000" dirty="0"/>
              <a:t>could be used for conversion of objects of different classes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F41E3924-CD93-4322-984C-8EB781BB8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63BC59-EAA8-40C6-9E3B-3949AEAEF36E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9154" name="Picture 2">
            <a:extLst>
              <a:ext uri="{FF2B5EF4-FFF2-40B4-BE49-F238E27FC236}">
                <a16:creationId xmlns:a16="http://schemas.microsoft.com/office/drawing/2014/main" id="{37E79ADA-D83B-4929-9401-424FB69A5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581400"/>
            <a:ext cx="5867400" cy="31321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951B992C-239E-467C-AD4D-8FA62F73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Type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00E3-12A2-4C0F-B4A2-A44E1A6E3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Different situations of data conversion between incompatible types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Conversion from basic type to class type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Conversion from class type to basic type 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Conversion from one class type to another class type</a:t>
            </a:r>
          </a:p>
          <a:p>
            <a:pPr>
              <a:defRPr/>
            </a:pP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AA226F30-66E9-420F-AF8A-EB18214CA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771298-F859-4E3F-B238-9863025D6E88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" name="Group 29">
            <a:extLst>
              <a:ext uri="{FF2B5EF4-FFF2-40B4-BE49-F238E27FC236}">
                <a16:creationId xmlns:a16="http://schemas.microsoft.com/office/drawing/2014/main" id="{304B9403-888E-4100-9F4E-868AB701603A}"/>
              </a:ext>
            </a:extLst>
          </p:cNvPr>
          <p:cNvGraphicFramePr>
            <a:graphicFrameLocks/>
          </p:cNvGraphicFramePr>
          <p:nvPr/>
        </p:nvGraphicFramePr>
        <p:xfrm>
          <a:off x="1600200" y="3505200"/>
          <a:ext cx="5265738" cy="2317750"/>
        </p:xfrm>
        <a:graphic>
          <a:graphicData uri="http://schemas.openxmlformats.org/drawingml/2006/table">
            <a:tbl>
              <a:tblPr/>
              <a:tblGrid>
                <a:gridCol w="16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Conversion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Source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Destination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Basic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class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Not applicable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Constructor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Class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basic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Casting Operator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Not Applicable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Class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 class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Casting operator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 pitchFamily="18" charset="0"/>
                          <a:cs typeface="Arial" pitchFamily="34" charset="0"/>
                        </a:rPr>
                        <a:t>Constructor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stealth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31454C66-DF7C-40EC-8307-7E55B60B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Conversion from Basic type to Class type (user-defined)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2DD8-121B-41BA-9F62-63E6E865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To convert basic to user-defined data type, </a:t>
            </a:r>
            <a:r>
              <a:rPr lang="en-US" sz="2000" dirty="0">
                <a:solidFill>
                  <a:srgbClr val="C00000"/>
                </a:solidFill>
              </a:rPr>
              <a:t>single argument conversion constructor </a:t>
            </a:r>
            <a:r>
              <a:rPr lang="en-US" sz="2000" dirty="0"/>
              <a:t>routine should be written in the destination object class</a:t>
            </a:r>
          </a:p>
          <a:p>
            <a:pPr>
              <a:defRPr/>
            </a:pPr>
            <a:r>
              <a:rPr lang="en-IN" sz="2000" dirty="0"/>
              <a:t>The compiler uses this constructor to perform implicit class-type conversions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Conversion Constructor </a:t>
            </a:r>
            <a:r>
              <a:rPr lang="en-IN" sz="2000" dirty="0"/>
              <a:t>– takes a single argument of basic data type</a:t>
            </a:r>
          </a:p>
          <a:p>
            <a:pPr>
              <a:defRPr/>
            </a:pPr>
            <a:endParaRPr lang="en-IN" sz="2000" dirty="0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67B31539-A447-4CE7-8A5E-31C2E7944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F85FC1-3643-45EB-B979-9444C63A7044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1458EF47-1241-4AE3-A293-BD6C2C105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038600"/>
            <a:ext cx="5975350" cy="22098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8A1B0923-97DD-4241-B94E-08D3CBC60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Conversion from Class type (user-defined) to Basic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99D84-6D73-4857-971C-0A01DEF4D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A constructor function do not support type conversion from a class type to a basic type</a:t>
            </a:r>
          </a:p>
          <a:p>
            <a:pPr>
              <a:defRPr/>
            </a:pPr>
            <a:r>
              <a:rPr lang="en-IN" sz="2000" dirty="0"/>
              <a:t>An </a:t>
            </a:r>
            <a:r>
              <a:rPr lang="en-IN" sz="2000" dirty="0">
                <a:solidFill>
                  <a:srgbClr val="C00000"/>
                </a:solidFill>
              </a:rPr>
              <a:t>overloaded casting operator </a:t>
            </a:r>
            <a:r>
              <a:rPr lang="en-IN" sz="2000" dirty="0"/>
              <a:t>is used to convert a class type data to a basic type. It should be written in the source object class</a:t>
            </a:r>
          </a:p>
          <a:p>
            <a:pPr>
              <a:defRPr/>
            </a:pPr>
            <a:r>
              <a:rPr lang="en-IN" sz="2000" dirty="0"/>
              <a:t>It is also referred to as </a:t>
            </a:r>
            <a:r>
              <a:rPr lang="en-IN" sz="2000" dirty="0">
                <a:solidFill>
                  <a:srgbClr val="C00000"/>
                </a:solidFill>
              </a:rPr>
              <a:t>conversion function</a:t>
            </a: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IN" sz="2000" dirty="0"/>
              <a:t>This function converts a </a:t>
            </a:r>
            <a:r>
              <a:rPr lang="en-IN" sz="2000" dirty="0">
                <a:solidFill>
                  <a:srgbClr val="C00000"/>
                </a:solidFill>
              </a:rPr>
              <a:t>class type data to </a:t>
            </a:r>
            <a:r>
              <a:rPr lang="en-IN" sz="2000" dirty="0" err="1">
                <a:solidFill>
                  <a:srgbClr val="C00000"/>
                </a:solidFill>
              </a:rPr>
              <a:t>typename</a:t>
            </a:r>
            <a:endParaRPr lang="en-IN" sz="20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IN" sz="1800" dirty="0"/>
              <a:t>Converts the class object of which it is a member to </a:t>
            </a:r>
            <a:r>
              <a:rPr lang="en-IN" sz="1800" dirty="0" err="1"/>
              <a:t>typename</a:t>
            </a:r>
            <a:r>
              <a:rPr lang="en-IN" sz="1800" dirty="0"/>
              <a:t>. </a:t>
            </a:r>
          </a:p>
          <a:p>
            <a:pPr lvl="1">
              <a:defRPr/>
            </a:pPr>
            <a:r>
              <a:rPr lang="en-IN" sz="1800" dirty="0"/>
              <a:t>The </a:t>
            </a:r>
            <a:r>
              <a:rPr lang="en-IN" sz="1800" dirty="0" err="1"/>
              <a:t>typename</a:t>
            </a:r>
            <a:r>
              <a:rPr lang="en-IN" sz="1800" dirty="0"/>
              <a:t> may be a built-in type or a user-defined one</a:t>
            </a:r>
            <a:r>
              <a:rPr lang="en-IN" sz="1600" dirty="0"/>
              <a:t>.</a:t>
            </a:r>
            <a:endParaRPr lang="en-IN" sz="1600" dirty="0">
              <a:solidFill>
                <a:srgbClr val="C00000"/>
              </a:solidFill>
            </a:endParaRPr>
          </a:p>
          <a:p>
            <a:pPr>
              <a:defRPr/>
            </a:pPr>
            <a:endParaRPr lang="en-IN" sz="2000" dirty="0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D5A84A13-2489-4A49-92DA-DCAF865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341C2F-62E7-4087-B823-A5E985661BFA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D98C96FE-0CD9-47A8-AF78-F7AB88CCE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2475" y="3810000"/>
            <a:ext cx="7724775" cy="14287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C11C98F3-D054-44B5-8EC0-1C282D23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Casting Operator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219A-B358-4C62-91F0-9863A9655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sz="2000" dirty="0"/>
              <a:t>The casting operator function should satisfy the following conditions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It must be a class member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It must not specify a return type</a:t>
            </a:r>
          </a:p>
          <a:p>
            <a:pPr lvl="1">
              <a:defRPr/>
            </a:pPr>
            <a:r>
              <a:rPr lang="en-IN" sz="2000" dirty="0">
                <a:solidFill>
                  <a:srgbClr val="C00000"/>
                </a:solidFill>
              </a:rPr>
              <a:t>It must not have any arguments </a:t>
            </a:r>
          </a:p>
          <a:p>
            <a:pPr>
              <a:defRPr/>
            </a:pPr>
            <a:r>
              <a:rPr lang="en-IN" sz="2000" dirty="0"/>
              <a:t>Conversion functions are member functions and it is invoked with objects</a:t>
            </a:r>
          </a:p>
          <a:p>
            <a:pPr>
              <a:defRPr/>
            </a:pPr>
            <a:r>
              <a:rPr lang="en-IN" sz="2000" dirty="0"/>
              <a:t>Therefore the values used for conversion inside the function belong to the object that invoked the function</a:t>
            </a:r>
          </a:p>
          <a:p>
            <a:pPr>
              <a:defRPr/>
            </a:pPr>
            <a:r>
              <a:rPr lang="en-IN" sz="2000" dirty="0"/>
              <a:t>This means that the function does not need an argument</a:t>
            </a:r>
          </a:p>
          <a:p>
            <a:pPr>
              <a:defRPr/>
            </a:pPr>
            <a:r>
              <a:rPr lang="en-IN" sz="2000" dirty="0"/>
              <a:t>This overloaded typecast operator function does not have any return type(not even void) </a:t>
            </a:r>
          </a:p>
          <a:p>
            <a:pPr>
              <a:defRPr/>
            </a:pPr>
            <a:r>
              <a:rPr lang="en-IN" sz="2000" dirty="0"/>
              <a:t>Because the </a:t>
            </a:r>
            <a:r>
              <a:rPr lang="en-IN" sz="2000" dirty="0" err="1"/>
              <a:t>returntype</a:t>
            </a:r>
            <a:r>
              <a:rPr lang="en-IN" sz="2000" dirty="0"/>
              <a:t> is the </a:t>
            </a:r>
            <a:r>
              <a:rPr lang="en-IN" sz="2000" dirty="0" err="1"/>
              <a:t>typename</a:t>
            </a:r>
            <a:r>
              <a:rPr lang="en-IN" sz="2000" dirty="0"/>
              <a:t> to which the object is being converted</a:t>
            </a: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E1BC40BE-0936-42BA-9EA4-680A3CE24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2D4BC6-C303-41E6-9853-8F7EC5639722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CD5A6B-6D94-4FBA-AE5C-ED076BDC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Type Conversion - Example</a:t>
            </a:r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008AF489-259E-42C5-A178-196550AA1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1D3F6C-DD4B-4042-963C-D12AC8007D73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300" name="TextBox 4">
            <a:extLst>
              <a:ext uri="{FF2B5EF4-FFF2-40B4-BE49-F238E27FC236}">
                <a16:creationId xmlns:a16="http://schemas.microsoft.com/office/drawing/2014/main" id="{349C2C85-8C30-46EC-9EB3-9D461148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144588"/>
            <a:ext cx="5791200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Class Meter {</a:t>
            </a:r>
          </a:p>
          <a:p>
            <a:pPr eaLnBrk="1" hangingPunct="1"/>
            <a:r>
              <a:rPr lang="en-IN" altLang="en-US"/>
              <a:t>    private :</a:t>
            </a:r>
          </a:p>
          <a:p>
            <a:pPr eaLnBrk="1" hangingPunct="1"/>
            <a:r>
              <a:rPr lang="en-IN" altLang="en-US"/>
              <a:t>           float length;</a:t>
            </a:r>
          </a:p>
          <a:p>
            <a:pPr eaLnBrk="1" hangingPunct="1"/>
            <a:r>
              <a:rPr lang="en-IN" altLang="en-US"/>
              <a:t>    public:</a:t>
            </a:r>
          </a:p>
          <a:p>
            <a:pPr eaLnBrk="1" hangingPunct="1"/>
            <a:r>
              <a:rPr lang="en-IN" altLang="en-US"/>
              <a:t>          Meter() </a:t>
            </a:r>
          </a:p>
          <a:p>
            <a:pPr eaLnBrk="1" hangingPunct="1"/>
            <a:r>
              <a:rPr lang="en-IN" altLang="en-US"/>
              <a:t>          {   length = 0.0;  }</a:t>
            </a:r>
          </a:p>
          <a:p>
            <a:pPr eaLnBrk="1" hangingPunct="1"/>
            <a:r>
              <a:rPr lang="en-IN" altLang="en-US"/>
              <a:t>        // </a:t>
            </a:r>
            <a:r>
              <a:rPr lang="en-IN" altLang="en-US" b="1"/>
              <a:t>Conversion from basic to user-defined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Meter (float intlength)  // conversion constructor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{  length = intlength /100.0; }</a:t>
            </a:r>
          </a:p>
          <a:p>
            <a:pPr eaLnBrk="1" hangingPunct="1"/>
            <a:r>
              <a:rPr lang="en-IN" altLang="en-US"/>
              <a:t>       // </a:t>
            </a:r>
            <a:r>
              <a:rPr lang="en-IN" altLang="en-US" b="1"/>
              <a:t>Conversion from user-defined to basic </a:t>
            </a:r>
          </a:p>
          <a:p>
            <a:pPr eaLnBrk="1" hangingPunct="1"/>
            <a:r>
              <a:rPr lang="en-IN" altLang="en-US"/>
              <a:t>           </a:t>
            </a:r>
            <a:r>
              <a:rPr lang="en-IN" altLang="en-US">
                <a:solidFill>
                  <a:srgbClr val="C00000"/>
                </a:solidFill>
              </a:rPr>
              <a:t>operator float() // overloaded casting operator 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{  float lengthcms;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   lengthcms = length * 100.0;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   return (lengthcms);  }</a:t>
            </a:r>
          </a:p>
          <a:p>
            <a:pPr eaLnBrk="1" hangingPunct="1"/>
            <a:r>
              <a:rPr lang="en-IN" altLang="en-US"/>
              <a:t>              void Getlength() </a:t>
            </a:r>
          </a:p>
          <a:p>
            <a:pPr eaLnBrk="1" hangingPunct="1"/>
            <a:r>
              <a:rPr lang="en-IN" altLang="en-US"/>
              <a:t>              { cin&gt;&gt;length; }</a:t>
            </a:r>
          </a:p>
          <a:p>
            <a:pPr eaLnBrk="1" hangingPunct="1"/>
            <a:r>
              <a:rPr lang="en-IN" altLang="en-US"/>
              <a:t>              void Showlength()</a:t>
            </a:r>
          </a:p>
          <a:p>
            <a:pPr eaLnBrk="1" hangingPunct="1"/>
            <a:r>
              <a:rPr lang="en-IN" altLang="en-US"/>
              <a:t>             {  cout &lt;&lt; “length in Meter”&lt;&lt;length;  }</a:t>
            </a:r>
          </a:p>
          <a:p>
            <a:pPr eaLnBrk="1" hangingPunct="1"/>
            <a:r>
              <a:rPr lang="en-IN" altLang="en-US"/>
              <a:t>      };</a:t>
            </a:r>
          </a:p>
          <a:p>
            <a:pPr eaLnBrk="1" hangingPunct="1"/>
            <a:endParaRPr lang="en-IN" altLang="en-US"/>
          </a:p>
          <a:p>
            <a:pPr eaLnBrk="1" hangingPunct="1"/>
            <a:endParaRPr lang="en-IN" altLang="en-US"/>
          </a:p>
        </p:txBody>
      </p:sp>
      <p:sp>
        <p:nvSpPr>
          <p:cNvPr id="55301" name="TextBox 5">
            <a:extLst>
              <a:ext uri="{FF2B5EF4-FFF2-40B4-BE49-F238E27FC236}">
                <a16:creationId xmlns:a16="http://schemas.microsoft.com/office/drawing/2014/main" id="{28B90614-8132-43A6-900B-7A9F6EBC9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468438"/>
            <a:ext cx="36576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main() {</a:t>
            </a:r>
          </a:p>
          <a:p>
            <a:pPr eaLnBrk="1" hangingPunct="1"/>
            <a:r>
              <a:rPr lang="en-IN" altLang="en-US"/>
              <a:t>Meter M1;</a:t>
            </a:r>
          </a:p>
          <a:p>
            <a:pPr eaLnBrk="1" hangingPunct="1"/>
            <a:r>
              <a:rPr lang="en-IN" altLang="en-US"/>
              <a:t>float length1;</a:t>
            </a:r>
          </a:p>
          <a:p>
            <a:pPr eaLnBrk="1" hangingPunct="1"/>
            <a:r>
              <a:rPr lang="en-IN" altLang="en-US"/>
              <a:t>cin&gt;&gt;length1;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M1=length1; //basic to class type </a:t>
            </a:r>
          </a:p>
          <a:p>
            <a:pPr eaLnBrk="1" hangingPunct="1"/>
            <a:r>
              <a:rPr lang="en-IN" altLang="en-US"/>
              <a:t>M1.Showlength();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Meter M2;</a:t>
            </a:r>
          </a:p>
          <a:p>
            <a:pPr eaLnBrk="1" hangingPunct="1"/>
            <a:r>
              <a:rPr lang="en-IN" altLang="en-US"/>
              <a:t>float length2;</a:t>
            </a:r>
          </a:p>
          <a:p>
            <a:pPr eaLnBrk="1" hangingPunct="1"/>
            <a:r>
              <a:rPr lang="en-IN" altLang="en-US"/>
              <a:t>M2.Getlength();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length2=M2; //class type to basic</a:t>
            </a:r>
          </a:p>
          <a:p>
            <a:pPr eaLnBrk="1" hangingPunct="1"/>
            <a:r>
              <a:rPr lang="en-IN" altLang="en-US"/>
              <a:t>cout&lt;&lt;length2;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endParaRPr lang="en-IN" altLang="en-US"/>
          </a:p>
          <a:p>
            <a:pPr eaLnBrk="1" hangingPunct="1"/>
            <a:r>
              <a:rPr lang="en-IN" altLang="en-US"/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Picture 3">
            <a:extLst>
              <a:ext uri="{FF2B5EF4-FFF2-40B4-BE49-F238E27FC236}">
                <a16:creationId xmlns:a16="http://schemas.microsoft.com/office/drawing/2014/main" id="{9758A752-CA02-4AB0-BB44-3D90609B8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4800600"/>
            <a:ext cx="3429000" cy="12271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Title 1">
            <a:extLst>
              <a:ext uri="{FF2B5EF4-FFF2-40B4-BE49-F238E27FC236}">
                <a16:creationId xmlns:a16="http://schemas.microsoft.com/office/drawing/2014/main" id="{18408391-AD57-4647-9321-17A06AF7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Conversion from One Class Type to another Class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9037-3A3A-4041-ADE2-E00B53B8A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 err="1"/>
              <a:t>objX</a:t>
            </a:r>
            <a:r>
              <a:rPr lang="en-IN" sz="2000" dirty="0"/>
              <a:t> = </a:t>
            </a:r>
            <a:r>
              <a:rPr lang="en-IN" sz="2000" dirty="0" err="1"/>
              <a:t>objY</a:t>
            </a:r>
            <a:r>
              <a:rPr lang="en-IN" sz="2000" dirty="0"/>
              <a:t> ; // objects of different types</a:t>
            </a:r>
          </a:p>
          <a:p>
            <a:pPr>
              <a:defRPr/>
            </a:pPr>
            <a:r>
              <a:rPr lang="en-IN" sz="2000" dirty="0" err="1"/>
              <a:t>objX</a:t>
            </a:r>
            <a:r>
              <a:rPr lang="en-IN" sz="2000" dirty="0"/>
              <a:t> is an object of class X and </a:t>
            </a:r>
            <a:r>
              <a:rPr lang="en-IN" sz="2000" dirty="0" err="1"/>
              <a:t>objY</a:t>
            </a:r>
            <a:r>
              <a:rPr lang="en-IN" sz="2000" dirty="0"/>
              <a:t> is an object of class Y</a:t>
            </a:r>
          </a:p>
          <a:p>
            <a:pPr>
              <a:defRPr/>
            </a:pPr>
            <a:r>
              <a:rPr lang="en-IN" sz="2000" dirty="0"/>
              <a:t>The class Y type data is converted to the class X type data and the converted value is assigned to the </a:t>
            </a:r>
            <a:r>
              <a:rPr lang="en-IN" sz="2000" dirty="0" err="1"/>
              <a:t>objX</a:t>
            </a:r>
            <a:r>
              <a:rPr lang="en-IN" sz="2000" dirty="0"/>
              <a:t> </a:t>
            </a:r>
          </a:p>
          <a:p>
            <a:pPr>
              <a:defRPr/>
            </a:pPr>
            <a:r>
              <a:rPr lang="en-IN" sz="2000" dirty="0"/>
              <a:t>Conversion is takes place from class Y to class X </a:t>
            </a:r>
          </a:p>
          <a:p>
            <a:pPr>
              <a:defRPr/>
            </a:pPr>
            <a:r>
              <a:rPr lang="en-IN" sz="2000" dirty="0"/>
              <a:t>Y is known as </a:t>
            </a:r>
            <a:r>
              <a:rPr lang="en-IN" sz="2000" b="1" dirty="0"/>
              <a:t>source class</a:t>
            </a:r>
          </a:p>
          <a:p>
            <a:pPr>
              <a:defRPr/>
            </a:pPr>
            <a:r>
              <a:rPr lang="en-IN" sz="2000" dirty="0"/>
              <a:t>X is known as </a:t>
            </a:r>
            <a:r>
              <a:rPr lang="en-IN" sz="2000" b="1" dirty="0"/>
              <a:t>destination class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Conversion between objects of different classes can be carried out by either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2000" dirty="0"/>
              <a:t>      </a:t>
            </a:r>
            <a:r>
              <a:rPr lang="en-IN" sz="1800" dirty="0"/>
              <a:t>1)</a:t>
            </a:r>
            <a:r>
              <a:rPr lang="en-IN" sz="1600" dirty="0"/>
              <a:t> </a:t>
            </a:r>
            <a:r>
              <a:rPr lang="en-IN" sz="1800" dirty="0"/>
              <a:t>Constructor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IN" sz="1800" dirty="0"/>
              <a:t>       2) Casting operator function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Using Casting operator function source class </a:t>
            </a:r>
          </a:p>
          <a:p>
            <a:pPr>
              <a:defRPr/>
            </a:pPr>
            <a:r>
              <a:rPr lang="en-IN" sz="2000" dirty="0">
                <a:solidFill>
                  <a:srgbClr val="C00000"/>
                </a:solidFill>
              </a:rPr>
              <a:t>Using constructor function in destination class</a:t>
            </a:r>
          </a:p>
        </p:txBody>
      </p:sp>
      <p:sp>
        <p:nvSpPr>
          <p:cNvPr id="56325" name="Slide Number Placeholder 3">
            <a:extLst>
              <a:ext uri="{FF2B5EF4-FFF2-40B4-BE49-F238E27FC236}">
                <a16:creationId xmlns:a16="http://schemas.microsoft.com/office/drawing/2014/main" id="{EF744AE9-61E7-4EA7-B652-E05E779FE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692DEF-9B8B-4907-8C88-91133E34519B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303C164D-CB25-45D7-90CC-88DEC6B5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– Conversion Routine in the Source Class</a:t>
            </a:r>
          </a:p>
        </p:txBody>
      </p:sp>
      <p:sp>
        <p:nvSpPr>
          <p:cNvPr id="57347" name="Slide Number Placeholder 3">
            <a:extLst>
              <a:ext uri="{FF2B5EF4-FFF2-40B4-BE49-F238E27FC236}">
                <a16:creationId xmlns:a16="http://schemas.microsoft.com/office/drawing/2014/main" id="{385DFA09-1D75-48CB-ACD4-8C308BE57E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10B523-5B9B-40FF-B1A1-57B2B1E146B6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8" name="TextBox 4">
            <a:extLst>
              <a:ext uri="{FF2B5EF4-FFF2-40B4-BE49-F238E27FC236}">
                <a16:creationId xmlns:a16="http://schemas.microsoft.com/office/drawing/2014/main" id="{DE96644B-A5E0-4D07-BA1F-CCF3DD507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76400"/>
            <a:ext cx="51816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const float pi=3.14;</a:t>
            </a:r>
          </a:p>
          <a:p>
            <a:pPr eaLnBrk="1" hangingPunct="1"/>
            <a:r>
              <a:rPr lang="en-IN" altLang="en-US"/>
              <a:t>class  Radian</a:t>
            </a:r>
          </a:p>
          <a:p>
            <a:pPr eaLnBrk="1" hangingPunct="1"/>
            <a:r>
              <a:rPr lang="en-IN" altLang="en-US"/>
              <a:t>{        float rad;</a:t>
            </a:r>
          </a:p>
          <a:p>
            <a:pPr eaLnBrk="1" hangingPunct="1"/>
            <a:r>
              <a:rPr lang="en-IN" altLang="en-US"/>
              <a:t>       public:</a:t>
            </a:r>
          </a:p>
          <a:p>
            <a:pPr eaLnBrk="1" hangingPunct="1"/>
            <a:r>
              <a:rPr lang="en-IN" altLang="en-US"/>
              <a:t>          Radian()</a:t>
            </a:r>
          </a:p>
          <a:p>
            <a:pPr eaLnBrk="1" hangingPunct="1"/>
            <a:r>
              <a:rPr lang="en-IN" altLang="en-US"/>
              <a:t>          {  rad = 0.0; }</a:t>
            </a:r>
          </a:p>
          <a:p>
            <a:pPr eaLnBrk="1" hangingPunct="1"/>
            <a:r>
              <a:rPr lang="en-IN" altLang="en-US"/>
              <a:t>           </a:t>
            </a:r>
            <a:r>
              <a:rPr lang="en-IN" altLang="en-US">
                <a:solidFill>
                  <a:srgbClr val="C00000"/>
                </a:solidFill>
              </a:rPr>
              <a:t>Radian (float intrad)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{   rad = intrad; }</a:t>
            </a:r>
          </a:p>
          <a:p>
            <a:pPr eaLnBrk="1" hangingPunct="1"/>
            <a:r>
              <a:rPr lang="en-IN" altLang="en-US"/>
              <a:t>           float Getradian()</a:t>
            </a:r>
          </a:p>
          <a:p>
            <a:pPr eaLnBrk="1" hangingPunct="1"/>
            <a:r>
              <a:rPr lang="en-IN" altLang="en-US"/>
              <a:t>           { return rad;}</a:t>
            </a:r>
          </a:p>
          <a:p>
            <a:pPr eaLnBrk="1" hangingPunct="1"/>
            <a:r>
              <a:rPr lang="en-IN" altLang="en-US"/>
              <a:t>           void output()</a:t>
            </a:r>
          </a:p>
          <a:p>
            <a:pPr eaLnBrk="1" hangingPunct="1"/>
            <a:r>
              <a:rPr lang="en-IN" altLang="en-US"/>
              <a:t>           {   cout &lt;&lt; Getradian();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/>
              <a:t>    </a:t>
            </a:r>
          </a:p>
        </p:txBody>
      </p:sp>
      <p:sp>
        <p:nvSpPr>
          <p:cNvPr id="57349" name="TextBox 5">
            <a:extLst>
              <a:ext uri="{FF2B5EF4-FFF2-40B4-BE49-F238E27FC236}">
                <a16:creationId xmlns:a16="http://schemas.microsoft.com/office/drawing/2014/main" id="{C45C7931-E0D0-4762-86D0-452D00BA2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447800"/>
            <a:ext cx="50292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class Degree</a:t>
            </a:r>
          </a:p>
          <a:p>
            <a:pPr eaLnBrk="1" hangingPunct="1"/>
            <a:r>
              <a:rPr lang="en-IN" altLang="en-US"/>
              <a:t>{       float degree;</a:t>
            </a:r>
          </a:p>
          <a:p>
            <a:pPr eaLnBrk="1" hangingPunct="1"/>
            <a:r>
              <a:rPr lang="en-IN" altLang="en-US"/>
              <a:t>       public:</a:t>
            </a:r>
          </a:p>
          <a:p>
            <a:pPr eaLnBrk="1" hangingPunct="1"/>
            <a:r>
              <a:rPr lang="en-IN" altLang="en-US"/>
              <a:t>         Degree()</a:t>
            </a:r>
          </a:p>
          <a:p>
            <a:pPr eaLnBrk="1" hangingPunct="1"/>
            <a:r>
              <a:rPr lang="en-IN" altLang="en-US"/>
              <a:t>         { degree = 0.0; }</a:t>
            </a:r>
          </a:p>
          <a:p>
            <a:pPr eaLnBrk="1" hangingPunct="1"/>
            <a:r>
              <a:rPr lang="en-IN" altLang="en-US"/>
              <a:t>         </a:t>
            </a:r>
            <a:r>
              <a:rPr lang="en-IN" altLang="en-US">
                <a:solidFill>
                  <a:srgbClr val="C00000"/>
                </a:solidFill>
              </a:rPr>
              <a:t>operator Radian()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{  return (Radian (degree * pi / 180.0));</a:t>
            </a:r>
          </a:p>
          <a:p>
            <a:pPr eaLnBrk="1" hangingPunct="1"/>
            <a:r>
              <a:rPr lang="en-IN" altLang="en-US"/>
              <a:t>         void input()</a:t>
            </a:r>
          </a:p>
          <a:p>
            <a:pPr eaLnBrk="1" hangingPunct="1"/>
            <a:r>
              <a:rPr lang="en-IN" altLang="en-US"/>
              <a:t>         { cin &gt;&gt; degree;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/>
              <a:t>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 Degree D1;</a:t>
            </a:r>
          </a:p>
          <a:p>
            <a:pPr eaLnBrk="1" hangingPunct="1"/>
            <a:r>
              <a:rPr lang="en-IN" altLang="en-US"/>
              <a:t>     Radian R1;</a:t>
            </a:r>
          </a:p>
          <a:p>
            <a:pPr eaLnBrk="1" hangingPunct="1"/>
            <a:r>
              <a:rPr lang="en-IN" altLang="en-US"/>
              <a:t>     D1. input();</a:t>
            </a:r>
          </a:p>
          <a:p>
            <a:pPr eaLnBrk="1" hangingPunct="1"/>
            <a:r>
              <a:rPr lang="en-IN" altLang="en-US"/>
              <a:t>     </a:t>
            </a:r>
            <a:r>
              <a:rPr lang="en-IN" altLang="en-US">
                <a:solidFill>
                  <a:srgbClr val="C00000"/>
                </a:solidFill>
              </a:rPr>
              <a:t>R1=D1;  //uses operator Radian()</a:t>
            </a:r>
          </a:p>
          <a:p>
            <a:pPr eaLnBrk="1" hangingPunct="1"/>
            <a:r>
              <a:rPr lang="en-IN" altLang="en-US"/>
              <a:t>     R1.output();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r>
              <a:rPr lang="en-IN" altLang="en-US"/>
              <a:t>    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A900DE9-8932-44C3-B2BA-E06E10A2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– Conversion Routine in the Destination Class</a:t>
            </a:r>
          </a:p>
        </p:txBody>
      </p:sp>
      <p:sp>
        <p:nvSpPr>
          <p:cNvPr id="58371" name="Slide Number Placeholder 3">
            <a:extLst>
              <a:ext uri="{FF2B5EF4-FFF2-40B4-BE49-F238E27FC236}">
                <a16:creationId xmlns:a16="http://schemas.microsoft.com/office/drawing/2014/main" id="{59D6C8C6-E54E-48B0-BF1D-73DEBEC6C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81D1B8-384F-400C-97FC-12AE49F893C8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2" name="TextBox 4">
            <a:extLst>
              <a:ext uri="{FF2B5EF4-FFF2-40B4-BE49-F238E27FC236}">
                <a16:creationId xmlns:a16="http://schemas.microsoft.com/office/drawing/2014/main" id="{2BDE0B71-9065-4F10-9B9F-CAB6999F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76400"/>
            <a:ext cx="5181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#include&lt;iostream&gt;</a:t>
            </a:r>
          </a:p>
          <a:p>
            <a:pPr eaLnBrk="1" hangingPunct="1"/>
            <a:r>
              <a:rPr lang="en-IN" altLang="en-US"/>
              <a:t>using namespace std;</a:t>
            </a:r>
          </a:p>
          <a:p>
            <a:pPr eaLnBrk="1" hangingPunct="1"/>
            <a:r>
              <a:rPr lang="en-IN" altLang="en-US"/>
              <a:t>const float pi=3.14;</a:t>
            </a:r>
          </a:p>
          <a:p>
            <a:pPr eaLnBrk="1" hangingPunct="1"/>
            <a:r>
              <a:rPr lang="en-IN" altLang="en-US"/>
              <a:t>class  Radian</a:t>
            </a:r>
          </a:p>
          <a:p>
            <a:pPr eaLnBrk="1" hangingPunct="1"/>
            <a:r>
              <a:rPr lang="en-IN" altLang="en-US"/>
              <a:t>{        float rad;</a:t>
            </a:r>
          </a:p>
          <a:p>
            <a:pPr eaLnBrk="1" hangingPunct="1"/>
            <a:r>
              <a:rPr lang="en-IN" altLang="en-US"/>
              <a:t>       public:</a:t>
            </a:r>
          </a:p>
          <a:p>
            <a:pPr eaLnBrk="1" hangingPunct="1"/>
            <a:r>
              <a:rPr lang="en-IN" altLang="en-US"/>
              <a:t>          Radian()</a:t>
            </a:r>
          </a:p>
          <a:p>
            <a:pPr eaLnBrk="1" hangingPunct="1"/>
            <a:r>
              <a:rPr lang="en-IN" altLang="en-US"/>
              <a:t>          {  rad = 0.0; }</a:t>
            </a:r>
          </a:p>
          <a:p>
            <a:pPr eaLnBrk="1" hangingPunct="1"/>
            <a:r>
              <a:rPr lang="en-IN" altLang="en-US"/>
              <a:t>           </a:t>
            </a:r>
            <a:r>
              <a:rPr lang="en-IN" altLang="en-US">
                <a:solidFill>
                  <a:srgbClr val="C00000"/>
                </a:solidFill>
              </a:rPr>
              <a:t>Radian (Degree deg)</a:t>
            </a:r>
          </a:p>
          <a:p>
            <a:pPr eaLnBrk="1" hangingPunct="1"/>
            <a:r>
              <a:rPr lang="en-IN" altLang="en-US">
                <a:solidFill>
                  <a:srgbClr val="C00000"/>
                </a:solidFill>
              </a:rPr>
              <a:t>           {   rad = deg. Getdegree() * pi /180.0; }</a:t>
            </a:r>
          </a:p>
          <a:p>
            <a:pPr eaLnBrk="1" hangingPunct="1"/>
            <a:r>
              <a:rPr lang="en-IN" altLang="en-US"/>
              <a:t>           void output()</a:t>
            </a:r>
          </a:p>
          <a:p>
            <a:pPr eaLnBrk="1" hangingPunct="1"/>
            <a:r>
              <a:rPr lang="en-IN" altLang="en-US"/>
              <a:t>           {   cout &lt;&lt; Getradian();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/>
              <a:t>    </a:t>
            </a:r>
          </a:p>
        </p:txBody>
      </p:sp>
      <p:sp>
        <p:nvSpPr>
          <p:cNvPr id="58373" name="TextBox 5">
            <a:extLst>
              <a:ext uri="{FF2B5EF4-FFF2-40B4-BE49-F238E27FC236}">
                <a16:creationId xmlns:a16="http://schemas.microsoft.com/office/drawing/2014/main" id="{76DFB0E6-700E-48DD-A078-391B1A2C1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503363"/>
            <a:ext cx="5029200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/>
              <a:t>class Degree</a:t>
            </a:r>
          </a:p>
          <a:p>
            <a:pPr eaLnBrk="1" hangingPunct="1"/>
            <a:r>
              <a:rPr lang="en-IN" altLang="en-US"/>
              <a:t>{       float degree;</a:t>
            </a:r>
          </a:p>
          <a:p>
            <a:pPr eaLnBrk="1" hangingPunct="1"/>
            <a:r>
              <a:rPr lang="en-IN" altLang="en-US"/>
              <a:t>       public:</a:t>
            </a:r>
          </a:p>
          <a:p>
            <a:pPr eaLnBrk="1" hangingPunct="1"/>
            <a:r>
              <a:rPr lang="en-IN" altLang="en-US"/>
              <a:t>         Degree()</a:t>
            </a:r>
          </a:p>
          <a:p>
            <a:pPr eaLnBrk="1" hangingPunct="1"/>
            <a:r>
              <a:rPr lang="en-IN" altLang="en-US"/>
              <a:t>         { degree = 0.0; }</a:t>
            </a:r>
          </a:p>
          <a:p>
            <a:pPr eaLnBrk="1" hangingPunct="1"/>
            <a:r>
              <a:rPr lang="en-IN" altLang="en-US"/>
              <a:t>         void input()</a:t>
            </a:r>
          </a:p>
          <a:p>
            <a:pPr eaLnBrk="1" hangingPunct="1"/>
            <a:r>
              <a:rPr lang="en-IN" altLang="en-US"/>
              <a:t>         { cin &gt;&gt; degree; }</a:t>
            </a:r>
          </a:p>
          <a:p>
            <a:pPr eaLnBrk="1" hangingPunct="1"/>
            <a:r>
              <a:rPr lang="en-IN" altLang="en-US"/>
              <a:t>         float Getdegree()</a:t>
            </a:r>
          </a:p>
          <a:p>
            <a:pPr eaLnBrk="1" hangingPunct="1"/>
            <a:r>
              <a:rPr lang="en-IN" altLang="en-US"/>
              <a:t>         { return degree; }</a:t>
            </a:r>
          </a:p>
          <a:p>
            <a:pPr eaLnBrk="1" hangingPunct="1"/>
            <a:r>
              <a:rPr lang="en-IN" altLang="en-US"/>
              <a:t>};</a:t>
            </a:r>
          </a:p>
          <a:p>
            <a:pPr eaLnBrk="1" hangingPunct="1"/>
            <a:r>
              <a:rPr lang="en-IN" altLang="en-US"/>
              <a:t>main()</a:t>
            </a:r>
          </a:p>
          <a:p>
            <a:pPr eaLnBrk="1" hangingPunct="1"/>
            <a:r>
              <a:rPr lang="en-IN" altLang="en-US"/>
              <a:t>{</a:t>
            </a:r>
          </a:p>
          <a:p>
            <a:pPr eaLnBrk="1" hangingPunct="1"/>
            <a:r>
              <a:rPr lang="en-IN" altLang="en-US"/>
              <a:t>     Degree D1;</a:t>
            </a:r>
          </a:p>
          <a:p>
            <a:pPr eaLnBrk="1" hangingPunct="1"/>
            <a:r>
              <a:rPr lang="en-IN" altLang="en-US"/>
              <a:t>     Radian R1;</a:t>
            </a:r>
          </a:p>
          <a:p>
            <a:pPr eaLnBrk="1" hangingPunct="1"/>
            <a:r>
              <a:rPr lang="en-IN" altLang="en-US"/>
              <a:t>     D1. input();</a:t>
            </a:r>
          </a:p>
          <a:p>
            <a:pPr eaLnBrk="1" hangingPunct="1"/>
            <a:r>
              <a:rPr lang="en-IN" altLang="en-US"/>
              <a:t>     </a:t>
            </a:r>
            <a:r>
              <a:rPr lang="en-IN" altLang="en-US">
                <a:solidFill>
                  <a:srgbClr val="C00000"/>
                </a:solidFill>
              </a:rPr>
              <a:t>R1=D1;  //uses Radian(Degree Deg)</a:t>
            </a:r>
          </a:p>
          <a:p>
            <a:pPr eaLnBrk="1" hangingPunct="1"/>
            <a:r>
              <a:rPr lang="en-IN" altLang="en-US"/>
              <a:t>     R1.output();</a:t>
            </a:r>
          </a:p>
          <a:p>
            <a:pPr eaLnBrk="1" hangingPunct="1"/>
            <a:r>
              <a:rPr lang="en-IN" altLang="en-US"/>
              <a:t>}</a:t>
            </a:r>
          </a:p>
          <a:p>
            <a:pPr eaLnBrk="1" hangingPunct="1"/>
            <a:r>
              <a:rPr lang="en-IN" altLang="en-US"/>
              <a:t>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25392</TotalTime>
  <Words>5023</Words>
  <Application>Microsoft Office PowerPoint</Application>
  <PresentationFormat>On-screen Show (4:3)</PresentationFormat>
  <Paragraphs>906</Paragraphs>
  <Slides>46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Garamond</vt:lpstr>
      <vt:lpstr>Wingdings</vt:lpstr>
      <vt:lpstr>Calibri</vt:lpstr>
      <vt:lpstr>Times New Roman</vt:lpstr>
      <vt:lpstr>Courier New</vt:lpstr>
      <vt:lpstr>Batang</vt:lpstr>
      <vt:lpstr>Gulim</vt:lpstr>
      <vt:lpstr>Edge</vt:lpstr>
      <vt:lpstr>Microsoft Word 97 - 2003 Document</vt:lpstr>
      <vt:lpstr>20XD24 - OBJECT ORIENTED PROGRAMMING   Chapter – IV Operator Overloading       </vt:lpstr>
      <vt:lpstr>Outline</vt:lpstr>
      <vt:lpstr>Introduction</vt:lpstr>
      <vt:lpstr>Overloaded Operator Rules</vt:lpstr>
      <vt:lpstr>Operator overloading </vt:lpstr>
      <vt:lpstr>Operator Overloading</vt:lpstr>
      <vt:lpstr>Operator Overloading</vt:lpstr>
      <vt:lpstr>Operator Overloading</vt:lpstr>
      <vt:lpstr>Operator Overloading</vt:lpstr>
      <vt:lpstr>Operator Overloading</vt:lpstr>
      <vt:lpstr>Operator Functions</vt:lpstr>
      <vt:lpstr>Binary Operator Overloading</vt:lpstr>
      <vt:lpstr>Overloading + Operators for Complex class</vt:lpstr>
      <vt:lpstr>Binary Operator Overloading</vt:lpstr>
      <vt:lpstr>Overloading + Operator for Complex class</vt:lpstr>
      <vt:lpstr>Overloading &gt; Operator</vt:lpstr>
      <vt:lpstr>Unary Operator Overloading</vt:lpstr>
      <vt:lpstr>Unary Operator Overloading</vt:lpstr>
      <vt:lpstr>Unary Operator Overloading</vt:lpstr>
      <vt:lpstr>Unary Operator Overloading</vt:lpstr>
      <vt:lpstr>Unary Operator Overloading</vt:lpstr>
      <vt:lpstr>Unary Operator Overloading</vt:lpstr>
      <vt:lpstr>Unary Operator Overloading</vt:lpstr>
      <vt:lpstr>Friend operator Functions Add Flexibility</vt:lpstr>
      <vt:lpstr>Friend Operator Functions Add Flexibility</vt:lpstr>
      <vt:lpstr>Operator Functions  as Class Members vs. as friend Functions </vt:lpstr>
      <vt:lpstr>Assignment Operator Overloading</vt:lpstr>
      <vt:lpstr>Assignment Operator Overloading</vt:lpstr>
      <vt:lpstr>Assignment Operator Overloading</vt:lpstr>
      <vt:lpstr>Overloading I/O Stream Operators</vt:lpstr>
      <vt:lpstr>Overloading I/O Stream Operators</vt:lpstr>
      <vt:lpstr>Overloading I/O Stream Operators</vt:lpstr>
      <vt:lpstr>Overloading I/O Stream Operators</vt:lpstr>
      <vt:lpstr>Overloading I/O Stream Operators</vt:lpstr>
      <vt:lpstr>Overloading the Subscript Operator [ ]</vt:lpstr>
      <vt:lpstr>Overloading ( ) Operator</vt:lpstr>
      <vt:lpstr>Type Conversion</vt:lpstr>
      <vt:lpstr>Type Conversion for User-Defined Data Types </vt:lpstr>
      <vt:lpstr>Type Conversions</vt:lpstr>
      <vt:lpstr>Conversion from Basic type to Class type (user-defined)</vt:lpstr>
      <vt:lpstr>Conversion from Class type (user-defined) to Basic Type</vt:lpstr>
      <vt:lpstr>Casting Operator Function</vt:lpstr>
      <vt:lpstr>Type Conversion - Example</vt:lpstr>
      <vt:lpstr>Conversion from One Class Type to another Class Type</vt:lpstr>
      <vt:lpstr>Example – Conversion Routine in the Source Class</vt:lpstr>
      <vt:lpstr>Example – Conversion Routine in the Destination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vijayalaxmi</dc:creator>
  <cp:lastModifiedBy>cloudconvert_8</cp:lastModifiedBy>
  <cp:revision>2273</cp:revision>
  <dcterms:created xsi:type="dcterms:W3CDTF">2010-06-23T15:53:05Z</dcterms:created>
  <dcterms:modified xsi:type="dcterms:W3CDTF">2026-03-16T12:27:17Z</dcterms:modified>
</cp:coreProperties>
</file>