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30"/>
  </p:notesMasterIdLst>
  <p:handoutMasterIdLst>
    <p:handoutMasterId r:id="rId31"/>
  </p:handoutMasterIdLst>
  <p:sldIdLst>
    <p:sldId id="489" r:id="rId2"/>
    <p:sldId id="806" r:id="rId3"/>
    <p:sldId id="832" r:id="rId4"/>
    <p:sldId id="833" r:id="rId5"/>
    <p:sldId id="834" r:id="rId6"/>
    <p:sldId id="835" r:id="rId7"/>
    <p:sldId id="837" r:id="rId8"/>
    <p:sldId id="836" r:id="rId9"/>
    <p:sldId id="838" r:id="rId10"/>
    <p:sldId id="839" r:id="rId11"/>
    <p:sldId id="840" r:id="rId12"/>
    <p:sldId id="841" r:id="rId13"/>
    <p:sldId id="842" r:id="rId14"/>
    <p:sldId id="843" r:id="rId15"/>
    <p:sldId id="844" r:id="rId16"/>
    <p:sldId id="845" r:id="rId17"/>
    <p:sldId id="846" r:id="rId18"/>
    <p:sldId id="847" r:id="rId19"/>
    <p:sldId id="822" r:id="rId20"/>
    <p:sldId id="823" r:id="rId21"/>
    <p:sldId id="824" r:id="rId22"/>
    <p:sldId id="825" r:id="rId23"/>
    <p:sldId id="826" r:id="rId24"/>
    <p:sldId id="827" r:id="rId25"/>
    <p:sldId id="828" r:id="rId26"/>
    <p:sldId id="829" r:id="rId27"/>
    <p:sldId id="830" r:id="rId28"/>
    <p:sldId id="831" r:id="rId29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2704FC"/>
    <a:srgbClr val="660033"/>
    <a:srgbClr val="99CCFF"/>
    <a:srgbClr val="6699FF"/>
    <a:srgbClr val="0BF527"/>
    <a:srgbClr val="6666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0" autoAdjust="0"/>
    <p:restoredTop sz="94533" autoAdjust="0"/>
  </p:normalViewPr>
  <p:slideViewPr>
    <p:cSldViewPr>
      <p:cViewPr>
        <p:scale>
          <a:sx n="66" d="100"/>
          <a:sy n="66" d="100"/>
        </p:scale>
        <p:origin x="-174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886" y="-11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4B18D3-248B-4A38-9AC5-5FC1C65905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31890-6298-4BB6-AFE7-F46629165E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87479D-C2DB-4762-903A-86427E86F7AB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46760E7-AE47-4E88-B6BC-8E7C12EC4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4B8374-0B6E-42F4-9422-4DA507341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2D996-D8B7-442B-9FA5-2943927410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3678A-3394-4EBC-B695-9F2AF8575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876CF58-5EF6-41FF-9B28-8B08B7117BC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4D7737C8-511E-491F-81D1-42C668871A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FA8864CE-D655-4B55-A176-2028CB7AD0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0D604-CB51-49C0-B1CD-D1C1B4A71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BF780E-1317-436D-B1F6-4B54EF608AE6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CCDC82E5-57A0-4057-AE3F-51BD5EE945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D8DA6445-5D97-4F8B-A8D4-E10F27C37B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48852-4DE8-40F8-B617-9C851AF97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574D86-8B26-4081-BCBD-1286A9EEA249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D71F80B3-2AF0-4363-980E-422D2875B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2723B0F0-FBDD-4B11-A3FC-3D236CBE6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>
                <a:solidFill>
                  <a:srgbClr val="2704FC"/>
                </a:solidFill>
              </a:defRPr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5688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2704F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buFont typeface="Wingdings" pitchFamily="2" charset="2"/>
              <a:buChar char="q"/>
              <a:defRPr/>
            </a:lvl1pPr>
            <a:lvl3pPr>
              <a:buClr>
                <a:schemeClr val="accent6"/>
              </a:buClr>
              <a:buFont typeface="Wingdings" pitchFamily="2" charset="2"/>
              <a:buChar char="q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F6F2C3E-1C10-42FD-96A4-60DEF17713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1870B81-AE77-406B-A8C3-22CFEF6A09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235424C3-6120-4084-866E-280E5FBF42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07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68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77E51-F938-4695-9DF9-BE50F77460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9D8CC-7328-464C-9E55-C6C9C7C185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2FAB5-AD9C-487F-B26E-F6DC65A50C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3F073DB4-E36E-4228-98C6-FADE113797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99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486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62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58278E-D2B5-4104-B70B-97C8E7D891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D9E2176-8F81-4527-BC23-99059BEAF9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B6B8AE4-4C98-47FE-999C-0DA5D3B4BD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96F770F0-9263-4584-A0B8-567F50B869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42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7B501-F297-4504-8B90-F77A890316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47507-BDC9-4383-A0B7-19ECC99BBA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D9CA5-01FA-43D8-ACD1-FF85A4659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36D85047-09F6-4840-9E9E-48C43ABCBB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43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6B64A-B499-4985-A677-920C31AEF4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57629-F1D3-47E7-A6AF-709CA27472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27843-228C-4017-9BCD-76769DBAE5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E0EBCA66-AF47-4293-A9B5-963A31E50C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02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462D85-5AE7-4D9E-9319-85DDDB47CF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B8DC36-A525-41F2-9D16-8FBD578448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98125B-16A4-4400-B4C6-639C87E960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3D398FED-AFD5-48D7-87C2-5376F45155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61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60D70A-E5FD-4C05-BFCB-C76120A4D6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718D70-AC36-410F-B167-80A06F9AFE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FFC739-C59D-479B-9840-6528B1A5F2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1695D531-6DEA-42E4-8F0D-CF88DD9F21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049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BF57E3-F89F-458E-AA6E-954A9C556F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49270C-182C-45C1-A2A3-53048B859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AAB2AC-C13C-43C4-86FB-98B95172CB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A9846C7A-5C84-4635-90DA-57F8AC84A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331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80CDE-37B3-489A-BC36-E3754E2845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ED0D8-DC41-445B-A594-D8E81BE64E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8983D-2B37-4C84-9C0C-46E052B32D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4CCDF650-A0E8-45E6-863A-053ECB3B7C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6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ACB0D3C-586B-40CB-A304-4E0A847A3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6C76A-94A1-4C61-8480-B53A297AE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Freeform 7">
            <a:extLst>
              <a:ext uri="{FF2B5EF4-FFF2-40B4-BE49-F238E27FC236}">
                <a16:creationId xmlns:a16="http://schemas.microsoft.com/office/drawing/2014/main" id="{74B95100-FDEB-4F1D-92B4-8DE075F01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Line 8">
            <a:extLst>
              <a:ext uri="{FF2B5EF4-FFF2-40B4-BE49-F238E27FC236}">
                <a16:creationId xmlns:a16="http://schemas.microsoft.com/office/drawing/2014/main" id="{88818BEE-C2F5-4E3E-98AE-112257882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234" r:id="rId1"/>
    <p:sldLayoutId id="2147486235" r:id="rId2"/>
    <p:sldLayoutId id="2147486231" r:id="rId3"/>
    <p:sldLayoutId id="2147486236" r:id="rId4"/>
    <p:sldLayoutId id="2147486232" r:id="rId5"/>
    <p:sldLayoutId id="2147486233" r:id="rId6"/>
    <p:sldLayoutId id="2147486237" r:id="rId7"/>
    <p:sldLayoutId id="2147486238" r:id="rId8"/>
    <p:sldLayoutId id="2147486239" r:id="rId9"/>
    <p:sldLayoutId id="2147486240" r:id="rId10"/>
    <p:sldLayoutId id="2147486241" r:id="rId11"/>
    <p:sldLayoutId id="2147486242" r:id="rId12"/>
    <p:sldLayoutId id="214748624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4">
            <a:extLst>
              <a:ext uri="{FF2B5EF4-FFF2-40B4-BE49-F238E27FC236}">
                <a16:creationId xmlns:a16="http://schemas.microsoft.com/office/drawing/2014/main" id="{2FE40F29-8048-4902-BEF9-1F779409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8001000" cy="3124200"/>
          </a:xfrm>
        </p:spPr>
        <p:txBody>
          <a:bodyPr/>
          <a:lstStyle/>
          <a:p>
            <a:pPr algn="ctr"/>
            <a:r>
              <a:rPr lang="en-US" altLang="en-US" sz="4400" b="1"/>
              <a:t>20XD24 - OBJECT ORIENTED PROGRAMMING</a:t>
            </a:r>
            <a:br>
              <a:rPr lang="en-US" altLang="en-US" sz="4400" b="1"/>
            </a:br>
            <a:br>
              <a:rPr lang="en-US" altLang="en-US" sz="4400" b="1"/>
            </a:br>
            <a:br>
              <a:rPr lang="en-US" altLang="en-US" sz="4400" b="1"/>
            </a:br>
            <a:br>
              <a:rPr lang="en-US" altLang="en-US" sz="4400"/>
            </a:br>
            <a:br>
              <a:rPr lang="en-US" altLang="en-US" sz="4400" b="1"/>
            </a:br>
            <a:br>
              <a:rPr lang="en-US" altLang="en-US" sz="4400" b="1"/>
            </a:br>
            <a:br>
              <a:rPr lang="en-US" altLang="en-US" sz="4400" b="1"/>
            </a:br>
            <a:br>
              <a:rPr lang="en-IN" altLang="en-US" sz="4400"/>
            </a:br>
            <a:br>
              <a:rPr lang="en-US" altLang="en-US" sz="4400" b="1"/>
            </a:br>
            <a:br>
              <a:rPr lang="en-US" altLang="en-US" sz="4400" b="1"/>
            </a:br>
            <a:endParaRPr lang="en-US" altLang="en-US" sz="5400"/>
          </a:p>
        </p:txBody>
      </p:sp>
      <p:sp>
        <p:nvSpPr>
          <p:cNvPr id="12291" name="AutoShape 5">
            <a:extLst>
              <a:ext uri="{FF2B5EF4-FFF2-40B4-BE49-F238E27FC236}">
                <a16:creationId xmlns:a16="http://schemas.microsoft.com/office/drawing/2014/main" id="{97F5D3F1-61CB-4D34-A9C4-ED5C3C5984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2743200"/>
            <a:ext cx="10668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TextBox 5">
            <a:extLst>
              <a:ext uri="{FF2B5EF4-FFF2-40B4-BE49-F238E27FC236}">
                <a16:creationId xmlns:a16="http://schemas.microsoft.com/office/drawing/2014/main" id="{85290E99-FAF1-465D-B285-B56BF3355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762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8729B2B-2BF8-478C-8E66-457A79ED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FAFC-05BB-4E86-AC20-F8BE9018D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Constructors and its types</a:t>
            </a:r>
          </a:p>
          <a:p>
            <a:pPr>
              <a:defRPr/>
            </a:pPr>
            <a:r>
              <a:rPr lang="en-US" sz="2400" dirty="0"/>
              <a:t>Destructors</a:t>
            </a:r>
          </a:p>
          <a:p>
            <a:pPr>
              <a:defRPr/>
            </a:pPr>
            <a:r>
              <a:rPr lang="en-US" sz="2400" dirty="0"/>
              <a:t>Pointers to class members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3616655D-7D20-4DA8-89FE-81D56CDBB6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7FEA67-AEEA-421F-BF77-2930B7697BAE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7304EFE-C2BB-4914-B3FF-51C226BE8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A8DDA-E2CB-4F13-8053-F2DE8C1CA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9075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A constructor is a special member function that must be defined with the same name as the class, so that the compiler can distinguish it from the class’s other member functions</a:t>
            </a:r>
          </a:p>
          <a:p>
            <a:pPr>
              <a:defRPr/>
            </a:pPr>
            <a:r>
              <a:rPr lang="en-IN" sz="2000" dirty="0"/>
              <a:t>An important difference between constructors and other functions is that </a:t>
            </a:r>
            <a:r>
              <a:rPr lang="en-IN" sz="2000" i="1" dirty="0"/>
              <a:t>constructors </a:t>
            </a:r>
            <a:r>
              <a:rPr lang="en-IN" sz="2000" i="1" dirty="0">
                <a:solidFill>
                  <a:srgbClr val="C00000"/>
                </a:solidFill>
              </a:rPr>
              <a:t>cannot return </a:t>
            </a:r>
            <a:r>
              <a:rPr lang="en-IN" sz="2000" i="1" dirty="0"/>
              <a:t>values</a:t>
            </a:r>
            <a:r>
              <a:rPr lang="en-IN" sz="2000" dirty="0"/>
              <a:t>, so they </a:t>
            </a:r>
            <a:r>
              <a:rPr lang="en-IN" sz="2000" i="1" dirty="0"/>
              <a:t>cannot </a:t>
            </a:r>
            <a:r>
              <a:rPr lang="en-IN" sz="2000" dirty="0"/>
              <a:t>specify a return type (not even void)</a:t>
            </a:r>
          </a:p>
          <a:p>
            <a:pPr>
              <a:defRPr/>
            </a:pPr>
            <a:r>
              <a:rPr lang="en-IN" sz="2000" dirty="0"/>
              <a:t>Normally, constructors are declared </a:t>
            </a:r>
            <a:r>
              <a:rPr lang="en-IN" sz="2000" dirty="0">
                <a:solidFill>
                  <a:srgbClr val="C00000"/>
                </a:solidFill>
              </a:rPr>
              <a:t>public</a:t>
            </a: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The constructor is invoked whenever an object of its associated class is created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A constructor is called whenever an object is defined or dynamically allocated using the “new” operator.</a:t>
            </a:r>
          </a:p>
          <a:p>
            <a:pPr>
              <a:defRPr/>
            </a:pPr>
            <a:r>
              <a:rPr lang="en-US" sz="2000" dirty="0"/>
              <a:t>They are normally used to allocate memory for the data members and initialize them.</a:t>
            </a:r>
          </a:p>
          <a:p>
            <a:pPr>
              <a:defRPr/>
            </a:pPr>
            <a:r>
              <a:rPr lang="en-US" sz="2000" dirty="0"/>
              <a:t>If no constructor is explicitly written then a default is created by the compiler (not in the case of </a:t>
            </a:r>
            <a:r>
              <a:rPr lang="en-US" sz="2000" dirty="0" err="1"/>
              <a:t>const</a:t>
            </a:r>
            <a:r>
              <a:rPr lang="en-US" sz="2000" dirty="0"/>
              <a:t> and reference data members)</a:t>
            </a:r>
          </a:p>
          <a:p>
            <a:pPr algn="just" eaLnBrk="1" hangingPunct="1">
              <a:defRPr/>
            </a:pPr>
            <a:endParaRPr lang="en-US" sz="2000" dirty="0"/>
          </a:p>
          <a:p>
            <a:pPr marL="0" indent="0">
              <a:buFont typeface="Wingdings" pitchFamily="2" charset="2"/>
              <a:buNone/>
              <a:defRPr/>
            </a:pPr>
            <a:endParaRPr lang="en-IN" sz="2000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77C8F39B-4CC4-4EC5-9457-575B04856E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24C7D0-36DD-4CB3-A37B-B731091261E9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8DD8DE6-622D-4D0F-A17F-14B49F40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E73B9-9F7C-4D7D-9558-0A923A053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constructor call occurs </a:t>
            </a:r>
            <a:r>
              <a:rPr lang="en-IN" sz="2000" i="1" dirty="0"/>
              <a:t>implicitly </a:t>
            </a:r>
            <a:r>
              <a:rPr lang="en-IN" sz="2000" dirty="0"/>
              <a:t>when the object is created. If a class does not </a:t>
            </a:r>
            <a:r>
              <a:rPr lang="en-IN" sz="2000" i="1" dirty="0"/>
              <a:t>explicitly </a:t>
            </a:r>
            <a:r>
              <a:rPr lang="en-IN" sz="2000" dirty="0"/>
              <a:t>include a constructor, the compiler provides a </a:t>
            </a:r>
            <a:r>
              <a:rPr lang="en-IN" sz="2000" b="1" dirty="0"/>
              <a:t>default constructor</a:t>
            </a:r>
            <a:r>
              <a:rPr lang="en-IN" sz="2000" dirty="0"/>
              <a:t>—that is, a constructor with </a:t>
            </a:r>
            <a:r>
              <a:rPr lang="en-IN" sz="2000" i="1" dirty="0"/>
              <a:t>no </a:t>
            </a:r>
            <a:r>
              <a:rPr lang="en-IN" sz="2000" dirty="0"/>
              <a:t>parameters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E267E96-E4CC-4276-B1DA-281B230493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4E5B7F-6179-4DE0-BBF6-04424541A63C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5365" name="Picture 2">
            <a:extLst>
              <a:ext uri="{FF2B5EF4-FFF2-40B4-BE49-F238E27FC236}">
                <a16:creationId xmlns:a16="http://schemas.microsoft.com/office/drawing/2014/main" id="{112D90D1-D0C5-432D-A8E0-92F181A80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14600"/>
            <a:ext cx="4708525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C71B9A00-C571-4F08-8FD4-30D4FABB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Defining a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1E9C6-9EEA-4CE9-878E-2DE098DD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Constructors are a special kind of function, with three peculiarities:</a:t>
            </a:r>
          </a:p>
          <a:p>
            <a:pPr lvl="1">
              <a:defRPr/>
            </a:pPr>
            <a:r>
              <a:rPr lang="en-IN" sz="1800" dirty="0"/>
              <a:t>Constructors must have the same name as the class itself.</a:t>
            </a:r>
          </a:p>
          <a:p>
            <a:pPr lvl="1">
              <a:defRPr/>
            </a:pPr>
            <a:r>
              <a:rPr lang="en-IN" sz="1800" dirty="0"/>
              <a:t>Constructors do not have a return type—not even void.</a:t>
            </a:r>
          </a:p>
          <a:p>
            <a:pPr lvl="1">
              <a:defRPr/>
            </a:pPr>
            <a:r>
              <a:rPr lang="en-IN" sz="1800" dirty="0"/>
              <a:t>Constructors are invoked when an object is created. Constructors play the role of initializing objects</a:t>
            </a:r>
          </a:p>
          <a:p>
            <a:pPr>
              <a:defRPr/>
            </a:pPr>
            <a:r>
              <a:rPr lang="en-IN" sz="2000" dirty="0"/>
              <a:t>Like regular functions, constructors can be overloaded (i.e., multiple constructors with the same name but different signatures), making it easy to construct objects with different sets of data values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It is a </a:t>
            </a:r>
            <a:r>
              <a:rPr lang="en-IN" sz="2000" dirty="0">
                <a:solidFill>
                  <a:srgbClr val="C00000"/>
                </a:solidFill>
              </a:rPr>
              <a:t>common mistake </a:t>
            </a:r>
            <a:r>
              <a:rPr lang="en-IN" sz="2000" dirty="0"/>
              <a:t>to put the </a:t>
            </a:r>
            <a:r>
              <a:rPr lang="en-IN" sz="2000" dirty="0">
                <a:solidFill>
                  <a:srgbClr val="C00000"/>
                </a:solidFill>
              </a:rPr>
              <a:t>void keyword </a:t>
            </a:r>
            <a:r>
              <a:rPr lang="en-IN" sz="2000" dirty="0"/>
              <a:t>in front of a constructor</a:t>
            </a:r>
          </a:p>
          <a:p>
            <a:pPr>
              <a:defRPr/>
            </a:pPr>
            <a:r>
              <a:rPr lang="en-IN" sz="2000" dirty="0"/>
              <a:t>For example,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	</a:t>
            </a:r>
            <a:r>
              <a:rPr lang="en-IN" sz="2000" dirty="0">
                <a:solidFill>
                  <a:srgbClr val="C00000"/>
                </a:solidFill>
              </a:rPr>
              <a:t>void Circle()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      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        }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9DE37A94-CDE4-42FA-9DD6-1DFE651896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82F4D1-9162-480E-AD4C-90F3467B92C2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CF6EBA43-EC83-4589-AE23-9E4369A33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181600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Most C++ compilers will report an error, but some will treat this as a regular function, not as a constructor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9C1EC01-3DF2-485F-9C63-B6E85F3A9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Defining a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33739-068D-4C32-AD0C-FF13E879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A class normally provides a constructor without arguments (e.g., </a:t>
            </a:r>
            <a:r>
              <a:rPr lang="en-IN" sz="2000" dirty="0">
                <a:solidFill>
                  <a:srgbClr val="C00000"/>
                </a:solidFill>
              </a:rPr>
              <a:t>Circle()</a:t>
            </a:r>
            <a:r>
              <a:rPr lang="en-IN" sz="2000" dirty="0"/>
              <a:t>) - called a </a:t>
            </a:r>
            <a:r>
              <a:rPr lang="en-IN" sz="2000" i="1" dirty="0">
                <a:solidFill>
                  <a:srgbClr val="C00000"/>
                </a:solidFill>
              </a:rPr>
              <a:t>no-argument constructor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A class may be defined without constructors. In this case, a no-</a:t>
            </a:r>
            <a:r>
              <a:rPr lang="en-IN" sz="2000" dirty="0" err="1"/>
              <a:t>arg</a:t>
            </a:r>
            <a:r>
              <a:rPr lang="en-IN" sz="2000" dirty="0"/>
              <a:t> constructor with an empty body is implicitly defined in the class.-called a </a:t>
            </a:r>
            <a:r>
              <a:rPr lang="en-IN" sz="2000" i="1" dirty="0">
                <a:solidFill>
                  <a:srgbClr val="C00000"/>
                </a:solidFill>
              </a:rPr>
              <a:t>default constructor</a:t>
            </a:r>
            <a:r>
              <a:rPr lang="en-IN" sz="2000" dirty="0"/>
              <a:t>, it is provided automatically </a:t>
            </a:r>
            <a:r>
              <a:rPr lang="en-IN" sz="2000" i="1" dirty="0">
                <a:solidFill>
                  <a:srgbClr val="C00000"/>
                </a:solidFill>
              </a:rPr>
              <a:t>only if no constructors are explicitly defined in the class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Data fields may be initialized in the constructor using an initializer list in the following syntax: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9CCC15A5-CD05-48EF-A3D3-FA8275FCCA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7F81BD-8008-4AAF-97A8-5B3D93205543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7413" name="Picture 2">
            <a:extLst>
              <a:ext uri="{FF2B5EF4-FFF2-40B4-BE49-F238E27FC236}">
                <a16:creationId xmlns:a16="http://schemas.microsoft.com/office/drawing/2014/main" id="{44EDBA20-1260-4B44-AE8A-84F91A1EA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4343400"/>
            <a:ext cx="6396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4">
            <a:extLst>
              <a:ext uri="{FF2B5EF4-FFF2-40B4-BE49-F238E27FC236}">
                <a16:creationId xmlns:a16="http://schemas.microsoft.com/office/drawing/2014/main" id="{0DA7D5F7-B1A8-443F-B9A5-5E3DC7F75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578475"/>
            <a:ext cx="5153025" cy="115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C5EAF36-FF3F-496F-8712-5322D78C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Types of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9B132-15FC-42D9-9328-27FA7BC22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-582613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300" dirty="0">
                <a:solidFill>
                  <a:srgbClr val="C00000"/>
                </a:solidFill>
              </a:rPr>
              <a:t>Default Constructor</a:t>
            </a:r>
          </a:p>
          <a:p>
            <a:pPr lvl="1" indent="-582613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300" dirty="0">
                <a:solidFill>
                  <a:srgbClr val="C00000"/>
                </a:solidFill>
              </a:rPr>
              <a:t>Parameterized Constructor</a:t>
            </a:r>
          </a:p>
          <a:p>
            <a:pPr lvl="1" indent="-582613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300" dirty="0">
                <a:solidFill>
                  <a:srgbClr val="C00000"/>
                </a:solidFill>
              </a:rPr>
              <a:t>Overloaded Constructor</a:t>
            </a:r>
          </a:p>
          <a:p>
            <a:pPr lvl="1" indent="-582613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300" dirty="0">
                <a:solidFill>
                  <a:srgbClr val="C00000"/>
                </a:solidFill>
              </a:rPr>
              <a:t>Constructor with Default Arguments</a:t>
            </a:r>
          </a:p>
          <a:p>
            <a:pPr lvl="1" indent="-582613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300" dirty="0">
                <a:solidFill>
                  <a:srgbClr val="C00000"/>
                </a:solidFill>
              </a:rPr>
              <a:t>Dynamic Constructor</a:t>
            </a:r>
          </a:p>
          <a:p>
            <a:pPr lvl="1" indent="-582613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300" dirty="0">
                <a:solidFill>
                  <a:srgbClr val="C00000"/>
                </a:solidFill>
              </a:rPr>
              <a:t>Copy Constructor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514F5370-2984-4A5D-870F-BDB7164A14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BC7A2E-F699-49F3-92BA-9B541CE81266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7DD0888-2B6D-447E-9991-F672867D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270A4-1E50-4E60-9D95-15FBEFCE1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Two Ways to Provide a Default Constructor for a Class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Any constructor that takes no arguments</a:t>
            </a:r>
            <a:r>
              <a:rPr lang="en-IN" sz="2000" dirty="0"/>
              <a:t> - called a default constructor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A class can get a default constructor in one of two ways:</a:t>
            </a:r>
          </a:p>
          <a:p>
            <a:pPr>
              <a:defRPr/>
            </a:pPr>
            <a:r>
              <a:rPr lang="en-IN" sz="1800" b="1" dirty="0"/>
              <a:t>1. </a:t>
            </a:r>
            <a:r>
              <a:rPr lang="en-IN" sz="1800" dirty="0"/>
              <a:t>The compiler implicitly creates a default constructor in a class that does not define a constructor. Such a constructor does </a:t>
            </a:r>
            <a:r>
              <a:rPr lang="en-IN" sz="1800" i="1" dirty="0"/>
              <a:t>not </a:t>
            </a:r>
            <a:r>
              <a:rPr lang="en-IN" sz="1800" dirty="0"/>
              <a:t>initialize the class’s data members, but </a:t>
            </a:r>
            <a:r>
              <a:rPr lang="en-IN" sz="1800" i="1" dirty="0"/>
              <a:t>does </a:t>
            </a:r>
            <a:r>
              <a:rPr lang="en-IN" sz="1800" dirty="0"/>
              <a:t>call the default constructor for each data member that’s an object of another class. An uninitialized variable typically contains a </a:t>
            </a:r>
            <a:r>
              <a:rPr lang="en-IN" sz="1800" b="1" dirty="0"/>
              <a:t>“garbage”</a:t>
            </a:r>
            <a:r>
              <a:rPr lang="en-IN" sz="1800" dirty="0"/>
              <a:t> value</a:t>
            </a:r>
          </a:p>
          <a:p>
            <a:pPr>
              <a:defRPr/>
            </a:pPr>
            <a:r>
              <a:rPr lang="en-IN" sz="1800" b="1" dirty="0"/>
              <a:t>2. </a:t>
            </a:r>
            <a:r>
              <a:rPr lang="en-IN" sz="1800" dirty="0"/>
              <a:t>We can explicitly define a constructor that takes no arguments. Such a default constructor will call the default constructor for each data member that’s an object of another class and will perform additional initialization specified by us</a:t>
            </a:r>
          </a:p>
          <a:p>
            <a:pPr>
              <a:defRPr/>
            </a:pPr>
            <a:r>
              <a:rPr lang="en-IN" sz="2000" i="1" dirty="0">
                <a:solidFill>
                  <a:srgbClr val="C00000"/>
                </a:solidFill>
              </a:rPr>
              <a:t>Note: If you define a constructor with arguments, C++ will not implicitly create a default constructor for that class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936424E6-0878-4549-94D4-CF4BF378D6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4AF6B7-8D75-42D0-98D5-CBCC815E3859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9461" name="Picture 2">
            <a:extLst>
              <a:ext uri="{FF2B5EF4-FFF2-40B4-BE49-F238E27FC236}">
                <a16:creationId xmlns:a16="http://schemas.microsoft.com/office/drawing/2014/main" id="{13D78462-2C32-4D2A-8FD2-35688376E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969000"/>
            <a:ext cx="77724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47E40DD-0C82-4130-BA69-BCEB7CCC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Constructors</a:t>
            </a: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CF2E1538-A5DB-46F2-AEDE-EBD679164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7DDED8-23B0-48D1-BB7C-566FF4D13F4D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96F1348B-6067-46E3-8DE6-AB1849F71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3733800" cy="540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3">
            <a:extLst>
              <a:ext uri="{FF2B5EF4-FFF2-40B4-BE49-F238E27FC236}">
                <a16:creationId xmlns:a16="http://schemas.microsoft.com/office/drawing/2014/main" id="{F93AE16E-6595-47DE-AED9-8F1363199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743200"/>
            <a:ext cx="506095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0A4B06-CD6A-4682-9874-F52606B2393E}"/>
              </a:ext>
            </a:extLst>
          </p:cNvPr>
          <p:cNvSpPr/>
          <p:nvPr/>
        </p:nvSpPr>
        <p:spPr>
          <a:xfrm>
            <a:off x="228600" y="2743200"/>
            <a:ext cx="38100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8ABF5F1A-4817-49F9-A28B-4362993E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Parameterized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78640-DAD3-4F0A-AFE9-63623A60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Parameters can be passed to the constructors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70807029-54BE-4511-AAAD-8287CA119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F84BBA-9170-482F-A96D-BA471F17CBFC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3A938-CE7D-4CFC-B78F-5D0198513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2057400"/>
            <a:ext cx="3276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dirty="0">
                <a:latin typeface="Arial" charset="0"/>
              </a:rPr>
              <a:t>class sum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{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   public: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	</a:t>
            </a:r>
            <a:r>
              <a:rPr lang="en-US" dirty="0" err="1">
                <a:latin typeface="Arial" charset="0"/>
              </a:rPr>
              <a:t>int</a:t>
            </a:r>
            <a:r>
              <a:rPr lang="en-US" dirty="0">
                <a:latin typeface="Arial" charset="0"/>
              </a:rPr>
              <a:t> x, y;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	sum(</a:t>
            </a:r>
            <a:r>
              <a:rPr lang="en-US" dirty="0" err="1">
                <a:latin typeface="Arial" charset="0"/>
              </a:rPr>
              <a:t>int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i,int</a:t>
            </a:r>
            <a:r>
              <a:rPr lang="en-US" dirty="0">
                <a:latin typeface="Arial" charset="0"/>
              </a:rPr>
              <a:t> j);	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};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sum::sum(</a:t>
            </a:r>
            <a:r>
              <a:rPr lang="en-US" dirty="0" err="1">
                <a:latin typeface="Arial" charset="0"/>
              </a:rPr>
              <a:t>int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i,int</a:t>
            </a:r>
            <a:r>
              <a:rPr lang="en-US" dirty="0">
                <a:latin typeface="Arial" charset="0"/>
              </a:rPr>
              <a:t> j) 	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{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	x=</a:t>
            </a:r>
            <a:r>
              <a:rPr lang="en-US" dirty="0" err="1">
                <a:latin typeface="Arial" charset="0"/>
              </a:rPr>
              <a:t>i;y</a:t>
            </a:r>
            <a:r>
              <a:rPr lang="en-US" dirty="0">
                <a:latin typeface="Arial" charset="0"/>
              </a:rPr>
              <a:t>=j;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}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void main( )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{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	sum s1(10,20);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	sum s2 = sum(30,40);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	</a:t>
            </a:r>
            <a:r>
              <a:rPr lang="en-US" dirty="0" err="1">
                <a:latin typeface="Arial" charset="0"/>
              </a:rPr>
              <a:t>cout</a:t>
            </a:r>
            <a:r>
              <a:rPr lang="en-US" dirty="0">
                <a:latin typeface="Arial" charset="0"/>
              </a:rPr>
              <a:t>&lt;&lt;"x= " &lt;&lt; s1.x&lt;&lt;"y= "&lt;&lt;s1.y;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	</a:t>
            </a:r>
            <a:r>
              <a:rPr lang="en-US" dirty="0" err="1">
                <a:latin typeface="Arial" charset="0"/>
              </a:rPr>
              <a:t>cout</a:t>
            </a:r>
            <a:r>
              <a:rPr lang="en-US" dirty="0">
                <a:latin typeface="Arial" charset="0"/>
              </a:rPr>
              <a:t>&lt;&lt;"x= " &lt;&lt; s2.x&lt;&lt;"y= "&lt;&lt;s2.y;</a:t>
            </a:r>
          </a:p>
          <a:p>
            <a:pPr eaLnBrk="0" hangingPunct="0">
              <a:defRPr/>
            </a:pPr>
            <a:r>
              <a:rPr lang="en-US" dirty="0">
                <a:latin typeface="Arial" charset="0"/>
              </a:rPr>
              <a:t>}</a:t>
            </a: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3ADA06BD-0548-4F82-9243-D68C96826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5257800"/>
            <a:ext cx="1516062" cy="4905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x= 10 y= 20</a:t>
            </a:r>
          </a:p>
        </p:txBody>
      </p:sp>
      <p:sp>
        <p:nvSpPr>
          <p:cNvPr id="21511" name="AutoShape 6">
            <a:extLst>
              <a:ext uri="{FF2B5EF4-FFF2-40B4-BE49-F238E27FC236}">
                <a16:creationId xmlns:a16="http://schemas.microsoft.com/office/drawing/2014/main" id="{20513764-2999-4BA1-B44A-D107C2102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5791200"/>
            <a:ext cx="555625" cy="209550"/>
          </a:xfrm>
          <a:prstGeom prst="rightArrow">
            <a:avLst>
              <a:gd name="adj1" fmla="val 50000"/>
              <a:gd name="adj2" fmla="val 662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2" name="Text Box 7">
            <a:extLst>
              <a:ext uri="{FF2B5EF4-FFF2-40B4-BE49-F238E27FC236}">
                <a16:creationId xmlns:a16="http://schemas.microsoft.com/office/drawing/2014/main" id="{8540754A-314B-463C-83E5-E9AD36601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2133600"/>
            <a:ext cx="24209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3300"/>
                </a:solidFill>
              </a:rPr>
              <a:t>Parameterized Constructor</a:t>
            </a:r>
            <a:r>
              <a:rPr lang="en-US" altLang="en-US" sz="200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21513" name="Text Box 8">
            <a:extLst>
              <a:ext uri="{FF2B5EF4-FFF2-40B4-BE49-F238E27FC236}">
                <a16:creationId xmlns:a16="http://schemas.microsoft.com/office/drawing/2014/main" id="{DD5D956B-084A-419F-B20C-AF36FC227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8" y="5410200"/>
            <a:ext cx="1347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rgbClr val="FF3300"/>
                </a:solidFill>
              </a:rPr>
              <a:t>Object s1</a:t>
            </a:r>
          </a:p>
        </p:txBody>
      </p:sp>
      <p:sp>
        <p:nvSpPr>
          <p:cNvPr id="21514" name="Text Box 9">
            <a:extLst>
              <a:ext uri="{FF2B5EF4-FFF2-40B4-BE49-F238E27FC236}">
                <a16:creationId xmlns:a16="http://schemas.microsoft.com/office/drawing/2014/main" id="{32C293D3-A1A0-485A-8218-0C8C5C3CE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8" y="5943600"/>
            <a:ext cx="1347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rgbClr val="FF3300"/>
                </a:solidFill>
              </a:rPr>
              <a:t>Object s2</a:t>
            </a:r>
          </a:p>
        </p:txBody>
      </p:sp>
      <p:sp>
        <p:nvSpPr>
          <p:cNvPr id="21515" name="Rectangle 10">
            <a:extLst>
              <a:ext uri="{FF2B5EF4-FFF2-40B4-BE49-F238E27FC236}">
                <a16:creationId xmlns:a16="http://schemas.microsoft.com/office/drawing/2014/main" id="{4CDB7FAA-D848-4D0F-AB74-A459C0EE0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5867400"/>
            <a:ext cx="1516062" cy="4905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x= 30 y= 40</a:t>
            </a:r>
          </a:p>
        </p:txBody>
      </p:sp>
      <p:sp>
        <p:nvSpPr>
          <p:cNvPr id="21516" name="Line 11">
            <a:extLst>
              <a:ext uri="{FF2B5EF4-FFF2-40B4-BE49-F238E27FC236}">
                <a16:creationId xmlns:a16="http://schemas.microsoft.com/office/drawing/2014/main" id="{E20B9872-8385-46A2-9908-C87BE115D7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3538" y="2514600"/>
            <a:ext cx="2857500" cy="554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517" name="Text Box 12">
            <a:extLst>
              <a:ext uri="{FF2B5EF4-FFF2-40B4-BE49-F238E27FC236}">
                <a16:creationId xmlns:a16="http://schemas.microsoft.com/office/drawing/2014/main" id="{049C524F-D360-470B-A594-8C23F1BB1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5" y="3352800"/>
            <a:ext cx="2943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3300"/>
                </a:solidFill>
              </a:rPr>
              <a:t>Constructor called implicitly</a:t>
            </a:r>
          </a:p>
        </p:txBody>
      </p:sp>
      <p:sp>
        <p:nvSpPr>
          <p:cNvPr id="21518" name="Line 13">
            <a:extLst>
              <a:ext uri="{FF2B5EF4-FFF2-40B4-BE49-F238E27FC236}">
                <a16:creationId xmlns:a16="http://schemas.microsoft.com/office/drawing/2014/main" id="{9FDDB304-A4E6-432B-9A6C-9257851CE8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38438" y="3733800"/>
            <a:ext cx="2908300" cy="1389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519" name="Line 14">
            <a:extLst>
              <a:ext uri="{FF2B5EF4-FFF2-40B4-BE49-F238E27FC236}">
                <a16:creationId xmlns:a16="http://schemas.microsoft.com/office/drawing/2014/main" id="{8867AD9B-562C-4246-935C-70F1868C82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2738" y="46482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20" name="Text Box 15">
            <a:extLst>
              <a:ext uri="{FF2B5EF4-FFF2-40B4-BE49-F238E27FC236}">
                <a16:creationId xmlns:a16="http://schemas.microsoft.com/office/drawing/2014/main" id="{043FDC16-532F-4E60-A5F6-169A86354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343400"/>
            <a:ext cx="1828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</a:rPr>
              <a:t>Explicit call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26EA91F1-D8D4-426E-905B-7A05C547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Overloaded Constructors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F75E0-CF2E-495B-A031-531B549A9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000" dirty="0">
                <a:cs typeface="Times New Roman" pitchFamily="18" charset="0"/>
              </a:rPr>
              <a:t>Overloaded Constructors -</a:t>
            </a:r>
            <a:r>
              <a:rPr lang="en-US" sz="2000" dirty="0"/>
              <a:t> Multiple constructors declared in a class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000" dirty="0"/>
              <a:t>All constructors have different number of arguments 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en-US" sz="2000" dirty="0"/>
              <a:t>Depending on the number of arguments, compiler executes corresponding constructor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endParaRPr lang="en-US" sz="2000" dirty="0"/>
          </a:p>
          <a:p>
            <a:pPr algn="just" eaLnBrk="1" hangingPunct="1">
              <a:spcBef>
                <a:spcPts val="0"/>
              </a:spcBef>
              <a:buClr>
                <a:schemeClr val="tx1"/>
              </a:buClr>
              <a:defRPr/>
            </a:pPr>
            <a:endParaRPr lang="en-US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A85064E6-E3FC-4B45-912A-DC17F414DE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1C5A96-D93C-42BA-8892-6D15210009CB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27D04B3E-1FC0-4FC4-BC15-C9A50FDEB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556125"/>
            <a:ext cx="2673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C00000"/>
                </a:solidFill>
              </a:rPr>
              <a:t>Two arguments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6D03E096-9103-4A58-AFA8-34141AB0C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138" y="3722688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C00000"/>
                </a:solidFill>
              </a:rPr>
              <a:t>No arguments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943535A8-8F28-456B-BA8E-AA4E1A188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22688"/>
            <a:ext cx="4191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C00000"/>
                </a:solidFill>
              </a:rPr>
              <a:t>sum( ) {x=10;y=20;};</a:t>
            </a:r>
          </a:p>
          <a:p>
            <a:pPr eaLnBrk="1" hangingPunct="1"/>
            <a:endParaRPr lang="en-US" altLang="en-US" sz="2400" b="1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2400" b="1">
                <a:solidFill>
                  <a:srgbClr val="C00000"/>
                </a:solidFill>
              </a:rPr>
              <a:t>sum (int i, int j) {x=i; y=j;};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3100015A-7537-4EE3-B299-14E4F7E5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>
                <a:cs typeface="Times New Roman" panose="02020603050405020304" pitchFamily="18" charset="0"/>
              </a:rPr>
              <a:t>Constructors with Default Arguments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10FB-7174-4D94-AFE8-82B67851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Constructors can be defined with default arguments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C872BA1D-8811-44DC-9CEA-8BE39BA3C1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2C82D-FB73-4F00-9A3D-6EFDD4875212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4C6789-DB03-40AA-97DC-9F431329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25625"/>
            <a:ext cx="5257800" cy="51117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class sum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{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	</a:t>
            </a:r>
            <a:r>
              <a:rPr lang="en-US" sz="2000" dirty="0" err="1">
                <a:latin typeface="Arial" charset="0"/>
              </a:rPr>
              <a:t>int</a:t>
            </a:r>
            <a:r>
              <a:rPr lang="en-US" sz="2000" dirty="0">
                <a:latin typeface="Arial" charset="0"/>
              </a:rPr>
              <a:t> x, y;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 public: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	void print()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	{	</a:t>
            </a:r>
            <a:r>
              <a:rPr lang="en-US" sz="2000" dirty="0" err="1">
                <a:latin typeface="Arial" charset="0"/>
              </a:rPr>
              <a:t>cout</a:t>
            </a:r>
            <a:r>
              <a:rPr lang="en-US" sz="2000" dirty="0">
                <a:latin typeface="Arial" charset="0"/>
              </a:rPr>
              <a:t>&lt;&lt;“x = “&lt;&lt;x&lt;&lt;“y =“&lt;&lt;y;  }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Arial" charset="0"/>
              </a:rPr>
              <a:t>sum(</a:t>
            </a:r>
            <a:r>
              <a:rPr lang="en-US" sz="2000" dirty="0" err="1">
                <a:solidFill>
                  <a:srgbClr val="C00000"/>
                </a:solidFill>
                <a:latin typeface="Arial" charset="0"/>
              </a:rPr>
              <a:t>int</a:t>
            </a:r>
            <a:r>
              <a:rPr lang="en-US" sz="2000" dirty="0">
                <a:solidFill>
                  <a:srgbClr val="C00000"/>
                </a:solidFill>
                <a:latin typeface="Arial" charset="0"/>
              </a:rPr>
              <a:t> i, </a:t>
            </a:r>
            <a:r>
              <a:rPr lang="en-US" sz="2000" dirty="0" err="1">
                <a:solidFill>
                  <a:srgbClr val="C00000"/>
                </a:solidFill>
                <a:latin typeface="Arial" charset="0"/>
              </a:rPr>
              <a:t>int</a:t>
            </a:r>
            <a:r>
              <a:rPr lang="en-US" sz="2000" dirty="0">
                <a:solidFill>
                  <a:srgbClr val="C00000"/>
                </a:solidFill>
                <a:latin typeface="Arial" charset="0"/>
              </a:rPr>
              <a:t> j=10);</a:t>
            </a:r>
            <a:r>
              <a:rPr lang="en-US" sz="2000" dirty="0">
                <a:latin typeface="Arial" charset="0"/>
              </a:rPr>
              <a:t>	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};</a:t>
            </a:r>
          </a:p>
          <a:p>
            <a:pPr lvl="1" eaLnBrk="0" hangingPunct="0">
              <a:defRPr/>
            </a:pPr>
            <a:endParaRPr lang="en-US" sz="2000" dirty="0">
              <a:latin typeface="Arial" charset="0"/>
            </a:endParaRP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sum::sum(</a:t>
            </a:r>
            <a:r>
              <a:rPr lang="en-US" sz="2000" dirty="0" err="1">
                <a:latin typeface="Arial" charset="0"/>
              </a:rPr>
              <a:t>int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 err="1">
                <a:latin typeface="Arial" charset="0"/>
              </a:rPr>
              <a:t>i,int</a:t>
            </a:r>
            <a:r>
              <a:rPr lang="en-US" sz="2000" dirty="0">
                <a:latin typeface="Arial" charset="0"/>
              </a:rPr>
              <a:t> j)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{	x=</a:t>
            </a:r>
            <a:r>
              <a:rPr lang="en-US" sz="2000" dirty="0" err="1">
                <a:latin typeface="Arial" charset="0"/>
              </a:rPr>
              <a:t>i;y</a:t>
            </a:r>
            <a:r>
              <a:rPr lang="en-US" sz="2000" dirty="0">
                <a:latin typeface="Arial" charset="0"/>
              </a:rPr>
              <a:t>=j;	}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void main()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{	sum </a:t>
            </a:r>
            <a:r>
              <a:rPr lang="en-US" sz="2000" dirty="0">
                <a:solidFill>
                  <a:srgbClr val="C00000"/>
                </a:solidFill>
                <a:latin typeface="Arial" charset="0"/>
              </a:rPr>
              <a:t>s1(1),s2(8,9);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	s1.print();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	s2.print();</a:t>
            </a:r>
          </a:p>
          <a:p>
            <a:pPr lvl="1" eaLnBrk="0" hangingPunct="0">
              <a:defRPr/>
            </a:pPr>
            <a:r>
              <a:rPr lang="en-US" sz="2000" dirty="0">
                <a:latin typeface="Arial" charset="0"/>
              </a:rPr>
              <a:t>}</a:t>
            </a: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E4BC5F12-FFC8-4300-A37B-B830EB4ED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154613"/>
            <a:ext cx="1600200" cy="587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x= 1 y= 10</a:t>
            </a:r>
          </a:p>
        </p:txBody>
      </p:sp>
      <p:sp>
        <p:nvSpPr>
          <p:cNvPr id="23559" name="Text Box 6">
            <a:extLst>
              <a:ext uri="{FF2B5EF4-FFF2-40B4-BE49-F238E27FC236}">
                <a16:creationId xmlns:a16="http://schemas.microsoft.com/office/drawing/2014/main" id="{47192866-AFAD-40A3-860A-6B2226061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237163"/>
            <a:ext cx="14478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3300"/>
                </a:solidFill>
              </a:rPr>
              <a:t>Object s1</a:t>
            </a:r>
          </a:p>
        </p:txBody>
      </p:sp>
      <p:sp>
        <p:nvSpPr>
          <p:cNvPr id="23560" name="Text Box 7">
            <a:extLst>
              <a:ext uri="{FF2B5EF4-FFF2-40B4-BE49-F238E27FC236}">
                <a16:creationId xmlns:a16="http://schemas.microsoft.com/office/drawing/2014/main" id="{63DA6F63-B5D2-48BA-A801-AB9D84995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999163"/>
            <a:ext cx="14478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3300"/>
                </a:solidFill>
              </a:rPr>
              <a:t>Object s2</a:t>
            </a:r>
          </a:p>
        </p:txBody>
      </p:sp>
      <p:sp>
        <p:nvSpPr>
          <p:cNvPr id="23561" name="Rectangle 8">
            <a:extLst>
              <a:ext uri="{FF2B5EF4-FFF2-40B4-BE49-F238E27FC236}">
                <a16:creationId xmlns:a16="http://schemas.microsoft.com/office/drawing/2014/main" id="{146B9F0D-350F-4F0C-873E-905436CAF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916613"/>
            <a:ext cx="1600200" cy="587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x= 8 y= 9</a:t>
            </a:r>
          </a:p>
        </p:txBody>
      </p:sp>
      <p:sp>
        <p:nvSpPr>
          <p:cNvPr id="23562" name="Text Box 9">
            <a:extLst>
              <a:ext uri="{FF2B5EF4-FFF2-40B4-BE49-F238E27FC236}">
                <a16:creationId xmlns:a16="http://schemas.microsoft.com/office/drawing/2014/main" id="{0B7E4090-1D71-4442-A8E1-8E8AEF53F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911600"/>
            <a:ext cx="25908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3300"/>
                </a:solidFill>
              </a:rPr>
              <a:t>Default  value  for j=10 (Used by the object s1)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D599737A-EE52-413F-8345-1F1635F7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Dynamic Constructor</a:t>
            </a:r>
            <a:endParaRPr lang="en-IN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418F6CBC-DA44-4B87-98AA-0E4C22ABE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Clr>
                <a:schemeClr val="tx1"/>
              </a:buClr>
            </a:pPr>
            <a:r>
              <a:rPr lang="en-US" altLang="en-US" sz="2000">
                <a:solidFill>
                  <a:srgbClr val="C00000"/>
                </a:solidFill>
              </a:rPr>
              <a:t>Allocates the right amount of memory during execution for each object when the object’s data member size is not the same using new operator in the constructor</a:t>
            </a:r>
          </a:p>
          <a:p>
            <a:pPr algn="just" eaLnBrk="1" hangingPunct="1">
              <a:spcBef>
                <a:spcPct val="0"/>
              </a:spcBef>
              <a:buClr>
                <a:schemeClr val="tx1"/>
              </a:buClr>
            </a:pPr>
            <a:r>
              <a:rPr lang="en-US" altLang="en-US" sz="2000"/>
              <a:t>The allocated memory should be released when the object is no longer needed by delete operator in the destructor</a:t>
            </a:r>
            <a:endParaRPr lang="en-IN" altLang="en-US" sz="200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3F0D4E58-CBA5-44BE-8ECF-8DD5AC0C88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5EE51E-4241-4456-998E-514885153910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4017EB9C-6C1D-4D66-83F8-DBB879B0D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3886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#include&lt;string.h&gt;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class String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{   char* data;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public: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String(const char* s = "")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{   </a:t>
            </a:r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data = new char[strlen(s) +1];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    strcpy(data,s);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~String( 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{	   </a:t>
            </a:r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delete [ ] data;    </a:t>
            </a:r>
            <a:r>
              <a:rPr lang="en-US" altLang="ko-KR">
                <a:ea typeface="굴림" panose="020B0600000101010101" pitchFamily="34" charset="-127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void display()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    {   cout &lt;&lt; data;	    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};</a:t>
            </a: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2FFDDD2C-6F60-4495-9701-5D7F0C839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76600"/>
            <a:ext cx="2819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>
                <a:ea typeface="굴림" panose="020B0600000101010101" pitchFamily="34" charset="-127"/>
              </a:rPr>
              <a:t>main()</a:t>
            </a:r>
          </a:p>
          <a:p>
            <a:r>
              <a:rPr lang="en-US" altLang="ko-KR">
                <a:ea typeface="굴림" panose="020B0600000101010101" pitchFamily="34" charset="-127"/>
              </a:rPr>
              <a:t>{</a:t>
            </a:r>
          </a:p>
          <a:p>
            <a:r>
              <a:rPr lang="en-US" altLang="ko-KR">
                <a:ea typeface="굴림" panose="020B0600000101010101" pitchFamily="34" charset="-127"/>
              </a:rPr>
              <a:t>    String s = "hello"; 		</a:t>
            </a:r>
          </a:p>
          <a:p>
            <a:r>
              <a:rPr lang="en-US" altLang="ko-KR">
                <a:ea typeface="굴림" panose="020B0600000101010101" pitchFamily="34" charset="-127"/>
              </a:rPr>
              <a:t>    cout &lt;&lt;”s=”;</a:t>
            </a:r>
          </a:p>
          <a:p>
            <a:r>
              <a:rPr lang="en-US" altLang="ko-KR">
                <a:ea typeface="굴림" panose="020B0600000101010101" pitchFamily="34" charset="-127"/>
              </a:rPr>
              <a:t>    s.display( );</a:t>
            </a:r>
          </a:p>
          <a:p>
            <a:r>
              <a:rPr lang="en-US" altLang="ko-KR">
                <a:ea typeface="굴림" panose="020B0600000101010101" pitchFamily="34" charset="-127"/>
              </a:rPr>
              <a:t>    String s1(“hello world”);</a:t>
            </a:r>
          </a:p>
          <a:p>
            <a:r>
              <a:rPr lang="en-US" altLang="ko-KR">
                <a:ea typeface="굴림" panose="020B0600000101010101" pitchFamily="34" charset="-127"/>
              </a:rPr>
              <a:t>    cout&lt;&lt;”s1= ”;</a:t>
            </a:r>
          </a:p>
          <a:p>
            <a:r>
              <a:rPr lang="en-US" altLang="ko-KR">
                <a:ea typeface="굴림" panose="020B0600000101010101" pitchFamily="34" charset="-127"/>
              </a:rPr>
              <a:t>    s1.display();</a:t>
            </a:r>
          </a:p>
          <a:p>
            <a:r>
              <a:rPr lang="en-US" altLang="ko-KR">
                <a:ea typeface="굴림" panose="020B0600000101010101" pitchFamily="34" charset="-127"/>
              </a:rPr>
              <a:t>}</a:t>
            </a:r>
            <a:endParaRPr lang="en-US" altLang="en-US"/>
          </a:p>
        </p:txBody>
      </p:sp>
      <p:sp>
        <p:nvSpPr>
          <p:cNvPr id="24583" name="AutoShape 6">
            <a:extLst>
              <a:ext uri="{FF2B5EF4-FFF2-40B4-BE49-F238E27FC236}">
                <a16:creationId xmlns:a16="http://schemas.microsoft.com/office/drawing/2014/main" id="{F2887EE0-2D87-4B37-A6EC-63ECAF6F7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257800"/>
            <a:ext cx="1828800" cy="83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sz="1600" b="1">
                <a:solidFill>
                  <a:srgbClr val="FF3300"/>
                </a:solidFill>
                <a:ea typeface="Batang" panose="02030600000101010101" pitchFamily="18" charset="-127"/>
              </a:rPr>
              <a:t>s = hello</a:t>
            </a:r>
          </a:p>
          <a:p>
            <a:r>
              <a:rPr lang="en-US" altLang="ko-KR" sz="1600" b="1">
                <a:solidFill>
                  <a:srgbClr val="FF3300"/>
                </a:solidFill>
                <a:ea typeface="Batang" panose="02030600000101010101" pitchFamily="18" charset="-127"/>
              </a:rPr>
              <a:t>s1=hello world</a:t>
            </a:r>
            <a:endParaRPr lang="en-US" altLang="en-US" sz="16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1E9210E-1C12-4C15-AE6E-F0EDD8D1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>
                <a:cs typeface="Times New Roman" panose="02020603050405020304" pitchFamily="18" charset="0"/>
              </a:rPr>
              <a:t>Copy Constructor</a:t>
            </a:r>
            <a:endParaRPr lang="en-IN" altLang="en-US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0B9C167F-165C-4348-A55C-DEDA55F9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altLang="en-US" sz="2000"/>
              <a:t>Constructor that takes a reference to an object of the same class as  argument is Copy constructor. C++ calls a copy constructor (</a:t>
            </a:r>
            <a:r>
              <a:rPr lang="en-US" altLang="en-US" sz="2000">
                <a:solidFill>
                  <a:srgbClr val="C00000"/>
                </a:solidFill>
              </a:rPr>
              <a:t>deep copy or member-wise copy</a:t>
            </a:r>
            <a:r>
              <a:rPr lang="en-US" altLang="en-US" sz="2000"/>
              <a:t>) to make a copy of an object.</a:t>
            </a:r>
          </a:p>
          <a:p>
            <a:pPr algn="just" eaLnBrk="1" hangingPunct="1">
              <a:buClr>
                <a:schemeClr val="tx1"/>
              </a:buClr>
            </a:pPr>
            <a:r>
              <a:rPr lang="en-US" altLang="en-US" sz="1800"/>
              <a:t>Copy constructor is invoked in any of the following ways.</a:t>
            </a:r>
          </a:p>
          <a:p>
            <a:pPr lvl="1" algn="just" eaLnBrk="1" hangingPunct="1">
              <a:buClr>
                <a:schemeClr val="tx1"/>
              </a:buClr>
            </a:pPr>
            <a:r>
              <a:rPr lang="en-US" altLang="en-US" sz="1800"/>
              <a:t>When one object explicitly initializes another</a:t>
            </a:r>
          </a:p>
          <a:p>
            <a:pPr lvl="2" algn="just" eaLnBrk="1" hangingPunct="1">
              <a:buClr>
                <a:schemeClr val="tx1"/>
              </a:buClr>
            </a:pPr>
            <a:r>
              <a:rPr lang="en-US" altLang="en-US" sz="1800" b="1">
                <a:solidFill>
                  <a:srgbClr val="C00000"/>
                </a:solidFill>
              </a:rPr>
              <a:t>sum s3=s1;</a:t>
            </a:r>
            <a:r>
              <a:rPr lang="en-US" altLang="en-US" sz="1800">
                <a:solidFill>
                  <a:srgbClr val="C00000"/>
                </a:solidFill>
              </a:rPr>
              <a:t>	</a:t>
            </a:r>
          </a:p>
          <a:p>
            <a:pPr lvl="1" algn="just" eaLnBrk="1" hangingPunct="1">
              <a:buClr>
                <a:schemeClr val="tx1"/>
              </a:buClr>
            </a:pPr>
            <a:r>
              <a:rPr lang="en-US" altLang="en-US" sz="1800"/>
              <a:t>When a copy of an object is made to be passed to a function</a:t>
            </a:r>
          </a:p>
          <a:p>
            <a:pPr lvl="2" algn="just" eaLnBrk="1" hangingPunct="1">
              <a:buClr>
                <a:schemeClr val="tx1"/>
              </a:buClr>
            </a:pPr>
            <a:r>
              <a:rPr lang="en-US" altLang="en-US" sz="1800" b="1">
                <a:solidFill>
                  <a:srgbClr val="C00000"/>
                </a:solidFill>
              </a:rPr>
              <a:t>show(s2);</a:t>
            </a:r>
          </a:p>
          <a:p>
            <a:pPr lvl="1" algn="just" eaLnBrk="1" hangingPunct="1">
              <a:buClr>
                <a:schemeClr val="tx1"/>
              </a:buClr>
            </a:pPr>
            <a:r>
              <a:rPr lang="en-IN" altLang="en-US" sz="1800"/>
              <a:t>Returning an object by value from a function</a:t>
            </a:r>
          </a:p>
          <a:p>
            <a:pPr lvl="2" algn="just" eaLnBrk="1" hangingPunct="1">
              <a:buClr>
                <a:schemeClr val="tx1"/>
              </a:buClr>
            </a:pPr>
            <a:r>
              <a:rPr lang="en-US" altLang="en-US" sz="1800" b="1">
                <a:solidFill>
                  <a:srgbClr val="C00000"/>
                </a:solidFill>
              </a:rPr>
              <a:t>s3=fun();</a:t>
            </a:r>
          </a:p>
          <a:p>
            <a:pPr lvl="1" algn="just" eaLnBrk="1" hangingPunct="1">
              <a:buClr>
                <a:schemeClr val="tx1"/>
              </a:buClr>
            </a:pPr>
            <a:r>
              <a:rPr lang="en-US" altLang="en-US" sz="1800"/>
              <a:t>When a temporary object is generated</a:t>
            </a:r>
          </a:p>
          <a:p>
            <a:pPr algn="just" eaLnBrk="1" hangingPunct="1">
              <a:buClr>
                <a:schemeClr val="tx1"/>
              </a:buClr>
            </a:pPr>
            <a:r>
              <a:rPr lang="en-US" altLang="en-US" sz="1800"/>
              <a:t>If there is no copy constructor defined for the class, C++ uses the default copy constructor which copies each data member, ie, makes a </a:t>
            </a:r>
            <a:r>
              <a:rPr lang="en-US" altLang="en-US" sz="1800">
                <a:solidFill>
                  <a:srgbClr val="C00000"/>
                </a:solidFill>
              </a:rPr>
              <a:t>shallow copy or bit-wise copy</a:t>
            </a:r>
            <a:endParaRPr lang="en-IN" altLang="en-US" sz="1800">
              <a:solidFill>
                <a:srgbClr val="C00000"/>
              </a:solidFill>
            </a:endParaRP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52D71791-A264-42B6-8EBB-FE6F774F2D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FA30CF-B533-464E-8E55-B72910F0DBC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28A3339-3A60-4D28-A175-A220F643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>
                <a:cs typeface="Times New Roman" panose="02020603050405020304" pitchFamily="18" charset="0"/>
              </a:rPr>
              <a:t>Copy Constructor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70F15-AA6A-4C3A-BB57-8673A71DF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en-US" sz="2000" dirty="0">
                <a:solidFill>
                  <a:srgbClr val="C00000"/>
                </a:solidFill>
              </a:rPr>
              <a:t>Syntax</a:t>
            </a: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en-US" sz="2000" dirty="0" err="1"/>
              <a:t>class_name</a:t>
            </a:r>
            <a:r>
              <a:rPr lang="en-US" sz="2000" dirty="0"/>
              <a:t>(</a:t>
            </a:r>
            <a:r>
              <a:rPr lang="en-US" sz="2000" dirty="0" err="1"/>
              <a:t>class_name</a:t>
            </a:r>
            <a:r>
              <a:rPr lang="en-US" sz="2000" dirty="0"/>
              <a:t>  &amp;</a:t>
            </a:r>
            <a:r>
              <a:rPr lang="en-US" sz="2000" dirty="0" err="1"/>
              <a:t>object_name</a:t>
            </a:r>
            <a:r>
              <a:rPr lang="en-US" sz="2000" dirty="0"/>
              <a:t>)  </a:t>
            </a:r>
            <a:r>
              <a:rPr lang="en-US" sz="2000" dirty="0">
                <a:solidFill>
                  <a:srgbClr val="C00000"/>
                </a:solidFill>
              </a:rPr>
              <a:t>//by reference is a must</a:t>
            </a:r>
          </a:p>
          <a:p>
            <a:pPr marL="0" indent="0" algn="just"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2000" dirty="0"/>
              <a:t>     {…}	</a:t>
            </a:r>
            <a:endParaRPr lang="en-IN" sz="2000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F038D0AB-CE9D-4932-AB28-84274D71B9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4D8A70-1952-408F-8982-518AF5E26B0D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D54E8C-8A93-4605-B927-0D887FFF3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0"/>
            <a:ext cx="4191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2000">
                <a:latin typeface="Arial" charset="0"/>
              </a:rPr>
              <a:t>class sum</a:t>
            </a:r>
          </a:p>
          <a:p>
            <a:pPr eaLnBrk="0" hangingPunct="0">
              <a:defRPr/>
            </a:pPr>
            <a:r>
              <a:rPr lang="en-US" sz="2000">
                <a:latin typeface="Arial" charset="0"/>
              </a:rPr>
              <a:t>{</a:t>
            </a:r>
          </a:p>
          <a:p>
            <a:pPr eaLnBrk="0" hangingPunct="0">
              <a:defRPr/>
            </a:pPr>
            <a:r>
              <a:rPr lang="en-US" sz="2000">
                <a:latin typeface="Arial" charset="0"/>
              </a:rPr>
              <a:t>   public:</a:t>
            </a:r>
          </a:p>
          <a:p>
            <a:pPr eaLnBrk="0" hangingPunct="0">
              <a:defRPr/>
            </a:pPr>
            <a:r>
              <a:rPr lang="en-US" sz="2000">
                <a:latin typeface="Arial" charset="0"/>
              </a:rPr>
              <a:t>	int x;</a:t>
            </a:r>
          </a:p>
          <a:p>
            <a:pPr eaLnBrk="0" hangingPunct="0">
              <a:defRPr/>
            </a:pPr>
            <a:r>
              <a:rPr lang="en-US" sz="2000">
                <a:latin typeface="Arial" charset="0"/>
              </a:rPr>
              <a:t>	sum( ){ }</a:t>
            </a:r>
          </a:p>
          <a:p>
            <a:pPr eaLnBrk="0" hangingPunct="0">
              <a:defRPr/>
            </a:pPr>
            <a:r>
              <a:rPr lang="en-US" sz="2000">
                <a:latin typeface="Arial" charset="0"/>
              </a:rPr>
              <a:t>	sum(int i) {x=i;}</a:t>
            </a:r>
          </a:p>
          <a:p>
            <a:pPr eaLnBrk="0" hangingPunct="0">
              <a:defRPr/>
            </a:pPr>
            <a:r>
              <a:rPr lang="en-US" sz="2000">
                <a:latin typeface="Arial" charset="0"/>
              </a:rPr>
              <a:t>	sum(sum &amp;j) {x=j.x;}</a:t>
            </a:r>
          </a:p>
          <a:p>
            <a:pPr eaLnBrk="0" hangingPunct="0">
              <a:defRPr/>
            </a:pPr>
            <a:r>
              <a:rPr lang="en-US" sz="2000">
                <a:latin typeface="Arial" charset="0"/>
              </a:rPr>
              <a:t>};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708833-B1BB-4DCC-8355-9F8FE5A9F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048000"/>
            <a:ext cx="4191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main( )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{	sum s1(10);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	sum s2(s1);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	sum s3=s1;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	</a:t>
            </a:r>
            <a:r>
              <a:rPr lang="en-US" sz="2000" dirty="0" err="1">
                <a:latin typeface="Arial" charset="0"/>
              </a:rPr>
              <a:t>cout</a:t>
            </a:r>
            <a:r>
              <a:rPr lang="en-US" sz="2000" dirty="0">
                <a:latin typeface="Arial" charset="0"/>
              </a:rPr>
              <a:t>&lt;&lt;"\</a:t>
            </a:r>
            <a:r>
              <a:rPr lang="en-US" sz="2000" dirty="0" err="1">
                <a:latin typeface="Arial" charset="0"/>
              </a:rPr>
              <a:t>nx</a:t>
            </a:r>
            <a:r>
              <a:rPr lang="en-US" sz="2000" dirty="0">
                <a:latin typeface="Arial" charset="0"/>
              </a:rPr>
              <a:t> in s1= " &lt;&lt; s1.x;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	</a:t>
            </a:r>
            <a:r>
              <a:rPr lang="en-US" sz="2000" dirty="0" err="1">
                <a:latin typeface="Arial" charset="0"/>
              </a:rPr>
              <a:t>cout</a:t>
            </a:r>
            <a:r>
              <a:rPr lang="en-US" sz="2000" dirty="0">
                <a:latin typeface="Arial" charset="0"/>
              </a:rPr>
              <a:t>&lt;&lt;"\</a:t>
            </a:r>
            <a:r>
              <a:rPr lang="en-US" sz="2000" dirty="0" err="1">
                <a:latin typeface="Arial" charset="0"/>
              </a:rPr>
              <a:t>nx</a:t>
            </a:r>
            <a:r>
              <a:rPr lang="en-US" sz="2000" dirty="0">
                <a:latin typeface="Arial" charset="0"/>
              </a:rPr>
              <a:t> in s2= " &lt;&lt; s2.x;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	</a:t>
            </a:r>
            <a:r>
              <a:rPr lang="en-US" sz="2000" dirty="0" err="1">
                <a:latin typeface="Arial" charset="0"/>
              </a:rPr>
              <a:t>cout</a:t>
            </a:r>
            <a:r>
              <a:rPr lang="en-US" sz="2000" dirty="0">
                <a:latin typeface="Arial" charset="0"/>
              </a:rPr>
              <a:t>&lt;&lt;"\</a:t>
            </a:r>
            <a:r>
              <a:rPr lang="en-US" sz="2000" dirty="0" err="1">
                <a:latin typeface="Arial" charset="0"/>
              </a:rPr>
              <a:t>nx</a:t>
            </a:r>
            <a:r>
              <a:rPr lang="en-US" sz="2000" dirty="0">
                <a:latin typeface="Arial" charset="0"/>
              </a:rPr>
              <a:t> in s3= " &lt;&lt; s3.x;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}</a:t>
            </a:r>
          </a:p>
        </p:txBody>
      </p:sp>
      <p:sp>
        <p:nvSpPr>
          <p:cNvPr id="26631" name="Text Box 6">
            <a:extLst>
              <a:ext uri="{FF2B5EF4-FFF2-40B4-BE49-F238E27FC236}">
                <a16:creationId xmlns:a16="http://schemas.microsoft.com/office/drawing/2014/main" id="{3E832593-1EE0-4BFA-92F6-7BE1B7566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773738"/>
            <a:ext cx="144780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C00000"/>
                </a:solidFill>
              </a:rPr>
              <a:t>Objects</a:t>
            </a:r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E9AAE641-DA00-41BE-AD60-CB3A36725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199188"/>
            <a:ext cx="914400" cy="582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x=10</a:t>
            </a:r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0122F566-4C01-4EBE-957B-933331C27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6199188"/>
            <a:ext cx="914400" cy="582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x=10</a:t>
            </a:r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6D77F556-E591-4C64-BD08-003E2DA2D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6199188"/>
            <a:ext cx="914400" cy="582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x=10</a:t>
            </a:r>
          </a:p>
        </p:txBody>
      </p:sp>
      <p:sp>
        <p:nvSpPr>
          <p:cNvPr id="26635" name="Text Box 10">
            <a:extLst>
              <a:ext uri="{FF2B5EF4-FFF2-40B4-BE49-F238E27FC236}">
                <a16:creationId xmlns:a16="http://schemas.microsoft.com/office/drawing/2014/main" id="{9D966E41-AD80-4F80-AC75-6744BD08E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7531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C00000"/>
                </a:solidFill>
              </a:rPr>
              <a:t>s1</a:t>
            </a:r>
          </a:p>
        </p:txBody>
      </p:sp>
      <p:sp>
        <p:nvSpPr>
          <p:cNvPr id="26636" name="Text Box 11">
            <a:extLst>
              <a:ext uri="{FF2B5EF4-FFF2-40B4-BE49-F238E27FC236}">
                <a16:creationId xmlns:a16="http://schemas.microsoft.com/office/drawing/2014/main" id="{41DECC0A-D69F-4B90-B4E2-EFF8FED36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531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C00000"/>
                </a:solidFill>
              </a:rPr>
              <a:t>s2</a:t>
            </a:r>
          </a:p>
        </p:txBody>
      </p:sp>
      <p:sp>
        <p:nvSpPr>
          <p:cNvPr id="26637" name="Text Box 12">
            <a:extLst>
              <a:ext uri="{FF2B5EF4-FFF2-40B4-BE49-F238E27FC236}">
                <a16:creationId xmlns:a16="http://schemas.microsoft.com/office/drawing/2014/main" id="{4FAC8BB6-BF41-4EFB-ADB5-BBDA6D909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7531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3300"/>
                </a:solidFill>
              </a:rPr>
              <a:t>s3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6F38AD3-21FF-4C01-BAF0-8653D0B9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>
                <a:cs typeface="Times New Roman" panose="02020603050405020304" pitchFamily="18" charset="0"/>
              </a:rPr>
              <a:t>Copy Constructor – Shallow Copy</a:t>
            </a:r>
            <a:endParaRPr lang="en-IN" altLang="en-US" sz="4400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8277BBFA-E9E1-4742-8406-87B6AB6F90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241265-A3E9-4719-8B48-78CA9F433D16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2" name="AutoShape 2">
            <a:extLst>
              <a:ext uri="{FF2B5EF4-FFF2-40B4-BE49-F238E27FC236}">
                <a16:creationId xmlns:a16="http://schemas.microsoft.com/office/drawing/2014/main" id="{FA01AAB6-FAB3-446B-9651-C1250E721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1600200"/>
            <a:ext cx="6934200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ECEB1C48-1433-4051-91F9-56772BDEE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676400"/>
            <a:ext cx="4267200" cy="2444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sz="1600" b="1">
                <a:ea typeface="Batang" panose="02030600000101010101" pitchFamily="18" charset="-127"/>
              </a:rPr>
              <a:t>void main()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{  String s = "hello";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String t = s;	// same as String t(s);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s.display(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t.display(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t.assign(“world”);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s.display(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t.display(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}</a:t>
            </a:r>
            <a:endParaRPr lang="en-US" altLang="en-US" sz="1600" b="1"/>
          </a:p>
        </p:txBody>
      </p:sp>
      <p:sp>
        <p:nvSpPr>
          <p:cNvPr id="27654" name="AutoShape 4">
            <a:extLst>
              <a:ext uri="{FF2B5EF4-FFF2-40B4-BE49-F238E27FC236}">
                <a16:creationId xmlns:a16="http://schemas.microsoft.com/office/drawing/2014/main" id="{8BE6092F-B792-4EF4-862A-80A64BF74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667000"/>
            <a:ext cx="914400" cy="1149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sz="1600" b="1">
                <a:solidFill>
                  <a:srgbClr val="FF3300"/>
                </a:solidFill>
                <a:ea typeface="Batang" panose="02030600000101010101" pitchFamily="18" charset="-127"/>
              </a:rPr>
              <a:t>hello</a:t>
            </a:r>
          </a:p>
          <a:p>
            <a:r>
              <a:rPr lang="en-US" altLang="ko-KR" sz="1600" b="1">
                <a:solidFill>
                  <a:srgbClr val="FF3300"/>
                </a:solidFill>
                <a:ea typeface="Batang" panose="02030600000101010101" pitchFamily="18" charset="-127"/>
              </a:rPr>
              <a:t>hello</a:t>
            </a:r>
          </a:p>
          <a:p>
            <a:r>
              <a:rPr lang="en-US" altLang="ko-KR" sz="1600" b="1">
                <a:solidFill>
                  <a:srgbClr val="FF3300"/>
                </a:solidFill>
                <a:ea typeface="Batang" panose="02030600000101010101" pitchFamily="18" charset="-127"/>
              </a:rPr>
              <a:t>world</a:t>
            </a:r>
          </a:p>
          <a:p>
            <a:r>
              <a:rPr lang="en-US" altLang="ko-KR" sz="1600" b="1">
                <a:solidFill>
                  <a:srgbClr val="FF3300"/>
                </a:solidFill>
                <a:ea typeface="Batang" panose="02030600000101010101" pitchFamily="18" charset="-127"/>
              </a:rPr>
              <a:t>world</a:t>
            </a:r>
            <a:endParaRPr lang="en-US" altLang="en-US" sz="1600" b="1">
              <a:solidFill>
                <a:srgbClr val="FF3300"/>
              </a:solidFill>
            </a:endParaRPr>
          </a:p>
        </p:txBody>
      </p:sp>
      <p:grpSp>
        <p:nvGrpSpPr>
          <p:cNvPr id="27655" name="Group 5">
            <a:extLst>
              <a:ext uri="{FF2B5EF4-FFF2-40B4-BE49-F238E27FC236}">
                <a16:creationId xmlns:a16="http://schemas.microsoft.com/office/drawing/2014/main" id="{A4ED1F4A-EDBB-4236-93F4-A176C5783C3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95800" y="4114800"/>
            <a:ext cx="4343400" cy="1219200"/>
            <a:chOff x="1810" y="2380"/>
            <a:chExt cx="8520" cy="3060"/>
          </a:xfrm>
        </p:grpSpPr>
        <p:sp>
          <p:nvSpPr>
            <p:cNvPr id="27670" name="AutoShape 6">
              <a:extLst>
                <a:ext uri="{FF2B5EF4-FFF2-40B4-BE49-F238E27FC236}">
                  <a16:creationId xmlns:a16="http://schemas.microsoft.com/office/drawing/2014/main" id="{AAECC2F3-BA95-4A4B-85BC-E44372CC67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0" y="2380"/>
              <a:ext cx="852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1" name="Text Box 7">
              <a:extLst>
                <a:ext uri="{FF2B5EF4-FFF2-40B4-BE49-F238E27FC236}">
                  <a16:creationId xmlns:a16="http://schemas.microsoft.com/office/drawing/2014/main" id="{72F0D85E-439B-4711-B0AD-7CE205486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9" y="3221"/>
              <a:ext cx="2401" cy="952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hello\0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2" name="Text Box 8">
              <a:extLst>
                <a:ext uri="{FF2B5EF4-FFF2-40B4-BE49-F238E27FC236}">
                  <a16:creationId xmlns:a16="http://schemas.microsoft.com/office/drawing/2014/main" id="{7ECC35AD-810F-4C2A-B8D4-06C80883A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476"/>
              <a:ext cx="1619" cy="9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3" name="Rectangle 9">
              <a:extLst>
                <a:ext uri="{FF2B5EF4-FFF2-40B4-BE49-F238E27FC236}">
                  <a16:creationId xmlns:a16="http://schemas.microsoft.com/office/drawing/2014/main" id="{567A7A6C-8D81-4A2C-92AF-E5C07868F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060"/>
              <a:ext cx="1920" cy="840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4" name="Line 10">
              <a:extLst>
                <a:ext uri="{FF2B5EF4-FFF2-40B4-BE49-F238E27FC236}">
                  <a16:creationId xmlns:a16="http://schemas.microsoft.com/office/drawing/2014/main" id="{1DAEAA5F-09FC-4C58-918F-2619C073C9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3700"/>
              <a:ext cx="4200" cy="84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5" name="Line 11">
              <a:extLst>
                <a:ext uri="{FF2B5EF4-FFF2-40B4-BE49-F238E27FC236}">
                  <a16:creationId xmlns:a16="http://schemas.microsoft.com/office/drawing/2014/main" id="{B23B11AB-C688-4999-A24C-E8B83270E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2740"/>
              <a:ext cx="4200" cy="72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6" name="Text Box 12">
              <a:extLst>
                <a:ext uri="{FF2B5EF4-FFF2-40B4-BE49-F238E27FC236}">
                  <a16:creationId xmlns:a16="http://schemas.microsoft.com/office/drawing/2014/main" id="{F2D6D4F3-3EF4-45A3-84BA-909B62306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4153"/>
              <a:ext cx="2161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7" name="Rectangle 13">
              <a:extLst>
                <a:ext uri="{FF2B5EF4-FFF2-40B4-BE49-F238E27FC236}">
                  <a16:creationId xmlns:a16="http://schemas.microsoft.com/office/drawing/2014/main" id="{F1518438-F2B8-4A66-9CFF-6DB027534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380"/>
              <a:ext cx="1920" cy="84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8" name="WordArt 14">
              <a:extLst>
                <a:ext uri="{FF2B5EF4-FFF2-40B4-BE49-F238E27FC236}">
                  <a16:creationId xmlns:a16="http://schemas.microsoft.com/office/drawing/2014/main" id="{469488AA-E9B0-4BCE-A78B-B6DCBC99EDD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50" y="3010"/>
              <a:ext cx="300" cy="4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s</a:t>
              </a:r>
            </a:p>
          </p:txBody>
        </p:sp>
        <p:sp>
          <p:nvSpPr>
            <p:cNvPr id="27679" name="WordArt 15">
              <a:extLst>
                <a:ext uri="{FF2B5EF4-FFF2-40B4-BE49-F238E27FC236}">
                  <a16:creationId xmlns:a16="http://schemas.microsoft.com/office/drawing/2014/main" id="{9D436283-D17C-49D4-8849-26A19F06EC6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90" y="4000"/>
              <a:ext cx="360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t</a:t>
              </a:r>
            </a:p>
          </p:txBody>
        </p:sp>
      </p:grpSp>
      <p:sp>
        <p:nvSpPr>
          <p:cNvPr id="27656" name="Rectangle 17">
            <a:extLst>
              <a:ext uri="{FF2B5EF4-FFF2-40B4-BE49-F238E27FC236}">
                <a16:creationId xmlns:a16="http://schemas.microsoft.com/office/drawing/2014/main" id="{98C29F73-A6E3-47A7-8448-CBEA38F7A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838200"/>
            <a:ext cx="208121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600" b="1" u="sng">
                <a:solidFill>
                  <a:srgbClr val="0000FF"/>
                </a:solidFill>
              </a:rPr>
              <a:t>Shallow Copy</a:t>
            </a:r>
            <a:r>
              <a:rPr lang="en-US" altLang="en-US" sz="1600" b="1">
                <a:solidFill>
                  <a:srgbClr val="0000FF"/>
                </a:solidFill>
              </a:rPr>
              <a:t>  </a:t>
            </a:r>
          </a:p>
          <a:p>
            <a:pPr algn="just" eaLnBrk="1" hangingPunct="1"/>
            <a:r>
              <a:rPr lang="en-US" altLang="en-US" sz="1600" b="1">
                <a:solidFill>
                  <a:srgbClr val="0000FF"/>
                </a:solidFill>
              </a:rPr>
              <a:t>copies the address </a:t>
            </a:r>
          </a:p>
          <a:p>
            <a:pPr algn="just" eaLnBrk="1" hangingPunct="1"/>
            <a:r>
              <a:rPr lang="en-US" altLang="en-US" sz="1600" b="1">
                <a:solidFill>
                  <a:srgbClr val="0000FF"/>
                </a:solidFill>
              </a:rPr>
              <a:t>of s.data to t .data</a:t>
            </a:r>
          </a:p>
        </p:txBody>
      </p:sp>
      <p:sp>
        <p:nvSpPr>
          <p:cNvPr id="27657" name="Line 18">
            <a:extLst>
              <a:ext uri="{FF2B5EF4-FFF2-40B4-BE49-F238E27FC236}">
                <a16:creationId xmlns:a16="http://schemas.microsoft.com/office/drawing/2014/main" id="{018E66CE-C06E-40E3-A8B5-87B7588EAF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1300" y="1676400"/>
            <a:ext cx="16129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658" name="Rectangle 19">
            <a:extLst>
              <a:ext uri="{FF2B5EF4-FFF2-40B4-BE49-F238E27FC236}">
                <a16:creationId xmlns:a16="http://schemas.microsoft.com/office/drawing/2014/main" id="{67E5637F-63FD-40E0-92CC-FED8A99B3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00200"/>
            <a:ext cx="3276600" cy="464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#include&lt;string.h&gt;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class String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{   char* data;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public: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String(const char* s = "")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{   data = new char[20];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    strcpy(data,s);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~String( 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{	   delete [ ] data;	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void assign(char *str)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{	   strcpy(data,str); 	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void display()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    {    cout &lt;&lt; data;         	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굴림" panose="020B0600000101010101" pitchFamily="34" charset="-127"/>
              </a:rPr>
              <a:t>};</a:t>
            </a:r>
          </a:p>
        </p:txBody>
      </p:sp>
      <p:grpSp>
        <p:nvGrpSpPr>
          <p:cNvPr id="27659" name="Group 20">
            <a:extLst>
              <a:ext uri="{FF2B5EF4-FFF2-40B4-BE49-F238E27FC236}">
                <a16:creationId xmlns:a16="http://schemas.microsoft.com/office/drawing/2014/main" id="{609AF3F6-C974-445C-B149-04E3D19D85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95800" y="5334000"/>
            <a:ext cx="4343400" cy="1219200"/>
            <a:chOff x="1810" y="2380"/>
            <a:chExt cx="8520" cy="3060"/>
          </a:xfrm>
        </p:grpSpPr>
        <p:sp>
          <p:nvSpPr>
            <p:cNvPr id="27660" name="AutoShape 21">
              <a:extLst>
                <a:ext uri="{FF2B5EF4-FFF2-40B4-BE49-F238E27FC236}">
                  <a16:creationId xmlns:a16="http://schemas.microsoft.com/office/drawing/2014/main" id="{EEFAEAAC-F689-4490-AF06-A6226D5FED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0" y="2380"/>
              <a:ext cx="852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1" name="Text Box 22">
              <a:extLst>
                <a:ext uri="{FF2B5EF4-FFF2-40B4-BE49-F238E27FC236}">
                  <a16:creationId xmlns:a16="http://schemas.microsoft.com/office/drawing/2014/main" id="{87C21976-C531-4203-A036-BF1E280A3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9" y="3221"/>
              <a:ext cx="2401" cy="952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world\0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62" name="Text Box 23">
              <a:extLst>
                <a:ext uri="{FF2B5EF4-FFF2-40B4-BE49-F238E27FC236}">
                  <a16:creationId xmlns:a16="http://schemas.microsoft.com/office/drawing/2014/main" id="{0B0F72F2-2AA3-4888-AA55-C29FF3F34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476"/>
              <a:ext cx="1619" cy="9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63" name="Rectangle 24">
              <a:extLst>
                <a:ext uri="{FF2B5EF4-FFF2-40B4-BE49-F238E27FC236}">
                  <a16:creationId xmlns:a16="http://schemas.microsoft.com/office/drawing/2014/main" id="{D635F2B4-2CF1-4442-83C2-CAD109B28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060"/>
              <a:ext cx="1920" cy="840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4" name="Line 25">
              <a:extLst>
                <a:ext uri="{FF2B5EF4-FFF2-40B4-BE49-F238E27FC236}">
                  <a16:creationId xmlns:a16="http://schemas.microsoft.com/office/drawing/2014/main" id="{F1C09B27-F221-477B-84DE-2CC0A18D5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3700"/>
              <a:ext cx="4200" cy="84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Line 26">
              <a:extLst>
                <a:ext uri="{FF2B5EF4-FFF2-40B4-BE49-F238E27FC236}">
                  <a16:creationId xmlns:a16="http://schemas.microsoft.com/office/drawing/2014/main" id="{164DEE81-366D-473F-8A27-70B5C2E8E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2740"/>
              <a:ext cx="4200" cy="72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Text Box 27">
              <a:extLst>
                <a:ext uri="{FF2B5EF4-FFF2-40B4-BE49-F238E27FC236}">
                  <a16:creationId xmlns:a16="http://schemas.microsoft.com/office/drawing/2014/main" id="{357A36B0-20FA-4A6C-BE68-65DB5BF0E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4153"/>
              <a:ext cx="2161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67" name="Rectangle 28">
              <a:extLst>
                <a:ext uri="{FF2B5EF4-FFF2-40B4-BE49-F238E27FC236}">
                  <a16:creationId xmlns:a16="http://schemas.microsoft.com/office/drawing/2014/main" id="{92F674C2-E578-41B6-9A08-267B68B18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380"/>
              <a:ext cx="1920" cy="84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8" name="WordArt 29">
              <a:extLst>
                <a:ext uri="{FF2B5EF4-FFF2-40B4-BE49-F238E27FC236}">
                  <a16:creationId xmlns:a16="http://schemas.microsoft.com/office/drawing/2014/main" id="{D574DB0D-50E6-44FC-9C85-312A5FCC5C9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50" y="3010"/>
              <a:ext cx="300" cy="4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s</a:t>
              </a:r>
            </a:p>
          </p:txBody>
        </p:sp>
        <p:sp>
          <p:nvSpPr>
            <p:cNvPr id="27669" name="WordArt 30">
              <a:extLst>
                <a:ext uri="{FF2B5EF4-FFF2-40B4-BE49-F238E27FC236}">
                  <a16:creationId xmlns:a16="http://schemas.microsoft.com/office/drawing/2014/main" id="{D80EFD09-5160-4F81-A5B6-522C3D807BB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90" y="4000"/>
              <a:ext cx="360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EA0869BD-8133-4D21-9FA3-47B5D725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>
                <a:cs typeface="Times New Roman" panose="02020603050405020304" pitchFamily="18" charset="0"/>
              </a:rPr>
              <a:t>Copy Constructor – Deep Copy</a:t>
            </a:r>
            <a:endParaRPr lang="en-IN" altLang="en-US" sz="4400"/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6C292E17-E1F4-4773-99C7-540B0BFEFF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6CBE2-CF41-47EA-B36A-FDD31180F006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2F5A926A-1989-4DE1-8BBB-58C3B4B56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/>
              <a:t>String(const String&amp; s)</a:t>
            </a:r>
          </a:p>
          <a:p>
            <a:r>
              <a:rPr lang="en-US" altLang="en-US" sz="1600" b="1"/>
              <a:t>{</a:t>
            </a:r>
          </a:p>
          <a:p>
            <a:r>
              <a:rPr lang="en-US" altLang="en-US" sz="1600" b="1"/>
              <a:t>    data = new char[strlen(s.data)+1];</a:t>
            </a:r>
          </a:p>
          <a:p>
            <a:r>
              <a:rPr lang="en-US" altLang="en-US" sz="1600" b="1"/>
              <a:t>    strcpy(data, s.data);</a:t>
            </a:r>
          </a:p>
          <a:p>
            <a:r>
              <a:rPr lang="en-US" altLang="en-US" sz="1600" b="1"/>
              <a:t>}</a:t>
            </a:r>
          </a:p>
        </p:txBody>
      </p:sp>
      <p:grpSp>
        <p:nvGrpSpPr>
          <p:cNvPr id="28677" name="Group 3">
            <a:extLst>
              <a:ext uri="{FF2B5EF4-FFF2-40B4-BE49-F238E27FC236}">
                <a16:creationId xmlns:a16="http://schemas.microsoft.com/office/drawing/2014/main" id="{697D70DC-48D5-4B31-996D-A9B2BBBD84A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400" y="3733800"/>
            <a:ext cx="6858000" cy="2463800"/>
            <a:chOff x="1810" y="2380"/>
            <a:chExt cx="8520" cy="3060"/>
          </a:xfrm>
        </p:grpSpPr>
        <p:sp>
          <p:nvSpPr>
            <p:cNvPr id="28680" name="AutoShape 4">
              <a:extLst>
                <a:ext uri="{FF2B5EF4-FFF2-40B4-BE49-F238E27FC236}">
                  <a16:creationId xmlns:a16="http://schemas.microsoft.com/office/drawing/2014/main" id="{21CEB0D5-E825-4573-A362-2B752177FB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0" y="2380"/>
              <a:ext cx="852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1" name="Text Box 5">
              <a:extLst>
                <a:ext uri="{FF2B5EF4-FFF2-40B4-BE49-F238E27FC236}">
                  <a16:creationId xmlns:a16="http://schemas.microsoft.com/office/drawing/2014/main" id="{69995E07-C49E-41CC-9C1B-3A279E85C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0" y="3460"/>
              <a:ext cx="14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1600" b="1">
                  <a:latin typeface="Times New Roman" panose="02020603050405020304" pitchFamily="18" charset="0"/>
                  <a:ea typeface="Batang" panose="02030600000101010101" pitchFamily="18" charset="-127"/>
                </a:rPr>
                <a:t>Deep copy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28682" name="Text Box 6">
              <a:extLst>
                <a:ext uri="{FF2B5EF4-FFF2-40B4-BE49-F238E27FC236}">
                  <a16:creationId xmlns:a16="http://schemas.microsoft.com/office/drawing/2014/main" id="{16E2C369-1E3A-495B-875E-F7A537791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2" y="2500"/>
              <a:ext cx="2398" cy="584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4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hello\0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683" name="Text Box 7">
              <a:extLst>
                <a:ext uri="{FF2B5EF4-FFF2-40B4-BE49-F238E27FC236}">
                  <a16:creationId xmlns:a16="http://schemas.microsoft.com/office/drawing/2014/main" id="{6BDEFF7F-79F0-42CA-A42B-4975A645C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475"/>
              <a:ext cx="1621" cy="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684" name="Rectangle 8">
              <a:extLst>
                <a:ext uri="{FF2B5EF4-FFF2-40B4-BE49-F238E27FC236}">
                  <a16:creationId xmlns:a16="http://schemas.microsoft.com/office/drawing/2014/main" id="{E3325713-D719-472D-964E-C87153DC9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060"/>
              <a:ext cx="1920" cy="840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5" name="Line 9">
              <a:extLst>
                <a:ext uri="{FF2B5EF4-FFF2-40B4-BE49-F238E27FC236}">
                  <a16:creationId xmlns:a16="http://schemas.microsoft.com/office/drawing/2014/main" id="{894B4A94-9DC5-4629-AB3B-2A3679D11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4720"/>
              <a:ext cx="4020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Text Box 10">
              <a:extLst>
                <a:ext uri="{FF2B5EF4-FFF2-40B4-BE49-F238E27FC236}">
                  <a16:creationId xmlns:a16="http://schemas.microsoft.com/office/drawing/2014/main" id="{B6203F8A-C190-49F7-96D2-948240DAF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4154"/>
              <a:ext cx="2160" cy="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687" name="Rectangle 11">
              <a:extLst>
                <a:ext uri="{FF2B5EF4-FFF2-40B4-BE49-F238E27FC236}">
                  <a16:creationId xmlns:a16="http://schemas.microsoft.com/office/drawing/2014/main" id="{12CCF0A6-5ADD-46EA-8E09-E15135C7D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380"/>
              <a:ext cx="1920" cy="84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8" name="WordArt 12">
              <a:extLst>
                <a:ext uri="{FF2B5EF4-FFF2-40B4-BE49-F238E27FC236}">
                  <a16:creationId xmlns:a16="http://schemas.microsoft.com/office/drawing/2014/main" id="{87BACB41-2809-450B-8861-D1F6FCE2DBC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50" y="3010"/>
              <a:ext cx="300" cy="4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s</a:t>
              </a:r>
            </a:p>
          </p:txBody>
        </p:sp>
        <p:sp>
          <p:nvSpPr>
            <p:cNvPr id="28689" name="WordArt 13">
              <a:extLst>
                <a:ext uri="{FF2B5EF4-FFF2-40B4-BE49-F238E27FC236}">
                  <a16:creationId xmlns:a16="http://schemas.microsoft.com/office/drawing/2014/main" id="{2B03F989-E4A2-427D-9099-92DC4742FDC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90" y="4000"/>
              <a:ext cx="360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t</a:t>
              </a:r>
            </a:p>
          </p:txBody>
        </p:sp>
        <p:sp>
          <p:nvSpPr>
            <p:cNvPr id="28690" name="Text Box 14">
              <a:extLst>
                <a:ext uri="{FF2B5EF4-FFF2-40B4-BE49-F238E27FC236}">
                  <a16:creationId xmlns:a16="http://schemas.microsoft.com/office/drawing/2014/main" id="{D36A3EEE-D103-459D-83FA-0D38BC751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2" y="4403"/>
              <a:ext cx="2398" cy="584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4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hello\0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691" name="Line 15">
              <a:extLst>
                <a:ext uri="{FF2B5EF4-FFF2-40B4-BE49-F238E27FC236}">
                  <a16:creationId xmlns:a16="http://schemas.microsoft.com/office/drawing/2014/main" id="{9C24443F-BE89-4B75-8A1B-D9702CFDC0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0" y="2815"/>
              <a:ext cx="4020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AutoShape 16">
              <a:extLst>
                <a:ext uri="{FF2B5EF4-FFF2-40B4-BE49-F238E27FC236}">
                  <a16:creationId xmlns:a16="http://schemas.microsoft.com/office/drawing/2014/main" id="{65A99D1E-4ADC-4C8C-BEEE-5D842D661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0" y="3100"/>
              <a:ext cx="720" cy="1440"/>
            </a:xfrm>
            <a:prstGeom prst="curvedRight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rgbClr val="33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8678" name="Line 17">
            <a:extLst>
              <a:ext uri="{FF2B5EF4-FFF2-40B4-BE49-F238E27FC236}">
                <a16:creationId xmlns:a16="http://schemas.microsoft.com/office/drawing/2014/main" id="{8EA0FCC7-E670-4EB0-A935-B4B8AAA55A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4200" y="2362200"/>
            <a:ext cx="2281238" cy="473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8679" name="Rectangle 19">
            <a:extLst>
              <a:ext uri="{FF2B5EF4-FFF2-40B4-BE49-F238E27FC236}">
                <a16:creationId xmlns:a16="http://schemas.microsoft.com/office/drawing/2014/main" id="{ED53686A-2692-4281-8A09-B7862A029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700" y="2632075"/>
            <a:ext cx="2667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600" b="1">
                <a:solidFill>
                  <a:srgbClr val="C00000"/>
                </a:solidFill>
              </a:rPr>
              <a:t>Deep Copy copies the  value of the object s to t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1B18C788-4A8E-4AC3-BE8D-575ED15B3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Constructor with initialization list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4ECB3-EB4A-4121-ACB3-496585D26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defRPr/>
            </a:pPr>
            <a:r>
              <a:rPr lang="en-US" sz="2000" dirty="0"/>
              <a:t>Initialization of data members can also be done using initialization list.</a:t>
            </a:r>
          </a:p>
          <a:p>
            <a:pPr algn="just">
              <a:lnSpc>
                <a:spcPct val="9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Syntax</a:t>
            </a:r>
            <a:r>
              <a:rPr lang="en-US" sz="2000" dirty="0"/>
              <a:t>:  </a:t>
            </a:r>
            <a:r>
              <a:rPr lang="en-US" sz="2000" dirty="0" err="1">
                <a:solidFill>
                  <a:srgbClr val="C00000"/>
                </a:solidFill>
              </a:rPr>
              <a:t>class_name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dirty="0" err="1">
                <a:solidFill>
                  <a:srgbClr val="C00000"/>
                </a:solidFill>
              </a:rPr>
              <a:t>arg_list</a:t>
            </a:r>
            <a:r>
              <a:rPr lang="en-US" sz="2000" dirty="0">
                <a:solidFill>
                  <a:srgbClr val="C00000"/>
                </a:solidFill>
              </a:rPr>
              <a:t>) : </a:t>
            </a:r>
            <a:r>
              <a:rPr lang="en-US" sz="2000" dirty="0" err="1">
                <a:solidFill>
                  <a:srgbClr val="C00000"/>
                </a:solidFill>
              </a:rPr>
              <a:t>InitializationSection</a:t>
            </a:r>
            <a:endParaRPr lang="en-US" sz="2000" dirty="0">
              <a:solidFill>
                <a:srgbClr val="C00000"/>
              </a:solidFill>
            </a:endParaRPr>
          </a:p>
          <a:p>
            <a:pPr marL="0" indent="0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                {	}</a:t>
            </a: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Example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/>
              <a:t>For </a:t>
            </a:r>
            <a:r>
              <a:rPr lang="en-US" sz="2000" dirty="0">
                <a:solidFill>
                  <a:srgbClr val="C00000"/>
                </a:solidFill>
              </a:rPr>
              <a:t>references and </a:t>
            </a:r>
            <a:r>
              <a:rPr lang="en-US" sz="2000" dirty="0" err="1">
                <a:solidFill>
                  <a:srgbClr val="C00000"/>
                </a:solidFill>
              </a:rPr>
              <a:t>const</a:t>
            </a:r>
            <a:r>
              <a:rPr lang="en-US" sz="2000" dirty="0">
                <a:solidFill>
                  <a:srgbClr val="C00000"/>
                </a:solidFill>
              </a:rPr>
              <a:t> data members </a:t>
            </a:r>
            <a:r>
              <a:rPr lang="en-US" sz="2000" dirty="0"/>
              <a:t>constructor with </a:t>
            </a:r>
            <a:r>
              <a:rPr lang="en-US" sz="2000" dirty="0">
                <a:solidFill>
                  <a:srgbClr val="C00000"/>
                </a:solidFill>
              </a:rPr>
              <a:t>initialization list is a must </a:t>
            </a:r>
            <a:r>
              <a:rPr lang="en-US" sz="2000" dirty="0"/>
              <a:t>(no default constructor is provided)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F96EB1F4-4FFE-40DC-9D38-D4864A953C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E76293-F87A-45C5-9D0A-20DCC2FFE615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6BE9350C-BC2C-4049-91DC-D794C7CA4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900" y="3289300"/>
            <a:ext cx="458470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class A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	int a;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	int b;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public: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	</a:t>
            </a:r>
            <a:r>
              <a:rPr lang="en-US" altLang="en-US" b="1">
                <a:solidFill>
                  <a:srgbClr val="C00000"/>
                </a:solidFill>
              </a:rPr>
              <a:t>A(int x):a(x),b(2*x){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	void print( ){  cout&lt;&lt;a&lt;&lt;b;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/>
              <a:t>	};</a:t>
            </a: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276B5099-16D6-4315-AD2B-D1EEC1D4C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354388"/>
            <a:ext cx="266700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900" b="1"/>
              <a:t>main( 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900" b="1"/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900" b="1"/>
              <a:t>	A object1(10);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900" b="1"/>
              <a:t>	object1.print()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900" b="1"/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73D3DB8-B4EE-457B-811D-8DA210BA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1EAEE-B712-4349-AEBB-45D7165B6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A destructor is a member function that is automatically called when an object is destroyed</a:t>
            </a:r>
          </a:p>
          <a:p>
            <a:pPr>
              <a:defRPr/>
            </a:pPr>
            <a:r>
              <a:rPr lang="en-IN" sz="2000" dirty="0"/>
              <a:t>Destructors are member functions with the same name as the class, preceded by a tilde character (~)</a:t>
            </a:r>
          </a:p>
          <a:p>
            <a:pPr lvl="1">
              <a:defRPr/>
            </a:pPr>
            <a:r>
              <a:rPr lang="en-IN" sz="1800" dirty="0"/>
              <a:t>For example, the destructor for the </a:t>
            </a:r>
            <a:r>
              <a:rPr lang="en-IN" sz="1800" b="1" dirty="0"/>
              <a:t>Rectangle class </a:t>
            </a:r>
            <a:r>
              <a:rPr lang="en-IN" sz="1800" dirty="0"/>
              <a:t>would be named </a:t>
            </a:r>
            <a:r>
              <a:rPr lang="en-IN" sz="1800" b="1" dirty="0"/>
              <a:t>~Rectangle </a:t>
            </a:r>
            <a:endParaRPr lang="en-IN" sz="1800" dirty="0"/>
          </a:p>
          <a:p>
            <a:pPr>
              <a:defRPr/>
            </a:pPr>
            <a:r>
              <a:rPr lang="en-IN" sz="2000" dirty="0"/>
              <a:t>Destructors are automatically called when an object is destroyed</a:t>
            </a:r>
          </a:p>
          <a:p>
            <a:pPr>
              <a:defRPr/>
            </a:pPr>
            <a:r>
              <a:rPr lang="en-IN" sz="2000" dirty="0"/>
              <a:t>In the same way that constructors set things up when an object is created, destructors perform shutdown procedures when the object goes out of existence</a:t>
            </a:r>
          </a:p>
          <a:p>
            <a:pPr lvl="1">
              <a:defRPr/>
            </a:pPr>
            <a:r>
              <a:rPr lang="en-IN" sz="1800" dirty="0"/>
              <a:t>For example, a common use of destructors is to free memory that was dynamically allocated by the class object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564EF21E-552B-4F60-BE5F-A1C6A71943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779322-AE87-44D7-B5D3-A94CDA70588E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B3E4F455-E5FC-41EA-8E14-58C5DCF1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Destructors</a:t>
            </a:r>
            <a:endParaRPr lang="en-IN" altLang="en-US" sz="440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666AED16-D212-47CF-A56A-FEC4395AD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EB26BE-2C2F-4237-BA5F-A6797D89134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9ADFDA0C-84FC-4ACD-AAD5-F618A4D31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4625"/>
            <a:ext cx="4976813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3">
            <a:extLst>
              <a:ext uri="{FF2B5EF4-FFF2-40B4-BE49-F238E27FC236}">
                <a16:creationId xmlns:a16="http://schemas.microsoft.com/office/drawing/2014/main" id="{C399BBB0-E83D-4D89-9A0C-F64D328AA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044700"/>
            <a:ext cx="4749800" cy="15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0" name="Picture 4">
            <a:extLst>
              <a:ext uri="{FF2B5EF4-FFF2-40B4-BE49-F238E27FC236}">
                <a16:creationId xmlns:a16="http://schemas.microsoft.com/office/drawing/2014/main" id="{853E5F4B-79E3-456E-9775-E9255F40F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338" y="4038600"/>
            <a:ext cx="3581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E90CAD4A-B059-461C-B784-14760DAF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Destructors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3ABD-6C85-48E6-8E7E-1A2178E8F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9400"/>
            <a:ext cx="83820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In addition to the fact that destructors are automatically called when an object is destroyed, the following points should be mentioned:</a:t>
            </a:r>
          </a:p>
          <a:p>
            <a:pPr lvl="1">
              <a:defRPr/>
            </a:pPr>
            <a:r>
              <a:rPr lang="en-IN" sz="1800" dirty="0"/>
              <a:t>Like constructors, destructors have no return type</a:t>
            </a:r>
          </a:p>
          <a:p>
            <a:pPr lvl="1">
              <a:defRPr/>
            </a:pPr>
            <a:r>
              <a:rPr lang="en-IN" sz="1800" dirty="0"/>
              <a:t>Destructors cannot accept arguments, so they never have a parameter list</a:t>
            </a:r>
          </a:p>
          <a:p>
            <a:pPr>
              <a:defRPr/>
            </a:pPr>
            <a:r>
              <a:rPr lang="en-IN" sz="2000" dirty="0"/>
              <a:t>Because destructors take no arguments, the compiler has no way to distinguish different destructors</a:t>
            </a:r>
          </a:p>
          <a:p>
            <a:pPr>
              <a:defRPr/>
            </a:pPr>
            <a:r>
              <a:rPr lang="en-IN" sz="2000" dirty="0"/>
              <a:t>A destructor takes no arguments and has no return type</a:t>
            </a:r>
          </a:p>
          <a:p>
            <a:pPr>
              <a:defRPr/>
            </a:pPr>
            <a:r>
              <a:rPr lang="en-IN" sz="2000" dirty="0"/>
              <a:t>Its address cannot be taken</a:t>
            </a:r>
          </a:p>
          <a:p>
            <a:pPr>
              <a:defRPr/>
            </a:pPr>
            <a:r>
              <a:rPr lang="en-IN" sz="2000" dirty="0"/>
              <a:t>Destructors cannot be declared </a:t>
            </a:r>
            <a:r>
              <a:rPr lang="en-IN" sz="2000" dirty="0" err="1"/>
              <a:t>const</a:t>
            </a:r>
            <a:r>
              <a:rPr lang="en-IN" sz="2000" dirty="0"/>
              <a:t>, volatile, </a:t>
            </a:r>
            <a:r>
              <a:rPr lang="en-IN" sz="2000" dirty="0" err="1"/>
              <a:t>const</a:t>
            </a:r>
            <a:r>
              <a:rPr lang="en-IN" sz="2000" dirty="0"/>
              <a:t> </a:t>
            </a:r>
            <a:r>
              <a:rPr lang="en-IN" sz="2000" dirty="0" err="1"/>
              <a:t>olatile</a:t>
            </a:r>
            <a:r>
              <a:rPr lang="en-IN" sz="2000" dirty="0"/>
              <a:t> or static. A destructor can be declared virtual</a:t>
            </a:r>
          </a:p>
          <a:p>
            <a:pPr>
              <a:defRPr/>
            </a:pPr>
            <a:endParaRPr lang="en-IN" sz="1200" dirty="0"/>
          </a:p>
          <a:p>
            <a:pPr>
              <a:defRPr/>
            </a:pPr>
            <a:r>
              <a:rPr lang="en-IN" sz="2000" dirty="0"/>
              <a:t>If no user-defined destructor exists for a class and one is needed, the compiler implicitly declares a destructor. This implicitly declared destructor is an inline public member of its class</a:t>
            </a: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4AAEB3A1-3FFF-4913-AA77-2CD87DC0C4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1C81B4-6411-4CC8-9805-793F4515304D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16CA9474-2192-4C49-8B9F-E676FC02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Destructors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249E7-6352-41F9-BAA5-F3CE8A78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Destructors are called when one of the following events occurs:</a:t>
            </a:r>
          </a:p>
          <a:p>
            <a:pPr lvl="1">
              <a:defRPr/>
            </a:pPr>
            <a:r>
              <a:rPr lang="en-IN" sz="1800" dirty="0"/>
              <a:t>A local (automatic) object with block scope goes out of scope</a:t>
            </a:r>
          </a:p>
          <a:p>
            <a:pPr lvl="1">
              <a:defRPr/>
            </a:pPr>
            <a:r>
              <a:rPr lang="en-IN" sz="1800" dirty="0"/>
              <a:t>An object allocated using the </a:t>
            </a:r>
            <a:r>
              <a:rPr lang="en-IN" sz="1800" b="1" dirty="0"/>
              <a:t>new</a:t>
            </a:r>
            <a:r>
              <a:rPr lang="en-IN" sz="1800" dirty="0"/>
              <a:t> operator is explicitly deallocated using </a:t>
            </a:r>
            <a:r>
              <a:rPr lang="en-IN" sz="1800" b="1" dirty="0"/>
              <a:t>delete</a:t>
            </a:r>
            <a:endParaRPr lang="en-IN" sz="1800" dirty="0"/>
          </a:p>
          <a:p>
            <a:pPr lvl="1">
              <a:defRPr/>
            </a:pPr>
            <a:r>
              <a:rPr lang="en-IN" sz="1800" dirty="0"/>
              <a:t>The lifetime of a temporary object ends</a:t>
            </a:r>
          </a:p>
          <a:p>
            <a:pPr lvl="1">
              <a:defRPr/>
            </a:pPr>
            <a:r>
              <a:rPr lang="en-IN" sz="1800" dirty="0"/>
              <a:t>A program ends and global or static objects exist</a:t>
            </a:r>
          </a:p>
          <a:p>
            <a:pPr lvl="1">
              <a:defRPr/>
            </a:pPr>
            <a:endParaRPr lang="en-IN" sz="1800" dirty="0"/>
          </a:p>
          <a:p>
            <a:pPr>
              <a:defRPr/>
            </a:pPr>
            <a:r>
              <a:rPr lang="en-IN" sz="2000" dirty="0"/>
              <a:t>There are two restrictions on the use of destructors</a:t>
            </a:r>
          </a:p>
          <a:p>
            <a:pPr lvl="1">
              <a:defRPr/>
            </a:pPr>
            <a:r>
              <a:rPr lang="en-IN" sz="1800" dirty="0"/>
              <a:t>You cannot take its address</a:t>
            </a:r>
          </a:p>
          <a:p>
            <a:pPr lvl="1">
              <a:defRPr/>
            </a:pPr>
            <a:r>
              <a:rPr lang="en-IN" sz="1800" dirty="0"/>
              <a:t>Derived classes do not inherit the destructor of their base class</a:t>
            </a:r>
          </a:p>
          <a:p>
            <a:pPr lvl="1">
              <a:defRPr/>
            </a:pPr>
            <a:endParaRPr lang="en-IN" sz="1800" dirty="0"/>
          </a:p>
          <a:p>
            <a:pPr>
              <a:defRPr/>
            </a:pPr>
            <a:r>
              <a:rPr lang="en-IN" sz="2000" dirty="0"/>
              <a:t>Destructors for </a:t>
            </a:r>
            <a:r>
              <a:rPr lang="en-IN" sz="2000" dirty="0" err="1">
                <a:solidFill>
                  <a:srgbClr val="A50021"/>
                </a:solidFill>
              </a:rPr>
              <a:t>nonstatic</a:t>
            </a:r>
            <a:r>
              <a:rPr lang="en-IN" sz="2000" dirty="0">
                <a:solidFill>
                  <a:srgbClr val="A50021"/>
                </a:solidFill>
              </a:rPr>
              <a:t> member objects </a:t>
            </a:r>
            <a:r>
              <a:rPr lang="en-IN" sz="2000" dirty="0"/>
              <a:t>are called in the </a:t>
            </a:r>
            <a:r>
              <a:rPr lang="en-IN" sz="2000" dirty="0">
                <a:solidFill>
                  <a:srgbClr val="A50021"/>
                </a:solidFill>
              </a:rPr>
              <a:t>reverse order in which they appear in the class declaration</a:t>
            </a:r>
            <a:endParaRPr lang="en-IN" sz="2200" dirty="0">
              <a:solidFill>
                <a:srgbClr val="A50021"/>
              </a:solidFill>
            </a:endParaRPr>
          </a:p>
          <a:p>
            <a:pPr>
              <a:defRPr/>
            </a:pPr>
            <a:endParaRPr lang="en-IN" sz="1800" dirty="0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8CE4C237-EC47-4BB6-8CC1-C833870336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ED284C-7B07-4302-8257-79D435844FB9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6C8B806E-5DF6-40B4-89B1-E9B95461D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Pointers to Class members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E057A-9D7D-4B4D-8727-EB250663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>
                <a:solidFill>
                  <a:srgbClr val="A50021"/>
                </a:solidFill>
              </a:rPr>
              <a:t>Defining a Pointer of Class type</a:t>
            </a:r>
          </a:p>
          <a:p>
            <a:pPr>
              <a:defRPr/>
            </a:pPr>
            <a:r>
              <a:rPr lang="en-IN" sz="2000" dirty="0"/>
              <a:t>We can define pointer of class type. It can be used to point to class objects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Class_name</a:t>
            </a:r>
            <a:r>
              <a:rPr lang="en-IN" sz="2000" dirty="0"/>
              <a:t>* </a:t>
            </a:r>
            <a:r>
              <a:rPr lang="en-IN" sz="2000" dirty="0" err="1"/>
              <a:t>ptr</a:t>
            </a:r>
            <a:r>
              <a:rPr lang="en-IN" sz="2000" dirty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ptr</a:t>
            </a:r>
            <a:r>
              <a:rPr lang="en-IN" sz="2000" dirty="0"/>
              <a:t>= &amp;</a:t>
            </a:r>
            <a:r>
              <a:rPr lang="en-IN" sz="2000" dirty="0" err="1"/>
              <a:t>obj</a:t>
            </a:r>
            <a:r>
              <a:rPr lang="en-IN" sz="2000" dirty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 (or)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Class_name</a:t>
            </a:r>
            <a:r>
              <a:rPr lang="en-IN" sz="2000" dirty="0"/>
              <a:t>* </a:t>
            </a:r>
            <a:r>
              <a:rPr lang="en-IN" sz="2000" dirty="0" err="1"/>
              <a:t>ptr</a:t>
            </a:r>
            <a:r>
              <a:rPr lang="en-IN" sz="2000" dirty="0"/>
              <a:t>= new </a:t>
            </a:r>
            <a:r>
              <a:rPr lang="en-IN" sz="2000" dirty="0" err="1"/>
              <a:t>Class_name</a:t>
            </a:r>
            <a:r>
              <a:rPr lang="en-IN" sz="2000" dirty="0"/>
              <a:t>();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Access the members with ‘</a:t>
            </a:r>
            <a:r>
              <a:rPr lang="en-IN" sz="2000" dirty="0">
                <a:sym typeface="Symbol"/>
              </a:rPr>
              <a:t></a:t>
            </a:r>
            <a:r>
              <a:rPr lang="en-IN" sz="2000" dirty="0"/>
              <a:t>’ operator 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0E7DD0B5-4C1F-4ECD-B685-BDB76B48C2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BDDB32-7F03-4A15-9570-0B2CD454A307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E78F03D7-14DD-4AB3-8BF6-431BE446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Pointers to Class members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9858-3B31-41E7-9C7A-FD475561C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Defining a Pointer of Class type 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21F956FE-617F-4E51-846F-8DC79EDF15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841B56-6A9A-4A13-B3E6-797FE8943DAF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5845" name="Picture 2">
            <a:extLst>
              <a:ext uri="{FF2B5EF4-FFF2-40B4-BE49-F238E27FC236}">
                <a16:creationId xmlns:a16="http://schemas.microsoft.com/office/drawing/2014/main" id="{BD2C9C35-397A-4BF7-BF74-4064B4AFB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86200"/>
            <a:ext cx="56578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6" name="Picture 3">
            <a:extLst>
              <a:ext uri="{FF2B5EF4-FFF2-40B4-BE49-F238E27FC236}">
                <a16:creationId xmlns:a16="http://schemas.microsoft.com/office/drawing/2014/main" id="{C85E4819-B606-4CD8-B542-C3DA24336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14859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6B4354C0-B6CB-4089-B604-E682D62D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Pointers to Class members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2BC-FD29-42BE-AD1A-A6685388F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Pointer to Data Members of Class</a:t>
            </a:r>
          </a:p>
          <a:p>
            <a:pPr>
              <a:defRPr/>
            </a:pPr>
            <a:r>
              <a:rPr lang="en-IN" sz="2000" dirty="0"/>
              <a:t>We can use pointer to point to class's data members (Member variables)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3A43A12E-358F-4BBF-8312-6C99DF81E0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9D800C-11F8-4B3C-88CA-785BD6219E32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6869" name="Picture 2">
            <a:extLst>
              <a:ext uri="{FF2B5EF4-FFF2-40B4-BE49-F238E27FC236}">
                <a16:creationId xmlns:a16="http://schemas.microsoft.com/office/drawing/2014/main" id="{09276EA8-9F04-4055-82D7-37964CD6B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16238"/>
            <a:ext cx="81153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0" name="Picture 3">
            <a:extLst>
              <a:ext uri="{FF2B5EF4-FFF2-40B4-BE49-F238E27FC236}">
                <a16:creationId xmlns:a16="http://schemas.microsoft.com/office/drawing/2014/main" id="{82EDE250-AF11-4B9B-9583-33D2B521A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4117975"/>
            <a:ext cx="3500437" cy="197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1" name="Picture 4">
            <a:extLst>
              <a:ext uri="{FF2B5EF4-FFF2-40B4-BE49-F238E27FC236}">
                <a16:creationId xmlns:a16="http://schemas.microsoft.com/office/drawing/2014/main" id="{4A984EE8-77DA-4A99-9629-C54929BCA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927475"/>
            <a:ext cx="53340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2EFD10E1-BCF0-4009-A422-0C9BA769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Pointers to Class members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E071-FD4F-4D01-8BD2-AE0B99F07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Pointer to Data Members of Class 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C2C7C6C0-C0A7-4E87-AAF0-27655F517E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909849-0D8A-4B2D-B1EA-3EDB5853506F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7893" name="Picture 2">
            <a:extLst>
              <a:ext uri="{FF2B5EF4-FFF2-40B4-BE49-F238E27FC236}">
                <a16:creationId xmlns:a16="http://schemas.microsoft.com/office/drawing/2014/main" id="{EA7925EA-C3BD-4D6F-A79C-5F2083370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8400"/>
            <a:ext cx="509587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51B79EA4-04E4-4503-9571-9B012375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Pointers to Class members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90569-7E86-4B65-B907-55120208A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Pointer to Function Members of Class 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FBD6FA4D-F842-44BD-9B46-C75E65E31B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01A77C-A7CF-447F-AA78-697E06A4E2BF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8917" name="Picture 2">
            <a:extLst>
              <a:ext uri="{FF2B5EF4-FFF2-40B4-BE49-F238E27FC236}">
                <a16:creationId xmlns:a16="http://schemas.microsoft.com/office/drawing/2014/main" id="{44474090-79A2-41E6-AC85-F75D1144A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14600"/>
            <a:ext cx="8077200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8" name="Picture 3">
            <a:extLst>
              <a:ext uri="{FF2B5EF4-FFF2-40B4-BE49-F238E27FC236}">
                <a16:creationId xmlns:a16="http://schemas.microsoft.com/office/drawing/2014/main" id="{21577B3D-F926-4263-8C54-FDA4654F1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2800"/>
            <a:ext cx="44005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E6CBA063-CE3A-42EC-B7AF-23E9490F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Pointers to Class members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71AA8-6A3C-4E05-A54D-52DF94B47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Using Pointers with Objects 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5B8AD99A-4436-4160-9388-D1E4BB5BEC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9B8D80-179D-4288-9963-C99AB687E563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9941" name="Picture 2">
            <a:extLst>
              <a:ext uri="{FF2B5EF4-FFF2-40B4-BE49-F238E27FC236}">
                <a16:creationId xmlns:a16="http://schemas.microsoft.com/office/drawing/2014/main" id="{95192D55-6AA5-4602-955A-F8A132F65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14600"/>
            <a:ext cx="401002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42" name="Picture 3">
            <a:extLst>
              <a:ext uri="{FF2B5EF4-FFF2-40B4-BE49-F238E27FC236}">
                <a16:creationId xmlns:a16="http://schemas.microsoft.com/office/drawing/2014/main" id="{94EE566E-CA11-4C9E-9A3D-5185F7F25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429000"/>
            <a:ext cx="4800600" cy="332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18803</TotalTime>
  <Words>2222</Words>
  <Application>Microsoft Office PowerPoint</Application>
  <PresentationFormat>On-screen Show (4:3)</PresentationFormat>
  <Paragraphs>340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Garamond</vt:lpstr>
      <vt:lpstr>Wingdings</vt:lpstr>
      <vt:lpstr>Calibri</vt:lpstr>
      <vt:lpstr>Times New Roman</vt:lpstr>
      <vt:lpstr>굴림</vt:lpstr>
      <vt:lpstr>Batang</vt:lpstr>
      <vt:lpstr>Courier New</vt:lpstr>
      <vt:lpstr>Symbol</vt:lpstr>
      <vt:lpstr>Edge</vt:lpstr>
      <vt:lpstr>20XD24 - OBJECT ORIENTED PROGRAMMING          </vt:lpstr>
      <vt:lpstr>Outline</vt:lpstr>
      <vt:lpstr>Constructors</vt:lpstr>
      <vt:lpstr>Constructors</vt:lpstr>
      <vt:lpstr>Defining a Constructor</vt:lpstr>
      <vt:lpstr>Defining a Constructor</vt:lpstr>
      <vt:lpstr>Types of Constructors</vt:lpstr>
      <vt:lpstr>Default Constructor</vt:lpstr>
      <vt:lpstr>Constructors</vt:lpstr>
      <vt:lpstr>Parameterized Constructor</vt:lpstr>
      <vt:lpstr>Overloaded Constructors</vt:lpstr>
      <vt:lpstr>Constructors with Default Arguments</vt:lpstr>
      <vt:lpstr>Dynamic Constructor</vt:lpstr>
      <vt:lpstr>Copy Constructor</vt:lpstr>
      <vt:lpstr>Copy Constructor</vt:lpstr>
      <vt:lpstr>Copy Constructor – Shallow Copy</vt:lpstr>
      <vt:lpstr>Copy Constructor – Deep Copy</vt:lpstr>
      <vt:lpstr>Constructor with initialization list</vt:lpstr>
      <vt:lpstr>Destructors</vt:lpstr>
      <vt:lpstr>Destructors</vt:lpstr>
      <vt:lpstr>Destructors</vt:lpstr>
      <vt:lpstr>Destructors</vt:lpstr>
      <vt:lpstr>Pointers to Class members and Objects</vt:lpstr>
      <vt:lpstr>Pointers to Class members and Objects</vt:lpstr>
      <vt:lpstr>Pointers to Class members and Objects</vt:lpstr>
      <vt:lpstr>Pointers to Class members and Objects</vt:lpstr>
      <vt:lpstr>Pointers to Class members and Objects</vt:lpstr>
      <vt:lpstr>Pointers to Class members and Objects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vijayalaxmi</dc:creator>
  <cp:lastModifiedBy>cloudconvert_12</cp:lastModifiedBy>
  <cp:revision>2088</cp:revision>
  <dcterms:created xsi:type="dcterms:W3CDTF">2010-06-23T15:53:05Z</dcterms:created>
  <dcterms:modified xsi:type="dcterms:W3CDTF">2026-03-16T12:29:32Z</dcterms:modified>
</cp:coreProperties>
</file>